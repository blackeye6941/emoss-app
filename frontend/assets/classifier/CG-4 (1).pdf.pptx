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Lst>
  <p:sldSz cy="5143500" cx="9144000"/>
  <p:notesSz cx="6858000" cy="9144000"/>
  <p:embeddedFontLst>
    <p:embeddedFont>
      <p:font typeface="Nunito"/>
      <p:regular r:id="rId70"/>
      <p:bold r:id="rId71"/>
      <p:italic r:id="rId72"/>
      <p:boldItalic r:id="rId73"/>
    </p:embeddedFont>
    <p:embeddedFont>
      <p:font typeface="Walter Turncoat"/>
      <p:regular r:id="rId74"/>
    </p:embeddedFont>
    <p:embeddedFont>
      <p:font typeface="Heebo"/>
      <p:regular r:id="rId75"/>
      <p:bold r:id="rId76"/>
    </p:embeddedFont>
    <p:embeddedFont>
      <p:font typeface="Inter"/>
      <p:regular r:id="rId77"/>
      <p:bold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79" roundtripDataSignature="AMtx7mjGXocLkCvuUEuynKDuKS/UimAQ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9BE475-7191-4B5F-B133-15A57CA0C80E}">
  <a:tblStyle styleId="{979BE475-7191-4B5F-B133-15A57CA0C80E}"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Nunito-boldItalic.fntdata"/><Relationship Id="rId72" Type="http://schemas.openxmlformats.org/officeDocument/2006/relationships/font" Target="fonts/Nunito-italic.fntdata"/><Relationship Id="rId31" Type="http://schemas.openxmlformats.org/officeDocument/2006/relationships/slide" Target="slides/slide26.xml"/><Relationship Id="rId75" Type="http://schemas.openxmlformats.org/officeDocument/2006/relationships/font" Target="fonts/Heebo-regular.fntdata"/><Relationship Id="rId30" Type="http://schemas.openxmlformats.org/officeDocument/2006/relationships/slide" Target="slides/slide25.xml"/><Relationship Id="rId74" Type="http://schemas.openxmlformats.org/officeDocument/2006/relationships/font" Target="fonts/WalterTurncoat-regular.fntdata"/><Relationship Id="rId33" Type="http://schemas.openxmlformats.org/officeDocument/2006/relationships/slide" Target="slides/slide28.xml"/><Relationship Id="rId77" Type="http://schemas.openxmlformats.org/officeDocument/2006/relationships/font" Target="fonts/Inter-regular.fntdata"/><Relationship Id="rId32" Type="http://schemas.openxmlformats.org/officeDocument/2006/relationships/slide" Target="slides/slide27.xml"/><Relationship Id="rId76" Type="http://schemas.openxmlformats.org/officeDocument/2006/relationships/font" Target="fonts/Heebo-bold.fntdata"/><Relationship Id="rId35" Type="http://schemas.openxmlformats.org/officeDocument/2006/relationships/slide" Target="slides/slide30.xml"/><Relationship Id="rId79" Type="http://customschemas.google.com/relationships/presentationmetadata" Target="metadata"/><Relationship Id="rId34" Type="http://schemas.openxmlformats.org/officeDocument/2006/relationships/slide" Target="slides/slide29.xml"/><Relationship Id="rId78" Type="http://schemas.openxmlformats.org/officeDocument/2006/relationships/font" Target="fonts/Inter-bold.fntdata"/><Relationship Id="rId71" Type="http://schemas.openxmlformats.org/officeDocument/2006/relationships/font" Target="fonts/Nunito-bold.fntdata"/><Relationship Id="rId70" Type="http://schemas.openxmlformats.org/officeDocument/2006/relationships/font" Target="fonts/Nunito-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4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5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5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5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5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5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g144635a86dd_8_184"/>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g144635a86dd_8_184"/>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g144635a86dd_8_184"/>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g144635a86dd_8_184"/>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g144635a86dd_8_184"/>
          <p:cNvGrpSpPr/>
          <p:nvPr/>
        </p:nvGrpSpPr>
        <p:grpSpPr>
          <a:xfrm>
            <a:off x="255200" y="592"/>
            <a:ext cx="2250363" cy="1044300"/>
            <a:chOff x="255200" y="592"/>
            <a:chExt cx="2250363" cy="1044300"/>
          </a:xfrm>
        </p:grpSpPr>
        <p:sp>
          <p:nvSpPr>
            <p:cNvPr id="15" name="Google Shape;15;g144635a86dd_8_184"/>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g144635a86dd_8_184"/>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g144635a86dd_8_184"/>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g144635a86dd_8_184"/>
          <p:cNvGrpSpPr/>
          <p:nvPr/>
        </p:nvGrpSpPr>
        <p:grpSpPr>
          <a:xfrm>
            <a:off x="905395" y="592"/>
            <a:ext cx="2250363" cy="1044300"/>
            <a:chOff x="905395" y="592"/>
            <a:chExt cx="2250363" cy="1044300"/>
          </a:xfrm>
        </p:grpSpPr>
        <p:sp>
          <p:nvSpPr>
            <p:cNvPr id="19" name="Google Shape;19;g144635a86dd_8_184"/>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g144635a86dd_8_184"/>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g144635a86dd_8_184"/>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g144635a86dd_8_184"/>
          <p:cNvGrpSpPr/>
          <p:nvPr/>
        </p:nvGrpSpPr>
        <p:grpSpPr>
          <a:xfrm>
            <a:off x="7057468" y="5088"/>
            <a:ext cx="1851282" cy="752108"/>
            <a:chOff x="6917201" y="0"/>
            <a:chExt cx="2227777" cy="863400"/>
          </a:xfrm>
        </p:grpSpPr>
        <p:sp>
          <p:nvSpPr>
            <p:cNvPr id="23" name="Google Shape;23;g144635a86dd_8_184"/>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g144635a86dd_8_184"/>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g144635a86dd_8_184"/>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g144635a86dd_8_184"/>
          <p:cNvGrpSpPr/>
          <p:nvPr/>
        </p:nvGrpSpPr>
        <p:grpSpPr>
          <a:xfrm>
            <a:off x="6553032" y="4217852"/>
            <a:ext cx="2389068" cy="925737"/>
            <a:chOff x="6917201" y="0"/>
            <a:chExt cx="2227777" cy="863400"/>
          </a:xfrm>
        </p:grpSpPr>
        <p:sp>
          <p:nvSpPr>
            <p:cNvPr id="27" name="Google Shape;27;g144635a86dd_8_184"/>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g144635a86dd_8_184"/>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g144635a86dd_8_184"/>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g144635a86dd_8_184"/>
          <p:cNvGrpSpPr/>
          <p:nvPr/>
        </p:nvGrpSpPr>
        <p:grpSpPr>
          <a:xfrm>
            <a:off x="199149" y="4055652"/>
            <a:ext cx="2795414" cy="1083308"/>
            <a:chOff x="6917201" y="0"/>
            <a:chExt cx="2227777" cy="863400"/>
          </a:xfrm>
        </p:grpSpPr>
        <p:sp>
          <p:nvSpPr>
            <p:cNvPr id="31" name="Google Shape;31;g144635a86dd_8_184"/>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g144635a86dd_8_184"/>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g144635a86dd_8_184"/>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g144635a86dd_8_184"/>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g144635a86dd_8_184"/>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g144635a86dd_8_18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g144635a86dd_8_212"/>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g144635a86dd_8_212"/>
          <p:cNvGrpSpPr/>
          <p:nvPr/>
        </p:nvGrpSpPr>
        <p:grpSpPr>
          <a:xfrm>
            <a:off x="5594191" y="3961115"/>
            <a:ext cx="2910145" cy="1182340"/>
            <a:chOff x="6917201" y="0"/>
            <a:chExt cx="2227777" cy="863400"/>
          </a:xfrm>
        </p:grpSpPr>
        <p:sp>
          <p:nvSpPr>
            <p:cNvPr id="40" name="Google Shape;40;g144635a86dd_8_212"/>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g144635a86dd_8_212"/>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g144635a86dd_8_212"/>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g144635a86dd_8_212"/>
          <p:cNvGrpSpPr/>
          <p:nvPr/>
        </p:nvGrpSpPr>
        <p:grpSpPr>
          <a:xfrm>
            <a:off x="199149" y="2"/>
            <a:ext cx="2795414" cy="1083308"/>
            <a:chOff x="6917201" y="0"/>
            <a:chExt cx="2227777" cy="863400"/>
          </a:xfrm>
        </p:grpSpPr>
        <p:sp>
          <p:nvSpPr>
            <p:cNvPr id="44" name="Google Shape;44;g144635a86dd_8_21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g144635a86dd_8_21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g144635a86dd_8_21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g144635a86dd_8_212"/>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g144635a86dd_8_2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g144635a86dd_8_22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g144635a86dd_8_22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144635a86dd_8_22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g144635a86dd_8_2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g144635a86dd_8_2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g144635a86dd_8_22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g144635a86dd_8_23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144635a86dd_8_23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g144635a86dd_8_23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g144635a86dd_8_23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g144635a86dd_8_231"/>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g144635a86dd_8_231"/>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g144635a86dd_8_23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g144635a86dd_8_23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g144635a86dd_8_23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g144635a86dd_8_23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g144635a86dd_8_23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g144635a86dd_8_23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g144635a86dd_8_24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g144635a86dd_8_245"/>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144635a86dd_8_24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g144635a86dd_8_245"/>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g144635a86dd_8_245"/>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g144635a86dd_8_24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g144635a86dd_8_252"/>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144635a86dd_8_252"/>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g144635a86dd_8_252"/>
          <p:cNvGrpSpPr/>
          <p:nvPr/>
        </p:nvGrpSpPr>
        <p:grpSpPr>
          <a:xfrm>
            <a:off x="255991" y="-118"/>
            <a:ext cx="2251347" cy="1043408"/>
            <a:chOff x="3961956" y="4383950"/>
            <a:chExt cx="1160548" cy="548700"/>
          </a:xfrm>
        </p:grpSpPr>
        <p:sp>
          <p:nvSpPr>
            <p:cNvPr id="81" name="Google Shape;81;g144635a86dd_8_252"/>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144635a86dd_8_252"/>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g144635a86dd_8_252"/>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g144635a86dd_8_25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g144635a86dd_8_252"/>
          <p:cNvGrpSpPr/>
          <p:nvPr/>
        </p:nvGrpSpPr>
        <p:grpSpPr>
          <a:xfrm>
            <a:off x="34934" y="4522125"/>
            <a:ext cx="1593306" cy="617072"/>
            <a:chOff x="6917201" y="0"/>
            <a:chExt cx="2227777" cy="863400"/>
          </a:xfrm>
        </p:grpSpPr>
        <p:sp>
          <p:nvSpPr>
            <p:cNvPr id="86" name="Google Shape;86;g144635a86dd_8_252"/>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144635a86dd_8_252"/>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144635a86dd_8_252"/>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g144635a86dd_8_252"/>
          <p:cNvGrpSpPr/>
          <p:nvPr/>
        </p:nvGrpSpPr>
        <p:grpSpPr>
          <a:xfrm>
            <a:off x="5886353" y="1243"/>
            <a:ext cx="3257455" cy="1261514"/>
            <a:chOff x="6917201" y="0"/>
            <a:chExt cx="2227777" cy="863400"/>
          </a:xfrm>
        </p:grpSpPr>
        <p:sp>
          <p:nvSpPr>
            <p:cNvPr id="90" name="Google Shape;90;g144635a86dd_8_25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144635a86dd_8_25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g144635a86dd_8_25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g144635a86dd_8_252"/>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g144635a86dd_8_25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g144635a86dd_8_270"/>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144635a86dd_8_270"/>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144635a86dd_8_27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144635a86dd_8_270"/>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g144635a86dd_8_270"/>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g144635a86dd_8_270"/>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g144635a86dd_8_27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g144635a86dd_8_278"/>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144635a86dd_8_278"/>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144635a86dd_8_27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144635a86dd_8_278"/>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g144635a86dd_8_27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g144635a86dd_8_284"/>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g144635a86dd_8_284"/>
          <p:cNvGrpSpPr/>
          <p:nvPr/>
        </p:nvGrpSpPr>
        <p:grpSpPr>
          <a:xfrm>
            <a:off x="5959222" y="4119576"/>
            <a:ext cx="2520952" cy="1024165"/>
            <a:chOff x="6917201" y="0"/>
            <a:chExt cx="2227777" cy="863400"/>
          </a:xfrm>
        </p:grpSpPr>
        <p:sp>
          <p:nvSpPr>
            <p:cNvPr id="112" name="Google Shape;112;g144635a86dd_8_284"/>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144635a86dd_8_284"/>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144635a86dd_8_284"/>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g144635a86dd_8_284"/>
          <p:cNvGrpSpPr/>
          <p:nvPr/>
        </p:nvGrpSpPr>
        <p:grpSpPr>
          <a:xfrm>
            <a:off x="199149" y="2"/>
            <a:ext cx="2795414" cy="1083308"/>
            <a:chOff x="6917201" y="0"/>
            <a:chExt cx="2227777" cy="863400"/>
          </a:xfrm>
        </p:grpSpPr>
        <p:sp>
          <p:nvSpPr>
            <p:cNvPr id="116" name="Google Shape;116;g144635a86dd_8_284"/>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144635a86dd_8_284"/>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144635a86dd_8_284"/>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g144635a86dd_8_284"/>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g144635a86dd_8_284"/>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g144635a86dd_8_28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g144635a86dd_8_29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showMasterSp="0">
  <p:cSld name="Custom Layout">
    <p:spTree>
      <p:nvGrpSpPr>
        <p:cNvPr id="124" name="Shape 124"/>
        <p:cNvGrpSpPr/>
        <p:nvPr/>
      </p:nvGrpSpPr>
      <p:grpSpPr>
        <a:xfrm>
          <a:off x="0" y="0"/>
          <a:ext cx="0" cy="0"/>
          <a:chOff x="0" y="0"/>
          <a:chExt cx="0" cy="0"/>
        </a:xfrm>
      </p:grpSpPr>
      <p:sp>
        <p:nvSpPr>
          <p:cNvPr id="125" name="Google Shape;125;g144635a86dd_8_299"/>
          <p:cNvSpPr txBox="1"/>
          <p:nvPr>
            <p:ph idx="12" type="sldNum"/>
          </p:nvPr>
        </p:nvSpPr>
        <p:spPr>
          <a:xfrm>
            <a:off x="4297650" y="4832975"/>
            <a:ext cx="548700" cy="310500"/>
          </a:xfrm>
          <a:prstGeom prst="rect">
            <a:avLst/>
          </a:prstGeom>
          <a:noFill/>
          <a:ln>
            <a:noFill/>
          </a:ln>
        </p:spPr>
        <p:txBody>
          <a:bodyPr anchorCtr="0" anchor="t" bIns="91425" lIns="91425" spcFirstLastPara="1" rIns="91425" wrap="square" tIns="91425">
            <a:noAutofit/>
          </a:bodyPr>
          <a:lstStyle>
            <a:lvl1pPr indent="0" lvl="0" marL="0" rtl="0" algn="ctr">
              <a:lnSpc>
                <a:spcPct val="100000"/>
              </a:lnSpc>
              <a:spcBef>
                <a:spcPts val="0"/>
              </a:spcBef>
              <a:spcAft>
                <a:spcPts val="0"/>
              </a:spcAft>
              <a:buSzPts val="1000"/>
              <a:buNone/>
              <a:defRPr/>
            </a:lvl1pPr>
            <a:lvl2pPr indent="0" lvl="1" marL="0" rtl="0" algn="ctr">
              <a:lnSpc>
                <a:spcPct val="100000"/>
              </a:lnSpc>
              <a:spcBef>
                <a:spcPts val="0"/>
              </a:spcBef>
              <a:spcAft>
                <a:spcPts val="0"/>
              </a:spcAft>
              <a:buSzPts val="1000"/>
              <a:buNone/>
              <a:defRPr/>
            </a:lvl2pPr>
            <a:lvl3pPr indent="0" lvl="2" marL="0" rtl="0" algn="ctr">
              <a:lnSpc>
                <a:spcPct val="100000"/>
              </a:lnSpc>
              <a:spcBef>
                <a:spcPts val="0"/>
              </a:spcBef>
              <a:spcAft>
                <a:spcPts val="0"/>
              </a:spcAft>
              <a:buSzPts val="1000"/>
              <a:buNone/>
              <a:defRPr/>
            </a:lvl3pPr>
            <a:lvl4pPr indent="0" lvl="3" marL="0" rtl="0" algn="ctr">
              <a:lnSpc>
                <a:spcPct val="100000"/>
              </a:lnSpc>
              <a:spcBef>
                <a:spcPts val="0"/>
              </a:spcBef>
              <a:spcAft>
                <a:spcPts val="0"/>
              </a:spcAft>
              <a:buSzPts val="1000"/>
              <a:buNone/>
              <a:defRPr/>
            </a:lvl4pPr>
            <a:lvl5pPr indent="0" lvl="4" marL="0" rtl="0" algn="ctr">
              <a:lnSpc>
                <a:spcPct val="100000"/>
              </a:lnSpc>
              <a:spcBef>
                <a:spcPts val="0"/>
              </a:spcBef>
              <a:spcAft>
                <a:spcPts val="0"/>
              </a:spcAft>
              <a:buSzPts val="1000"/>
              <a:buNone/>
              <a:defRPr/>
            </a:lvl5pPr>
            <a:lvl6pPr indent="0" lvl="5" marL="0" rtl="0" algn="ctr">
              <a:lnSpc>
                <a:spcPct val="100000"/>
              </a:lnSpc>
              <a:spcBef>
                <a:spcPts val="0"/>
              </a:spcBef>
              <a:spcAft>
                <a:spcPts val="0"/>
              </a:spcAft>
              <a:buSzPts val="1000"/>
              <a:buNone/>
              <a:defRPr/>
            </a:lvl6pPr>
            <a:lvl7pPr indent="0" lvl="6" marL="0" rtl="0" algn="ctr">
              <a:lnSpc>
                <a:spcPct val="100000"/>
              </a:lnSpc>
              <a:spcBef>
                <a:spcPts val="0"/>
              </a:spcBef>
              <a:spcAft>
                <a:spcPts val="0"/>
              </a:spcAft>
              <a:buSzPts val="1000"/>
              <a:buNone/>
              <a:defRPr/>
            </a:lvl7pPr>
            <a:lvl8pPr indent="0" lvl="7" marL="0" rtl="0" algn="ctr">
              <a:lnSpc>
                <a:spcPct val="100000"/>
              </a:lnSpc>
              <a:spcBef>
                <a:spcPts val="0"/>
              </a:spcBef>
              <a:spcAft>
                <a:spcPts val="0"/>
              </a:spcAft>
              <a:buSzPts val="1000"/>
              <a:buNone/>
              <a:defRPr/>
            </a:lvl8pPr>
            <a:lvl9pPr indent="0" lvl="8" marL="0" rtl="0" algn="ctr">
              <a:lnSpc>
                <a:spcPct val="100000"/>
              </a:lnSpc>
              <a:spcBef>
                <a:spcPts val="0"/>
              </a:spcBef>
              <a:spcAft>
                <a:spcPts val="0"/>
              </a:spcAft>
              <a:buSzPts val="1000"/>
              <a:buNone/>
              <a:defRPr/>
            </a:lvl9pPr>
          </a:lstStyle>
          <a:p>
            <a:pPr indent="0" lvl="0" marL="0" rtl="0" algn="ctr">
              <a:spcBef>
                <a:spcPts val="0"/>
              </a:spcBef>
              <a:spcAft>
                <a:spcPts val="0"/>
              </a:spcAft>
              <a:buNone/>
            </a:pPr>
            <a:fld id="{00000000-1234-1234-1234-123412341234}" type="slidenum">
              <a:rPr lang="en-US"/>
              <a:t>‹#›</a:t>
            </a:fld>
            <a:endParaRPr/>
          </a:p>
        </p:txBody>
      </p:sp>
      <p:sp>
        <p:nvSpPr>
          <p:cNvPr id="126" name="Google Shape;126;g144635a86dd_8_299"/>
          <p:cNvSpPr txBox="1"/>
          <p:nvPr/>
        </p:nvSpPr>
        <p:spPr>
          <a:xfrm>
            <a:off x="7023207" y="4555976"/>
            <a:ext cx="2043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chemeClr val="lt1"/>
                </a:solidFill>
                <a:latin typeface="Walter Turncoat"/>
                <a:ea typeface="Walter Turncoat"/>
                <a:cs typeface="Walter Turncoat"/>
                <a:sym typeface="Walter Turncoat"/>
              </a:rPr>
              <a:t>Namitha Ramachandran</a:t>
            </a:r>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g144635a86dd_8_18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g144635a86dd_8_180"/>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g144635a86dd_8_18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9.jp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0.png"/><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21.png"/><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33.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2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2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2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3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2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2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idx="12" type="sldNum"/>
          </p:nvPr>
        </p:nvSpPr>
        <p:spPr>
          <a:xfrm>
            <a:off x="4297650" y="4832975"/>
            <a:ext cx="548700" cy="310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sp>
        <p:nvSpPr>
          <p:cNvPr id="132" name="Google Shape;132;p1"/>
          <p:cNvSpPr txBox="1"/>
          <p:nvPr/>
        </p:nvSpPr>
        <p:spPr>
          <a:xfrm>
            <a:off x="836211" y="1551136"/>
            <a:ext cx="6922877" cy="21852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600" u="none" cap="none" strike="noStrike">
                <a:solidFill>
                  <a:srgbClr val="FFC000"/>
                </a:solidFill>
                <a:latin typeface="Walter Turncoat"/>
                <a:ea typeface="Walter Turncoat"/>
                <a:cs typeface="Walter Turncoat"/>
                <a:sym typeface="Walter Turncoat"/>
              </a:rPr>
              <a:t>COMPUTER GRAPHICS </a:t>
            </a:r>
            <a:endParaRPr/>
          </a:p>
          <a:p>
            <a:pPr indent="0" lvl="0" marL="0" marR="0" rtl="0" algn="ctr">
              <a:lnSpc>
                <a:spcPct val="100000"/>
              </a:lnSpc>
              <a:spcBef>
                <a:spcPts val="0"/>
              </a:spcBef>
              <a:spcAft>
                <a:spcPts val="0"/>
              </a:spcAft>
              <a:buNone/>
            </a:pPr>
            <a:r>
              <a:rPr b="1" i="0" lang="en-US" sz="3600" u="none" cap="none" strike="noStrike">
                <a:solidFill>
                  <a:srgbClr val="FFC000"/>
                </a:solidFill>
                <a:latin typeface="Walter Turncoat"/>
                <a:ea typeface="Walter Turncoat"/>
                <a:cs typeface="Walter Turncoat"/>
                <a:sym typeface="Walter Turncoat"/>
              </a:rPr>
              <a:t>&amp; </a:t>
            </a:r>
            <a:endParaRPr/>
          </a:p>
          <a:p>
            <a:pPr indent="0" lvl="0" marL="0" marR="0" rtl="0" algn="ctr">
              <a:lnSpc>
                <a:spcPct val="100000"/>
              </a:lnSpc>
              <a:spcBef>
                <a:spcPts val="0"/>
              </a:spcBef>
              <a:spcAft>
                <a:spcPts val="0"/>
              </a:spcAft>
              <a:buNone/>
            </a:pPr>
            <a:r>
              <a:rPr b="1" i="0" lang="en-US" sz="3600" u="none" cap="none" strike="noStrike">
                <a:solidFill>
                  <a:srgbClr val="FFC000"/>
                </a:solidFill>
                <a:latin typeface="Walter Turncoat"/>
                <a:ea typeface="Walter Turncoat"/>
                <a:cs typeface="Walter Turncoat"/>
                <a:sym typeface="Walter Turncoat"/>
              </a:rPr>
              <a:t>IMAGE PROCESSING </a:t>
            </a:r>
            <a:endParaRPr/>
          </a:p>
          <a:p>
            <a:pPr indent="0" lvl="0" marL="0" marR="0" rtl="0" algn="ctr">
              <a:lnSpc>
                <a:spcPct val="100000"/>
              </a:lnSpc>
              <a:spcBef>
                <a:spcPts val="0"/>
              </a:spcBef>
              <a:spcAft>
                <a:spcPts val="0"/>
              </a:spcAft>
              <a:buNone/>
            </a:pPr>
            <a:r>
              <a:rPr b="1" i="0" lang="en-US" sz="2800" u="none" cap="none" strike="noStrike">
                <a:solidFill>
                  <a:schemeClr val="lt1"/>
                </a:solidFill>
                <a:latin typeface="Walter Turncoat"/>
                <a:ea typeface="Walter Turncoat"/>
                <a:cs typeface="Walter Turncoat"/>
                <a:sym typeface="Walter Turncoat"/>
              </a:rPr>
              <a:t>              </a:t>
            </a:r>
            <a:endParaRPr/>
          </a:p>
        </p:txBody>
      </p:sp>
      <p:sp>
        <p:nvSpPr>
          <p:cNvPr id="133" name="Google Shape;133;p1"/>
          <p:cNvSpPr txBox="1"/>
          <p:nvPr/>
        </p:nvSpPr>
        <p:spPr>
          <a:xfrm>
            <a:off x="3530184" y="3736350"/>
            <a:ext cx="191874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Walter Turncoat"/>
                <a:ea typeface="Walter Turncoat"/>
                <a:cs typeface="Walter Turncoat"/>
                <a:sym typeface="Walter Turncoat"/>
              </a:rPr>
              <a:t>MODULE 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Buy Computer Graphics C Version | Second Edition | By Pearson Book Online  at Low Prices in India | Computer Graphics C Version | Second Edition | By  Pearson Reviews &amp; Ratings - Amazon.in" id="138" name="Google Shape;138;p2"/>
          <p:cNvPicPr preferRelativeResize="0"/>
          <p:nvPr/>
        </p:nvPicPr>
        <p:blipFill rotWithShape="1">
          <a:blip r:embed="rId3">
            <a:alphaModFix/>
          </a:blip>
          <a:srcRect b="0" l="0" r="0" t="0"/>
          <a:stretch/>
        </p:blipFill>
        <p:spPr>
          <a:xfrm>
            <a:off x="204475" y="349536"/>
            <a:ext cx="2823537" cy="3720294"/>
          </a:xfrm>
          <a:prstGeom prst="rect">
            <a:avLst/>
          </a:prstGeom>
          <a:noFill/>
          <a:ln>
            <a:noFill/>
          </a:ln>
        </p:spPr>
      </p:pic>
      <p:pic>
        <p:nvPicPr>
          <p:cNvPr descr="Computer Graphics, C Version: United States Edition : Hearn, Donald D.,  Baker, M. Pauline: Amazon.in: Books" id="139" name="Google Shape;139;p2"/>
          <p:cNvPicPr preferRelativeResize="0"/>
          <p:nvPr/>
        </p:nvPicPr>
        <p:blipFill rotWithShape="1">
          <a:blip r:embed="rId4">
            <a:alphaModFix/>
          </a:blip>
          <a:srcRect b="0" l="0" r="0" t="0"/>
          <a:stretch/>
        </p:blipFill>
        <p:spPr>
          <a:xfrm>
            <a:off x="3083913" y="426244"/>
            <a:ext cx="2976173" cy="3566878"/>
          </a:xfrm>
          <a:prstGeom prst="rect">
            <a:avLst/>
          </a:prstGeom>
          <a:noFill/>
          <a:ln>
            <a:noFill/>
          </a:ln>
        </p:spPr>
      </p:pic>
      <p:pic>
        <p:nvPicPr>
          <p:cNvPr descr="Digital Image Processing: Buy Digital Image Processing by Gonzalez Rafael  C. at Low Price in India | Flipkart.com" id="140" name="Google Shape;140;p2"/>
          <p:cNvPicPr preferRelativeResize="0"/>
          <p:nvPr/>
        </p:nvPicPr>
        <p:blipFill rotWithShape="1">
          <a:blip r:embed="rId5">
            <a:alphaModFix/>
          </a:blip>
          <a:srcRect b="0" l="0" r="0" t="0"/>
          <a:stretch/>
        </p:blipFill>
        <p:spPr>
          <a:xfrm>
            <a:off x="6115987" y="349536"/>
            <a:ext cx="2976173" cy="3720294"/>
          </a:xfrm>
          <a:prstGeom prst="rect">
            <a:avLst/>
          </a:prstGeom>
          <a:noFill/>
          <a:ln>
            <a:noFill/>
          </a:ln>
        </p:spPr>
      </p:pic>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
          <p:cNvSpPr txBox="1"/>
          <p:nvPr/>
        </p:nvSpPr>
        <p:spPr>
          <a:xfrm>
            <a:off x="52466" y="411891"/>
            <a:ext cx="8926500" cy="1754700"/>
          </a:xfrm>
          <a:prstGeom prst="rect">
            <a:avLst/>
          </a:prstGeom>
          <a:noFill/>
          <a:ln cap="flat" cmpd="sng" w="9525">
            <a:solidFill>
              <a:schemeClr val="dk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dk2"/>
                </a:solidFill>
                <a:latin typeface="Times New Roman"/>
                <a:ea typeface="Times New Roman"/>
                <a:cs typeface="Times New Roman"/>
                <a:sym typeface="Times New Roman"/>
              </a:rPr>
              <a:t>Module - 4 (Fundamentals of Digital Image Processing) </a:t>
            </a:r>
            <a:endParaRPr b="0" i="0" sz="18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1800" u="none" cap="none" strike="noStrike">
                <a:solidFill>
                  <a:schemeClr val="dk2"/>
                </a:solidFill>
                <a:latin typeface="Times New Roman"/>
                <a:ea typeface="Times New Roman"/>
                <a:cs typeface="Times New Roman"/>
                <a:sym typeface="Times New Roman"/>
              </a:rPr>
              <a:t>Introduction to Image processing and applications. Image as 2D data. Image representation in Gray scale, Binary and Colour images. Fundamental steps in image processing. Components of image processing system. Coordinate conventions. Sampling and quantization. Spatial and Gray Level Resolution. Basic relationship between pixels– neighborhood, adjacency, connectivity. Fundamentals of spatial domain-convolution operation. </a:t>
            </a:r>
            <a:endParaRPr b="0" i="0" sz="1800" u="none" cap="none" strike="noStrike">
              <a:solidFill>
                <a:schemeClr val="dk2"/>
              </a:solidFill>
              <a:latin typeface="Calibri"/>
              <a:ea typeface="Calibri"/>
              <a:cs typeface="Calibri"/>
              <a:sym typeface="Calibri"/>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4"/>
          <p:cNvSpPr txBox="1"/>
          <p:nvPr/>
        </p:nvSpPr>
        <p:spPr>
          <a:xfrm>
            <a:off x="112426" y="112426"/>
            <a:ext cx="9031500" cy="4710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000" u="none" cap="none" strike="noStrike">
                <a:solidFill>
                  <a:schemeClr val="dk2"/>
                </a:solidFill>
                <a:latin typeface="Times New Roman"/>
                <a:ea typeface="Times New Roman"/>
                <a:cs typeface="Times New Roman"/>
                <a:sym typeface="Times New Roman"/>
              </a:rPr>
              <a:t>What is an image?</a:t>
            </a:r>
            <a:endParaRPr>
              <a:solidFill>
                <a:schemeClr val="dk2"/>
              </a:solidFill>
            </a:endParaRPr>
          </a:p>
          <a:p>
            <a:pPr indent="0" lvl="0" marL="0" marR="0" rtl="0" algn="just">
              <a:lnSpc>
                <a:spcPct val="100000"/>
              </a:lnSpc>
              <a:spcBef>
                <a:spcPts val="0"/>
              </a:spcBef>
              <a:spcAft>
                <a:spcPts val="0"/>
              </a:spcAft>
              <a:buNone/>
            </a:pPr>
            <a:r>
              <a:t/>
            </a:r>
            <a:endParaRPr b="1"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An image is defined as a two-dimensional function,</a:t>
            </a:r>
            <a:r>
              <a:rPr b="1" i="0" lang="en-US" sz="2000" u="none" cap="none" strike="noStrike">
                <a:solidFill>
                  <a:schemeClr val="dk2"/>
                </a:solidFill>
                <a:latin typeface="Times New Roman"/>
                <a:ea typeface="Times New Roman"/>
                <a:cs typeface="Times New Roman"/>
                <a:sym typeface="Times New Roman"/>
              </a:rPr>
              <a:t>F(x,y)</a:t>
            </a:r>
            <a:r>
              <a:rPr b="0" i="0" lang="en-US" sz="2000" u="none" cap="none" strike="noStrike">
                <a:solidFill>
                  <a:schemeClr val="dk2"/>
                </a:solidFill>
                <a:latin typeface="Times New Roman"/>
                <a:ea typeface="Times New Roman"/>
                <a:cs typeface="Times New Roman"/>
                <a:sym typeface="Times New Roman"/>
              </a:rPr>
              <a:t>, where x and y are spatial coordinates, and the amplitude of </a:t>
            </a:r>
            <a:r>
              <a:rPr b="1" i="0" lang="en-US" sz="2000" u="none" cap="none" strike="noStrike">
                <a:solidFill>
                  <a:schemeClr val="dk2"/>
                </a:solidFill>
                <a:latin typeface="Times New Roman"/>
                <a:ea typeface="Times New Roman"/>
                <a:cs typeface="Times New Roman"/>
                <a:sym typeface="Times New Roman"/>
              </a:rPr>
              <a:t>F</a:t>
            </a:r>
            <a:r>
              <a:rPr b="0" i="0" lang="en-US" sz="2000" u="none" cap="none" strike="noStrike">
                <a:solidFill>
                  <a:schemeClr val="dk2"/>
                </a:solidFill>
                <a:latin typeface="Times New Roman"/>
                <a:ea typeface="Times New Roman"/>
                <a:cs typeface="Times New Roman"/>
                <a:sym typeface="Times New Roman"/>
              </a:rPr>
              <a:t> at any pair of coordinates (x,y) is called the </a:t>
            </a:r>
            <a:r>
              <a:rPr b="1" i="0" lang="en-US" sz="2000" u="none" cap="none" strike="noStrike">
                <a:solidFill>
                  <a:schemeClr val="dk2"/>
                </a:solidFill>
                <a:latin typeface="Times New Roman"/>
                <a:ea typeface="Times New Roman"/>
                <a:cs typeface="Times New Roman"/>
                <a:sym typeface="Times New Roman"/>
              </a:rPr>
              <a:t>intensity</a:t>
            </a:r>
            <a:r>
              <a:rPr b="0" i="0" lang="en-US" sz="2000" u="none" cap="none" strike="noStrike">
                <a:solidFill>
                  <a:schemeClr val="dk2"/>
                </a:solidFill>
                <a:latin typeface="Times New Roman"/>
                <a:ea typeface="Times New Roman"/>
                <a:cs typeface="Times New Roman"/>
                <a:sym typeface="Times New Roman"/>
              </a:rPr>
              <a:t> of that image at that point. </a:t>
            </a:r>
            <a:endParaRPr>
              <a:solidFill>
                <a:schemeClr val="dk2"/>
              </a:solidFill>
            </a:endParaRPr>
          </a:p>
          <a:p>
            <a:pPr indent="0" lvl="0" marL="0" marR="0" rtl="0" algn="just">
              <a:lnSpc>
                <a:spcPct val="100000"/>
              </a:lnSpc>
              <a:spcBef>
                <a:spcPts val="0"/>
              </a:spcBef>
              <a:spcAft>
                <a:spcPts val="0"/>
              </a:spcAft>
              <a:buNone/>
            </a:pPr>
            <a:r>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When x,y, and amplitude values of </a:t>
            </a:r>
            <a:r>
              <a:rPr b="1" i="0" lang="en-US" sz="2000" u="none" cap="none" strike="noStrike">
                <a:solidFill>
                  <a:schemeClr val="dk2"/>
                </a:solidFill>
                <a:latin typeface="Times New Roman"/>
                <a:ea typeface="Times New Roman"/>
                <a:cs typeface="Times New Roman"/>
                <a:sym typeface="Times New Roman"/>
              </a:rPr>
              <a:t>F</a:t>
            </a:r>
            <a:r>
              <a:rPr b="0" i="0" lang="en-US" sz="2000" u="none" cap="none" strike="noStrike">
                <a:solidFill>
                  <a:schemeClr val="dk2"/>
                </a:solidFill>
                <a:latin typeface="Times New Roman"/>
                <a:ea typeface="Times New Roman"/>
                <a:cs typeface="Times New Roman"/>
                <a:sym typeface="Times New Roman"/>
              </a:rPr>
              <a:t> are finite, we call it a </a:t>
            </a:r>
            <a:r>
              <a:rPr b="1" i="1" lang="en-US" sz="2000" u="none" cap="none" strike="noStrike">
                <a:solidFill>
                  <a:schemeClr val="dk2"/>
                </a:solidFill>
                <a:latin typeface="Times New Roman"/>
                <a:ea typeface="Times New Roman"/>
                <a:cs typeface="Times New Roman"/>
                <a:sym typeface="Times New Roman"/>
              </a:rPr>
              <a:t>digital image.</a:t>
            </a:r>
            <a:endParaRPr>
              <a:solidFill>
                <a:schemeClr val="dk2"/>
              </a:solidFill>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In other words, an image can be defined by a two-dimensional array specifically arranged in rows and columns.</a:t>
            </a:r>
            <a:endParaRPr>
              <a:solidFill>
                <a:schemeClr val="dk2"/>
              </a:solidFill>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 </a:t>
            </a:r>
            <a:br>
              <a:rPr b="0" i="0" lang="en-US" sz="2000" u="none" cap="none" strike="noStrike">
                <a:solidFill>
                  <a:schemeClr val="dk2"/>
                </a:solidFill>
                <a:latin typeface="Times New Roman"/>
                <a:ea typeface="Times New Roman"/>
                <a:cs typeface="Times New Roman"/>
                <a:sym typeface="Times New Roman"/>
              </a:rPr>
            </a:br>
            <a:r>
              <a:rPr b="0" i="0" lang="en-US" sz="2000" u="none" cap="none" strike="noStrike">
                <a:solidFill>
                  <a:schemeClr val="dk2"/>
                </a:solidFill>
                <a:latin typeface="Times New Roman"/>
                <a:ea typeface="Times New Roman"/>
                <a:cs typeface="Times New Roman"/>
                <a:sym typeface="Times New Roman"/>
              </a:rPr>
              <a:t>Digital Image is composed of a finite number of elements, each of which elements have a particular value at a particular location.</a:t>
            </a:r>
            <a:endParaRPr>
              <a:solidFill>
                <a:schemeClr val="dk2"/>
              </a:solidFill>
            </a:endParaRPr>
          </a:p>
          <a:p>
            <a:pPr indent="0" lvl="0" marL="0" marR="0" rtl="0" algn="just">
              <a:lnSpc>
                <a:spcPct val="100000"/>
              </a:lnSpc>
              <a:spcBef>
                <a:spcPts val="0"/>
              </a:spcBef>
              <a:spcAft>
                <a:spcPts val="0"/>
              </a:spcAft>
              <a:buNone/>
            </a:pPr>
            <a:r>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These elements are referred to as </a:t>
            </a:r>
            <a:r>
              <a:rPr b="1" i="1" lang="en-US" sz="2000" u="none" cap="none" strike="noStrike">
                <a:solidFill>
                  <a:schemeClr val="dk2"/>
                </a:solidFill>
                <a:latin typeface="Times New Roman"/>
                <a:ea typeface="Times New Roman"/>
                <a:cs typeface="Times New Roman"/>
                <a:sym typeface="Times New Roman"/>
              </a:rPr>
              <a:t>picture elements, image elements, and pixels</a:t>
            </a:r>
            <a:r>
              <a:rPr b="1" i="0" lang="en-US" sz="2000" u="none" cap="none" strike="noStrike">
                <a:solidFill>
                  <a:schemeClr val="dk2"/>
                </a:solidFill>
                <a:latin typeface="Times New Roman"/>
                <a:ea typeface="Times New Roman"/>
                <a:cs typeface="Times New Roman"/>
                <a:sym typeface="Times New Roman"/>
              </a:rPr>
              <a:t>.</a:t>
            </a:r>
            <a:endParaRPr>
              <a:solidFill>
                <a:schemeClr val="dk2"/>
              </a:solidFill>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A </a:t>
            </a:r>
            <a:r>
              <a:rPr b="1" i="1" lang="en-US" sz="2000" u="none" cap="none" strike="noStrike">
                <a:solidFill>
                  <a:schemeClr val="dk2"/>
                </a:solidFill>
                <a:latin typeface="Times New Roman"/>
                <a:ea typeface="Times New Roman"/>
                <a:cs typeface="Times New Roman"/>
                <a:sym typeface="Times New Roman"/>
              </a:rPr>
              <a:t>Pixel</a:t>
            </a:r>
            <a:r>
              <a:rPr b="0" i="0" lang="en-US" sz="2000" u="none" cap="none" strike="noStrike">
                <a:solidFill>
                  <a:schemeClr val="dk2"/>
                </a:solidFill>
                <a:latin typeface="Times New Roman"/>
                <a:ea typeface="Times New Roman"/>
                <a:cs typeface="Times New Roman"/>
                <a:sym typeface="Times New Roman"/>
              </a:rPr>
              <a:t> is most widely used to denote the elements of a Digital Image.</a:t>
            </a:r>
            <a:endParaRPr>
              <a:solidFill>
                <a:schemeClr val="dk2"/>
              </a:solidFill>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5"/>
          <p:cNvPicPr preferRelativeResize="0"/>
          <p:nvPr/>
        </p:nvPicPr>
        <p:blipFill rotWithShape="1">
          <a:blip r:embed="rId3">
            <a:alphaModFix/>
          </a:blip>
          <a:srcRect b="0" l="0" r="0" t="0"/>
          <a:stretch/>
        </p:blipFill>
        <p:spPr>
          <a:xfrm>
            <a:off x="2181928" y="941881"/>
            <a:ext cx="5088301" cy="3525188"/>
          </a:xfrm>
          <a:prstGeom prst="rect">
            <a:avLst/>
          </a:prstGeom>
          <a:noFill/>
          <a:ln>
            <a:noFill/>
          </a:ln>
        </p:spPr>
      </p:pic>
      <p:sp>
        <p:nvSpPr>
          <p:cNvPr id="156" name="Google Shape;156;p5"/>
          <p:cNvSpPr txBox="1"/>
          <p:nvPr/>
        </p:nvSpPr>
        <p:spPr>
          <a:xfrm>
            <a:off x="194872" y="337279"/>
            <a:ext cx="298304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Image as Matrix </a:t>
            </a:r>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6"/>
          <p:cNvSpPr txBox="1"/>
          <p:nvPr/>
        </p:nvSpPr>
        <p:spPr>
          <a:xfrm>
            <a:off x="172366" y="91009"/>
            <a:ext cx="8701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Image representation in Gray scale, Binary and Colour images</a:t>
            </a:r>
            <a:endParaRPr b="1" i="0" sz="2400" u="none" cap="none" strike="noStrike">
              <a:solidFill>
                <a:schemeClr val="dk2"/>
              </a:solidFill>
              <a:latin typeface="Arial"/>
              <a:ea typeface="Arial"/>
              <a:cs typeface="Arial"/>
              <a:sym typeface="Arial"/>
            </a:endParaRPr>
          </a:p>
        </p:txBody>
      </p:sp>
      <p:sp>
        <p:nvSpPr>
          <p:cNvPr id="162" name="Google Shape;162;p6"/>
          <p:cNvSpPr txBox="1"/>
          <p:nvPr/>
        </p:nvSpPr>
        <p:spPr>
          <a:xfrm>
            <a:off x="26233" y="633256"/>
            <a:ext cx="90915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Binary Image</a:t>
            </a:r>
            <a:endParaRPr>
              <a:solidFill>
                <a:schemeClr val="dk2"/>
              </a:solidFill>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The binary image as it name states, contain only two pixel values ,0 and 1.</a:t>
            </a:r>
            <a:endParaRPr>
              <a:solidFill>
                <a:schemeClr val="dk2"/>
              </a:solidFill>
            </a:endParaRPr>
          </a:p>
          <a:p>
            <a:pPr indent="0" lvl="0" marL="0" marR="0" rtl="0" algn="just">
              <a:lnSpc>
                <a:spcPct val="100000"/>
              </a:lnSpc>
              <a:spcBef>
                <a:spcPts val="0"/>
              </a:spcBef>
              <a:spcAft>
                <a:spcPts val="0"/>
              </a:spcAft>
              <a:buNone/>
            </a:pPr>
            <a:r>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In our previous tutorial of bits per pixel, we have explained this in detail about the representation of pixel values to their respective colors.</a:t>
            </a:r>
            <a:endParaRPr>
              <a:solidFill>
                <a:schemeClr val="dk2"/>
              </a:solidFill>
            </a:endParaRPr>
          </a:p>
          <a:p>
            <a:pPr indent="0" lvl="0" marL="0" marR="0" rtl="0" algn="just">
              <a:lnSpc>
                <a:spcPct val="100000"/>
              </a:lnSpc>
              <a:spcBef>
                <a:spcPts val="0"/>
              </a:spcBef>
              <a:spcAft>
                <a:spcPts val="0"/>
              </a:spcAft>
              <a:buNone/>
            </a:pPr>
            <a:r>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Here 0 refers to black color and 1 refers to white color. It is also known as Monochrome.</a:t>
            </a:r>
            <a:endParaRPr>
              <a:solidFill>
                <a:schemeClr val="dk2"/>
              </a:solidFill>
            </a:endParaRPr>
          </a:p>
        </p:txBody>
      </p:sp>
      <p:sp>
        <p:nvSpPr>
          <p:cNvPr id="163" name="Google Shape;163;p6"/>
          <p:cNvSpPr txBox="1"/>
          <p:nvPr/>
        </p:nvSpPr>
        <p:spPr>
          <a:xfrm>
            <a:off x="172387" y="3359351"/>
            <a:ext cx="6899223"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dk2"/>
                </a:solidFill>
                <a:latin typeface="Heebo"/>
                <a:ea typeface="Heebo"/>
                <a:cs typeface="Heebo"/>
                <a:sym typeface="Heebo"/>
              </a:rPr>
              <a:t>Format</a:t>
            </a:r>
            <a:endParaRPr>
              <a:solidFill>
                <a:schemeClr val="dk2"/>
              </a:solidFill>
            </a:endParaRPr>
          </a:p>
          <a:p>
            <a:pPr indent="0" lvl="0" marL="0" marR="0" rtl="0" algn="l">
              <a:lnSpc>
                <a:spcPct val="100000"/>
              </a:lnSpc>
              <a:spcBef>
                <a:spcPts val="0"/>
              </a:spcBef>
              <a:spcAft>
                <a:spcPts val="0"/>
              </a:spcAft>
              <a:buNone/>
            </a:pPr>
            <a:r>
              <a:t/>
            </a:r>
            <a:endParaRPr b="0" i="0" sz="2000" u="none" cap="none" strike="noStrike">
              <a:solidFill>
                <a:schemeClr val="dk2"/>
              </a:solidFill>
              <a:latin typeface="Heebo"/>
              <a:ea typeface="Heebo"/>
              <a:cs typeface="Heebo"/>
              <a:sym typeface="Heebo"/>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Nunito"/>
                <a:ea typeface="Nunito"/>
                <a:cs typeface="Nunito"/>
                <a:sym typeface="Nunito"/>
              </a:rPr>
              <a:t>Binary images have a format of PBM ( Portable bit map )</a:t>
            </a:r>
            <a:endParaRPr>
              <a:solidFill>
                <a:schemeClr val="dk2"/>
              </a:solidFil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7"/>
          <p:cNvSpPr txBox="1"/>
          <p:nvPr/>
        </p:nvSpPr>
        <p:spPr>
          <a:xfrm>
            <a:off x="59960" y="859861"/>
            <a:ext cx="9218951"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8 bit color format is one of the most famous image format. </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It has 256 different shades of colors in it. </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It is commonly known as Grayscale image.</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range of the colors in 8 bit vary from 0-255. </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Where 0 stands for black, and 255 stands for white, and 127 stands for gray color.</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This format was used initially by early models of the operating systems UNIX and the early color Macintoshes.</a:t>
            </a:r>
            <a:endParaRPr b="0" i="0" sz="2000" u="none" cap="none" strike="noStrike">
              <a:solidFill>
                <a:schemeClr val="lt1"/>
              </a:solidFill>
              <a:latin typeface="Times New Roman"/>
              <a:ea typeface="Times New Roman"/>
              <a:cs typeface="Times New Roman"/>
              <a:sym typeface="Times New Roman"/>
            </a:endParaRPr>
          </a:p>
        </p:txBody>
      </p:sp>
      <p:sp>
        <p:nvSpPr>
          <p:cNvPr id="169" name="Google Shape;169;p7"/>
          <p:cNvSpPr txBox="1"/>
          <p:nvPr/>
        </p:nvSpPr>
        <p:spPr>
          <a:xfrm>
            <a:off x="52466" y="190885"/>
            <a:ext cx="461697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8 bit color format (Gray Image)</a:t>
            </a:r>
            <a:endParaRPr/>
          </a:p>
        </p:txBody>
      </p:sp>
      <p:sp>
        <p:nvSpPr>
          <p:cNvPr id="170" name="Google Shape;170;p7"/>
          <p:cNvSpPr txBox="1"/>
          <p:nvPr/>
        </p:nvSpPr>
        <p:spPr>
          <a:xfrm>
            <a:off x="59960" y="3388569"/>
            <a:ext cx="8589364"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Format</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format of these images are </a:t>
            </a:r>
            <a:r>
              <a:rPr b="0" i="0" lang="en-US" sz="2000" u="none" cap="none" strike="noStrike">
                <a:solidFill>
                  <a:srgbClr val="FFC000"/>
                </a:solidFill>
                <a:latin typeface="Times New Roman"/>
                <a:ea typeface="Times New Roman"/>
                <a:cs typeface="Times New Roman"/>
                <a:sym typeface="Times New Roman"/>
              </a:rPr>
              <a:t>PGM ( Portable Gray Map ).</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This format is not supported by default from windows. In order to see gray scale image, you need to have an image viewer or image processing toolbox such as Matlab.</a:t>
            </a:r>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txBox="1"/>
          <p:nvPr/>
        </p:nvSpPr>
        <p:spPr>
          <a:xfrm>
            <a:off x="86193" y="0"/>
            <a:ext cx="8971613" cy="53860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16 bit color format</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It is a color image format. It has 65,536 different colors in it. It is also known as High color format.</a:t>
            </a:r>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It has been used by Microsoft in their systems that support more then 8 bit color format. </a:t>
            </a:r>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Now in this 16 bit format and the next format we are going to discuss which is a 24 bit format are both color format.</a:t>
            </a:r>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distribution of color in a color image is not as simple as it was in grayscale image.</a:t>
            </a:r>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A 16 bit format is actually divided into three further formats which are Red , Green and Blue. The famous (RGB) format.</a:t>
            </a:r>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9"/>
          <p:cNvSpPr txBox="1"/>
          <p:nvPr/>
        </p:nvSpPr>
        <p:spPr>
          <a:xfrm>
            <a:off x="9368" y="2152844"/>
            <a:ext cx="9001594" cy="193899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5 bits for R, 5 bits for G, 5 bits for B</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Then there is one bit that remains in the end.</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So the distribution of 16-bit has been done like this: 5 bits for R, 6 bits for G, and 5 bits for B.</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additional bit that was left behind is added into the green bit. </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Because green is the color that is most soothing to the eyes in all of these three colors.</a:t>
            </a:r>
            <a:endParaRPr/>
          </a:p>
        </p:txBody>
      </p:sp>
      <p:pic>
        <p:nvPicPr>
          <p:cNvPr descr="16-bit" id="181" name="Google Shape;181;p9"/>
          <p:cNvPicPr preferRelativeResize="0"/>
          <p:nvPr/>
        </p:nvPicPr>
        <p:blipFill rotWithShape="1">
          <a:blip r:embed="rId3">
            <a:alphaModFix/>
          </a:blip>
          <a:srcRect b="0" l="0" r="0" t="0"/>
          <a:stretch/>
        </p:blipFill>
        <p:spPr>
          <a:xfrm>
            <a:off x="0" y="0"/>
            <a:ext cx="3771900" cy="1938992"/>
          </a:xfrm>
          <a:prstGeom prst="rect">
            <a:avLst/>
          </a:prstGeom>
          <a:noFill/>
          <a:ln>
            <a:noFill/>
          </a:ln>
        </p:spPr>
      </p:pic>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0"/>
          <p:cNvSpPr txBox="1"/>
          <p:nvPr/>
        </p:nvSpPr>
        <p:spPr>
          <a:xfrm>
            <a:off x="127416" y="70964"/>
            <a:ext cx="4572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24 bit color format</a:t>
            </a:r>
            <a:endParaRPr/>
          </a:p>
        </p:txBody>
      </p:sp>
      <p:sp>
        <p:nvSpPr>
          <p:cNvPr id="187" name="Google Shape;187;p10"/>
          <p:cNvSpPr txBox="1"/>
          <p:nvPr/>
        </p:nvSpPr>
        <p:spPr>
          <a:xfrm>
            <a:off x="187376" y="532629"/>
            <a:ext cx="8956623"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24 bit color format also known as true color format.</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 Like 16 bit color format, in a 24 bit color format, the 24 bits are again distributed in three different formats of Red, Green and Blue.</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Since 24 is equally divided on 8, so it has been distributed equally between three different color channels.</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Their distribution is like this : 8 bits for R, 8 bits for G, 8 bits for B.</a:t>
            </a:r>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Format</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It is the most commonly used format. Its format is PPM ( Portable pixMap) which is supported by Linux operating system. The famous windows have its own format for it which is BMP ( Bitmap ).</a:t>
            </a:r>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1"/>
          <p:cNvSpPr txBox="1"/>
          <p:nvPr/>
        </p:nvSpPr>
        <p:spPr>
          <a:xfrm>
            <a:off x="0" y="145039"/>
            <a:ext cx="9061554"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Digital Image Processing </a:t>
            </a:r>
            <a:r>
              <a:rPr b="0" i="0" lang="en-US" sz="2000" u="none" cap="none" strike="noStrike">
                <a:solidFill>
                  <a:schemeClr val="lt1"/>
                </a:solidFill>
                <a:latin typeface="Times New Roman"/>
                <a:ea typeface="Times New Roman"/>
                <a:cs typeface="Times New Roman"/>
                <a:sym typeface="Times New Roman"/>
              </a:rPr>
              <a:t>means processing digital images by means </a:t>
            </a:r>
            <a:r>
              <a:rPr b="1" i="0" lang="en-US" sz="2000" u="none" cap="none" strike="noStrike">
                <a:solidFill>
                  <a:srgbClr val="FFC000"/>
                </a:solidFill>
                <a:latin typeface="Times New Roman"/>
                <a:ea typeface="Times New Roman"/>
                <a:cs typeface="Times New Roman"/>
                <a:sym typeface="Times New Roman"/>
              </a:rPr>
              <a:t>of a digital computer. </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We can also say that it is a use of computer algorithms to get enhanced images or extract useful information.</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193" name="Google Shape;193;p11"/>
          <p:cNvSpPr txBox="1"/>
          <p:nvPr/>
        </p:nvSpPr>
        <p:spPr>
          <a:xfrm>
            <a:off x="0" y="1994629"/>
            <a:ext cx="9308892" cy="270843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FFC000"/>
                </a:solidFill>
                <a:latin typeface="Times New Roman"/>
                <a:ea typeface="Times New Roman"/>
                <a:cs typeface="Times New Roman"/>
                <a:sym typeface="Times New Roman"/>
              </a:rPr>
              <a:t>Image processing and applications</a:t>
            </a:r>
            <a:endParaRPr/>
          </a:p>
          <a:p>
            <a:pPr indent="0" lvl="0" marL="0" marR="0" rtl="0" algn="l">
              <a:lnSpc>
                <a:spcPct val="100000"/>
              </a:lnSpc>
              <a:spcBef>
                <a:spcPts val="0"/>
              </a:spcBef>
              <a:spcAft>
                <a:spcPts val="0"/>
              </a:spcAft>
              <a:buNone/>
            </a:pPr>
            <a:r>
              <a:t/>
            </a:r>
            <a:endParaRPr b="1" i="0" sz="2400" u="none" cap="none" strike="noStrike">
              <a:solidFill>
                <a:srgbClr val="FFC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1)Gamma-ray Imaging: </a:t>
            </a:r>
            <a:r>
              <a:rPr b="1" i="0" lang="en-US" sz="1800" u="none" cap="none" strike="noStrike">
                <a:solidFill>
                  <a:schemeClr val="lt1"/>
                </a:solidFill>
                <a:latin typeface="Times New Roman"/>
                <a:ea typeface="Times New Roman"/>
                <a:cs typeface="Times New Roman"/>
                <a:sym typeface="Times New Roman"/>
              </a:rPr>
              <a:t>In nuclear medicine injecting a patient with a radioactive isotope emits gamma rays as its decays. Images are collected from the emission collected by gamma-ray decoders. Images of this sort are used to locate sites of bone pathology such as infections or tumors.</a:t>
            </a:r>
            <a:endParaRPr/>
          </a:p>
          <a:p>
            <a:pPr indent="0" lvl="0" marL="0" marR="0" rtl="0" algn="l">
              <a:lnSpc>
                <a:spcPct val="100000"/>
              </a:lnSpc>
              <a:spcBef>
                <a:spcPts val="0"/>
              </a:spcBef>
              <a:spcAft>
                <a:spcPts val="0"/>
              </a:spcAft>
              <a:buNone/>
            </a:pPr>
            <a:r>
              <a:t/>
            </a:r>
            <a:endParaRPr b="1" i="0" sz="18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Astronomical observations</a:t>
            </a:r>
            <a:endParaRPr b="1" i="0" sz="1800" u="none" cap="none" strike="noStrike">
              <a:solidFill>
                <a:schemeClr val="lt1"/>
              </a:solidFill>
              <a:latin typeface="Arial"/>
              <a:ea typeface="Arial"/>
              <a:cs typeface="Arial"/>
              <a:sym typeface="Arial"/>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nvSpPr>
        <p:spPr>
          <a:xfrm>
            <a:off x="112426" y="200801"/>
            <a:ext cx="9031500" cy="406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2) X-ray Imaging</a:t>
            </a:r>
            <a:endParaRPr>
              <a:solidFill>
                <a:schemeClr val="dk2"/>
              </a:solidFill>
            </a:endParaRPr>
          </a:p>
          <a:p>
            <a:pPr indent="0" lvl="0" marL="0" marR="0" rtl="0" algn="l">
              <a:lnSpc>
                <a:spcPct val="100000"/>
              </a:lnSpc>
              <a:spcBef>
                <a:spcPts val="0"/>
              </a:spcBef>
              <a:spcAft>
                <a:spcPts val="0"/>
              </a:spcAft>
              <a:buNone/>
            </a:pPr>
            <a:r>
              <a:rPr b="1" i="0" lang="en-US" sz="1800" u="none" cap="none" strike="noStrike">
                <a:solidFill>
                  <a:schemeClr val="dk2"/>
                </a:solidFill>
                <a:latin typeface="Times New Roman"/>
                <a:ea typeface="Times New Roman"/>
                <a:cs typeface="Times New Roman"/>
                <a:sym typeface="Times New Roman"/>
              </a:rPr>
              <a:t>Medical diagnostics</a:t>
            </a:r>
            <a:endParaRPr>
              <a:solidFill>
                <a:schemeClr val="dk2"/>
              </a:solidFill>
            </a:endParaRPr>
          </a:p>
          <a:p>
            <a:pPr indent="0" lvl="0" marL="0" marR="0" rtl="0" algn="l">
              <a:lnSpc>
                <a:spcPct val="100000"/>
              </a:lnSpc>
              <a:spcBef>
                <a:spcPts val="0"/>
              </a:spcBef>
              <a:spcAft>
                <a:spcPts val="0"/>
              </a:spcAft>
              <a:buNone/>
            </a:pPr>
            <a:r>
              <a:rPr b="1" i="0" lang="en-US" sz="1800" u="none" cap="none" strike="noStrike">
                <a:solidFill>
                  <a:schemeClr val="dk2"/>
                </a:solidFill>
                <a:latin typeface="Times New Roman"/>
                <a:ea typeface="Times New Roman"/>
                <a:cs typeface="Times New Roman"/>
                <a:sym typeface="Times New Roman"/>
              </a:rPr>
              <a:t>Angiography </a:t>
            </a:r>
            <a:endParaRPr>
              <a:solidFill>
                <a:schemeClr val="dk2"/>
              </a:solidFill>
            </a:endParaRPr>
          </a:p>
          <a:p>
            <a:pPr indent="0" lvl="0" marL="0" marR="0" rtl="0" algn="l">
              <a:lnSpc>
                <a:spcPct val="100000"/>
              </a:lnSpc>
              <a:spcBef>
                <a:spcPts val="0"/>
              </a:spcBef>
              <a:spcAft>
                <a:spcPts val="0"/>
              </a:spcAft>
              <a:buNone/>
            </a:pPr>
            <a:r>
              <a:rPr b="1" i="0" lang="en-US" sz="1800" u="none" cap="none" strike="noStrike">
                <a:solidFill>
                  <a:schemeClr val="dk2"/>
                </a:solidFill>
                <a:latin typeface="Times New Roman"/>
                <a:ea typeface="Times New Roman"/>
                <a:cs typeface="Times New Roman"/>
                <a:sym typeface="Times New Roman"/>
              </a:rPr>
              <a:t>Computerized axial tomography (CT scan)</a:t>
            </a:r>
            <a:endParaRPr>
              <a:solidFill>
                <a:schemeClr val="dk2"/>
              </a:solidFill>
            </a:endParaRPr>
          </a:p>
          <a:p>
            <a:pPr indent="0" lvl="0" marL="0" marR="0" rtl="0" algn="l">
              <a:lnSpc>
                <a:spcPct val="100000"/>
              </a:lnSpc>
              <a:spcBef>
                <a:spcPts val="0"/>
              </a:spcBef>
              <a:spcAft>
                <a:spcPts val="0"/>
              </a:spcAft>
              <a:buNone/>
            </a:pPr>
            <a:r>
              <a:rPr b="1" i="0" lang="en-US" sz="1800" u="none" cap="none" strike="noStrike">
                <a:solidFill>
                  <a:schemeClr val="dk2"/>
                </a:solidFill>
                <a:latin typeface="Times New Roman"/>
                <a:ea typeface="Times New Roman"/>
                <a:cs typeface="Times New Roman"/>
                <a:sym typeface="Times New Roman"/>
              </a:rPr>
              <a:t>Industry applications </a:t>
            </a:r>
            <a:endParaRPr>
              <a:solidFill>
                <a:schemeClr val="dk2"/>
              </a:solidFill>
            </a:endParaRPr>
          </a:p>
          <a:p>
            <a:pPr indent="0" lvl="0" marL="0" marR="0" rtl="0" algn="l">
              <a:lnSpc>
                <a:spcPct val="100000"/>
              </a:lnSpc>
              <a:spcBef>
                <a:spcPts val="0"/>
              </a:spcBef>
              <a:spcAft>
                <a:spcPts val="0"/>
              </a:spcAft>
              <a:buNone/>
            </a:pPr>
            <a:r>
              <a:t/>
            </a:r>
            <a:endParaRPr b="1" i="0" sz="18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3) Ultraviolet Imaging  </a:t>
            </a:r>
            <a:endParaRPr>
              <a:solidFill>
                <a:schemeClr val="dk2"/>
              </a:solidFill>
            </a:endParaRPr>
          </a:p>
          <a:p>
            <a:pPr indent="0" lvl="0" marL="0" marR="0" rtl="0" algn="l">
              <a:lnSpc>
                <a:spcPct val="100000"/>
              </a:lnSpc>
              <a:spcBef>
                <a:spcPts val="0"/>
              </a:spcBef>
              <a:spcAft>
                <a:spcPts val="0"/>
              </a:spcAft>
              <a:buNone/>
            </a:pPr>
            <a:r>
              <a:rPr b="1" i="0" lang="en-US" sz="2000" u="none" cap="none" strike="noStrike">
                <a:solidFill>
                  <a:schemeClr val="dk2"/>
                </a:solidFill>
                <a:latin typeface="Times New Roman"/>
                <a:ea typeface="Times New Roman"/>
                <a:cs typeface="Times New Roman"/>
                <a:sym typeface="Times New Roman"/>
              </a:rPr>
              <a:t>Lithography,</a:t>
            </a:r>
            <a:endParaRPr>
              <a:solidFill>
                <a:schemeClr val="dk2"/>
              </a:solidFill>
            </a:endParaRPr>
          </a:p>
          <a:p>
            <a:pPr indent="0" lvl="0" marL="0" marR="0" rtl="0" algn="l">
              <a:lnSpc>
                <a:spcPct val="100000"/>
              </a:lnSpc>
              <a:spcBef>
                <a:spcPts val="0"/>
              </a:spcBef>
              <a:spcAft>
                <a:spcPts val="0"/>
              </a:spcAft>
              <a:buNone/>
            </a:pPr>
            <a:r>
              <a:rPr b="1" i="0" lang="en-US" sz="2000" u="none" cap="none" strike="noStrike">
                <a:solidFill>
                  <a:schemeClr val="dk2"/>
                </a:solidFill>
                <a:latin typeface="Times New Roman"/>
                <a:ea typeface="Times New Roman"/>
                <a:cs typeface="Times New Roman"/>
                <a:sym typeface="Times New Roman"/>
              </a:rPr>
              <a:t>Industrial inspection, </a:t>
            </a:r>
            <a:endParaRPr>
              <a:solidFill>
                <a:schemeClr val="dk2"/>
              </a:solidFill>
            </a:endParaRPr>
          </a:p>
          <a:p>
            <a:pPr indent="0" lvl="0" marL="0" marR="0" rtl="0" algn="l">
              <a:lnSpc>
                <a:spcPct val="100000"/>
              </a:lnSpc>
              <a:spcBef>
                <a:spcPts val="0"/>
              </a:spcBef>
              <a:spcAft>
                <a:spcPts val="0"/>
              </a:spcAft>
              <a:buNone/>
            </a:pPr>
            <a:r>
              <a:rPr b="1" i="0" lang="en-US" sz="2000" u="none" cap="none" strike="noStrike">
                <a:solidFill>
                  <a:schemeClr val="dk2"/>
                </a:solidFill>
                <a:latin typeface="Times New Roman"/>
                <a:ea typeface="Times New Roman"/>
                <a:cs typeface="Times New Roman"/>
                <a:sym typeface="Times New Roman"/>
              </a:rPr>
              <a:t>microscopy, </a:t>
            </a:r>
            <a:endParaRPr>
              <a:solidFill>
                <a:schemeClr val="dk2"/>
              </a:solidFill>
            </a:endParaRPr>
          </a:p>
          <a:p>
            <a:pPr indent="0" lvl="0" marL="0" marR="0" rtl="0" algn="l">
              <a:lnSpc>
                <a:spcPct val="100000"/>
              </a:lnSpc>
              <a:spcBef>
                <a:spcPts val="0"/>
              </a:spcBef>
              <a:spcAft>
                <a:spcPts val="0"/>
              </a:spcAft>
              <a:buNone/>
            </a:pPr>
            <a:r>
              <a:rPr b="1" i="0" lang="en-US" sz="2000" u="none" cap="none" strike="noStrike">
                <a:solidFill>
                  <a:schemeClr val="dk2"/>
                </a:solidFill>
                <a:latin typeface="Times New Roman"/>
                <a:ea typeface="Times New Roman"/>
                <a:cs typeface="Times New Roman"/>
                <a:sym typeface="Times New Roman"/>
              </a:rPr>
              <a:t>lasers, </a:t>
            </a:r>
            <a:endParaRPr>
              <a:solidFill>
                <a:schemeClr val="dk2"/>
              </a:solidFill>
            </a:endParaRPr>
          </a:p>
          <a:p>
            <a:pPr indent="0" lvl="0" marL="0" marR="0" rtl="0" algn="l">
              <a:lnSpc>
                <a:spcPct val="100000"/>
              </a:lnSpc>
              <a:spcBef>
                <a:spcPts val="0"/>
              </a:spcBef>
              <a:spcAft>
                <a:spcPts val="0"/>
              </a:spcAft>
              <a:buNone/>
            </a:pPr>
            <a:r>
              <a:rPr b="1" i="0" lang="en-US" sz="2000" u="none" cap="none" strike="noStrike">
                <a:solidFill>
                  <a:schemeClr val="dk2"/>
                </a:solidFill>
                <a:latin typeface="Times New Roman"/>
                <a:ea typeface="Times New Roman"/>
                <a:cs typeface="Times New Roman"/>
                <a:sym typeface="Times New Roman"/>
              </a:rPr>
              <a:t>biological imaging, </a:t>
            </a:r>
            <a:endParaRPr>
              <a:solidFill>
                <a:schemeClr val="dk2"/>
              </a:solidFill>
            </a:endParaRPr>
          </a:p>
          <a:p>
            <a:pPr indent="0" lvl="0" marL="0" marR="0" rtl="0" algn="l">
              <a:lnSpc>
                <a:spcPct val="100000"/>
              </a:lnSpc>
              <a:spcBef>
                <a:spcPts val="0"/>
              </a:spcBef>
              <a:spcAft>
                <a:spcPts val="0"/>
              </a:spcAft>
              <a:buNone/>
            </a:pPr>
            <a:r>
              <a:rPr b="1" i="0" lang="en-US" sz="2000" u="none" cap="none" strike="noStrike">
                <a:solidFill>
                  <a:schemeClr val="dk2"/>
                </a:solidFill>
                <a:latin typeface="Times New Roman"/>
                <a:ea typeface="Times New Roman"/>
                <a:cs typeface="Times New Roman"/>
                <a:sym typeface="Times New Roman"/>
              </a:rPr>
              <a:t>astronomical observations.</a:t>
            </a:r>
            <a:endParaRPr>
              <a:solidFill>
                <a:schemeClr val="dk2"/>
              </a:solidFill>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3"/>
          <p:cNvSpPr txBox="1"/>
          <p:nvPr/>
        </p:nvSpPr>
        <p:spPr>
          <a:xfrm>
            <a:off x="209863" y="119921"/>
            <a:ext cx="8859300" cy="4463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4) Imaging in the visible and Infrared band</a:t>
            </a:r>
            <a:endParaRPr>
              <a:solidFill>
                <a:schemeClr val="dk2"/>
              </a:solidFill>
            </a:endParaRPr>
          </a:p>
          <a:p>
            <a:pPr indent="0" lvl="0" marL="0" marR="0" rtl="0" algn="l">
              <a:lnSpc>
                <a:spcPct val="100000"/>
              </a:lnSpc>
              <a:spcBef>
                <a:spcPts val="0"/>
              </a:spcBef>
              <a:spcAft>
                <a:spcPts val="0"/>
              </a:spcAft>
              <a:buNone/>
            </a:pPr>
            <a:r>
              <a:t/>
            </a:r>
            <a:endParaRPr b="1" i="0" sz="2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light microscopy </a:t>
            </a:r>
            <a:endParaRPr>
              <a:solidFill>
                <a:schemeClr val="dk2"/>
              </a:solidFill>
            </a:endParaRPr>
          </a:p>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astronomy </a:t>
            </a:r>
            <a:endParaRPr>
              <a:solidFill>
                <a:schemeClr val="dk2"/>
              </a:solidFill>
            </a:endParaRPr>
          </a:p>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remote sensing</a:t>
            </a:r>
            <a:endParaRPr>
              <a:solidFill>
                <a:schemeClr val="dk2"/>
              </a:solidFill>
            </a:endParaRPr>
          </a:p>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industry </a:t>
            </a:r>
            <a:endParaRPr>
              <a:solidFill>
                <a:schemeClr val="dk2"/>
              </a:solidFill>
            </a:endParaRPr>
          </a:p>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law enforcement (biometrics)</a:t>
            </a:r>
            <a:endParaRPr>
              <a:solidFill>
                <a:schemeClr val="dk2"/>
              </a:solidFill>
            </a:endParaRPr>
          </a:p>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 </a:t>
            </a:r>
            <a:endParaRPr>
              <a:solidFill>
                <a:schemeClr val="dk2"/>
              </a:solidFill>
            </a:endParaRPr>
          </a:p>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5)Imaging in the Microwave Band</a:t>
            </a:r>
            <a:endParaRPr>
              <a:solidFill>
                <a:schemeClr val="dk2"/>
              </a:solidFill>
            </a:endParaRPr>
          </a:p>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 </a:t>
            </a:r>
            <a:endParaRPr>
              <a:solidFill>
                <a:schemeClr val="dk2"/>
              </a:solidFill>
            </a:endParaRPr>
          </a:p>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Radar –</a:t>
            </a:r>
            <a:r>
              <a:rPr b="1" i="0" lang="en-US" sz="2000" u="none" cap="none" strike="noStrike">
                <a:solidFill>
                  <a:schemeClr val="dk2"/>
                </a:solidFill>
                <a:latin typeface="Times New Roman"/>
                <a:ea typeface="Times New Roman"/>
                <a:cs typeface="Times New Roman"/>
                <a:sym typeface="Times New Roman"/>
              </a:rPr>
              <a:t>collect data over virtually any region </a:t>
            </a:r>
            <a:r>
              <a:rPr b="1" i="0" lang="en-US" sz="2000" u="none" cap="none" strike="noStrike">
                <a:solidFill>
                  <a:schemeClr val="lt1"/>
                </a:solidFill>
                <a:latin typeface="Times New Roman"/>
                <a:ea typeface="Times New Roman"/>
                <a:cs typeface="Times New Roman"/>
                <a:sym typeface="Times New Roman"/>
              </a:rPr>
              <a:t>at any time , regardless of weather or ambient lighting conditions. </a:t>
            </a:r>
            <a:endParaRPr/>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4"/>
          <p:cNvSpPr txBox="1"/>
          <p:nvPr/>
        </p:nvSpPr>
        <p:spPr>
          <a:xfrm>
            <a:off x="0" y="172388"/>
            <a:ext cx="62358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6) Imaging in the Radio Band</a:t>
            </a:r>
            <a:endParaRPr>
              <a:solidFill>
                <a:schemeClr val="dk2"/>
              </a:solidFill>
            </a:endParaRPr>
          </a:p>
          <a:p>
            <a:pPr indent="0" lvl="0" marL="0" marR="0" rtl="0" algn="l">
              <a:lnSpc>
                <a:spcPct val="100000"/>
              </a:lnSpc>
              <a:spcBef>
                <a:spcPts val="0"/>
              </a:spcBef>
              <a:spcAft>
                <a:spcPts val="0"/>
              </a:spcAft>
              <a:buNone/>
            </a:pPr>
            <a:r>
              <a:t/>
            </a:r>
            <a:endParaRPr b="1" i="0" sz="2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chemeClr val="dk2"/>
                </a:solidFill>
                <a:latin typeface="Times New Roman"/>
                <a:ea typeface="Times New Roman"/>
                <a:cs typeface="Times New Roman"/>
                <a:sym typeface="Times New Roman"/>
              </a:rPr>
              <a:t>Medicine –magnetic resonance imaging (MRI)</a:t>
            </a:r>
            <a:endParaRPr>
              <a:solidFill>
                <a:schemeClr val="dk2"/>
              </a:solidFill>
            </a:endParaRPr>
          </a:p>
          <a:p>
            <a:pPr indent="0" lvl="0" marL="0" marR="0" rtl="0" algn="l">
              <a:lnSpc>
                <a:spcPct val="100000"/>
              </a:lnSpc>
              <a:spcBef>
                <a:spcPts val="0"/>
              </a:spcBef>
              <a:spcAft>
                <a:spcPts val="0"/>
              </a:spcAft>
              <a:buNone/>
            </a:pPr>
            <a:r>
              <a:rPr b="1" i="0" lang="en-US" sz="2000" u="none" cap="none" strike="noStrike">
                <a:solidFill>
                  <a:schemeClr val="dk2"/>
                </a:solidFill>
                <a:latin typeface="Times New Roman"/>
                <a:ea typeface="Times New Roman"/>
                <a:cs typeface="Times New Roman"/>
                <a:sym typeface="Times New Roman"/>
              </a:rPr>
              <a:t>Astronomy  </a:t>
            </a:r>
            <a:endParaRPr>
              <a:solidFill>
                <a:schemeClr val="dk2"/>
              </a:solidFill>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5"/>
          <p:cNvSpPr txBox="1"/>
          <p:nvPr/>
        </p:nvSpPr>
        <p:spPr>
          <a:xfrm>
            <a:off x="0" y="-52466"/>
            <a:ext cx="738265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FFC000"/>
                </a:solidFill>
                <a:latin typeface="Times New Roman"/>
                <a:ea typeface="Times New Roman"/>
                <a:cs typeface="Times New Roman"/>
                <a:sym typeface="Times New Roman"/>
              </a:rPr>
              <a:t>Fundamental Steps in Digital Image Processing </a:t>
            </a:r>
            <a:endParaRPr/>
          </a:p>
        </p:txBody>
      </p:sp>
      <p:sp>
        <p:nvSpPr>
          <p:cNvPr id="214" name="Google Shape;214;p15"/>
          <p:cNvSpPr txBox="1"/>
          <p:nvPr/>
        </p:nvSpPr>
        <p:spPr>
          <a:xfrm>
            <a:off x="-7495" y="4727961"/>
            <a:ext cx="915149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Knowledge base </a:t>
            </a:r>
            <a:r>
              <a:rPr b="0" i="0" lang="en-US" sz="2000" u="none" cap="none" strike="noStrike">
                <a:solidFill>
                  <a:schemeClr val="lt1"/>
                </a:solidFill>
                <a:latin typeface="Times New Roman"/>
                <a:ea typeface="Times New Roman"/>
                <a:cs typeface="Times New Roman"/>
                <a:sym typeface="Times New Roman"/>
              </a:rPr>
              <a:t>–all the information relating to an image for processing </a:t>
            </a:r>
            <a:endParaRPr/>
          </a:p>
        </p:txBody>
      </p:sp>
      <p:pic>
        <p:nvPicPr>
          <p:cNvPr id="215" name="Google Shape;215;p15"/>
          <p:cNvPicPr preferRelativeResize="0"/>
          <p:nvPr/>
        </p:nvPicPr>
        <p:blipFill rotWithShape="1">
          <a:blip r:embed="rId3">
            <a:alphaModFix/>
          </a:blip>
          <a:srcRect b="0" l="0" r="0" t="0"/>
          <a:stretch/>
        </p:blipFill>
        <p:spPr>
          <a:xfrm>
            <a:off x="127416" y="405860"/>
            <a:ext cx="8881672" cy="4386996"/>
          </a:xfrm>
          <a:prstGeom prst="rect">
            <a:avLst/>
          </a:prstGeom>
          <a:noFill/>
          <a:ln>
            <a:noFill/>
          </a:ln>
        </p:spPr>
      </p:pic>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6"/>
          <p:cNvSpPr txBox="1"/>
          <p:nvPr/>
        </p:nvSpPr>
        <p:spPr>
          <a:xfrm>
            <a:off x="0" y="0"/>
            <a:ext cx="9144000" cy="631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1) Image Acquisition </a:t>
            </a:r>
            <a:r>
              <a:rPr b="0" i="0" lang="en-US" sz="2000" u="none" cap="none" strike="noStrike">
                <a:solidFill>
                  <a:schemeClr val="dk2"/>
                </a:solidFill>
                <a:latin typeface="Times New Roman"/>
                <a:ea typeface="Times New Roman"/>
                <a:cs typeface="Times New Roman"/>
                <a:sym typeface="Times New Roman"/>
              </a:rPr>
              <a:t>is the first step of the fundamental steps of DIP. In this stage, an image is given in digital form. Generally, in this stage, pre-processing such as scaling is done.</a:t>
            </a:r>
            <a:endParaRPr>
              <a:solidFill>
                <a:schemeClr val="dk2"/>
              </a:solidFill>
            </a:endParaRPr>
          </a:p>
          <a:p>
            <a:pPr indent="0" lvl="0" marL="0" marR="0" rtl="0" algn="l">
              <a:lnSpc>
                <a:spcPct val="100000"/>
              </a:lnSpc>
              <a:spcBef>
                <a:spcPts val="0"/>
              </a:spcBef>
              <a:spcAft>
                <a:spcPts val="0"/>
              </a:spcAft>
              <a:buNone/>
            </a:pPr>
            <a:r>
              <a:rPr b="0" i="0" lang="en-US" sz="2400" u="none" cap="none" strike="noStrike">
                <a:solidFill>
                  <a:schemeClr val="dk2"/>
                </a:solidFill>
                <a:latin typeface="Times New Roman"/>
                <a:ea typeface="Times New Roman"/>
                <a:cs typeface="Times New Roman"/>
                <a:sym typeface="Times New Roman"/>
              </a:rPr>
              <a:t>2) </a:t>
            </a:r>
            <a:r>
              <a:rPr b="1" i="0" lang="en-US" sz="2400" u="none" cap="none" strike="noStrike">
                <a:solidFill>
                  <a:schemeClr val="dk2"/>
                </a:solidFill>
                <a:latin typeface="Times New Roman"/>
                <a:ea typeface="Times New Roman"/>
                <a:cs typeface="Times New Roman"/>
                <a:sym typeface="Times New Roman"/>
              </a:rPr>
              <a:t>Image Enhancement </a:t>
            </a:r>
            <a:r>
              <a:rPr b="0" i="0" lang="en-US" sz="2000" u="none" cap="none" strike="noStrike">
                <a:solidFill>
                  <a:schemeClr val="dk2"/>
                </a:solidFill>
                <a:latin typeface="Times New Roman"/>
                <a:ea typeface="Times New Roman"/>
                <a:cs typeface="Times New Roman"/>
                <a:sym typeface="Times New Roman"/>
              </a:rPr>
              <a:t>is the process of manipulating an image so that the result is more </a:t>
            </a:r>
            <a:r>
              <a:rPr b="1" i="0" lang="en-US" sz="2000" u="none" cap="none" strike="noStrike">
                <a:solidFill>
                  <a:schemeClr val="dk2"/>
                </a:solidFill>
                <a:latin typeface="Times New Roman"/>
                <a:ea typeface="Times New Roman"/>
                <a:cs typeface="Times New Roman"/>
                <a:sym typeface="Times New Roman"/>
              </a:rPr>
              <a:t>suitable than the original for a specific application </a:t>
            </a:r>
            <a:r>
              <a:rPr b="0" i="0" lang="en-US" sz="2000" u="none" cap="none" strike="noStrike">
                <a:solidFill>
                  <a:schemeClr val="dk2"/>
                </a:solidFill>
                <a:latin typeface="Times New Roman"/>
                <a:ea typeface="Times New Roman"/>
                <a:cs typeface="Times New Roman"/>
                <a:sym typeface="Times New Roman"/>
              </a:rPr>
              <a:t>.</a:t>
            </a:r>
            <a:r>
              <a:rPr b="0" i="0" lang="en-US" sz="2800" u="none" cap="none" strike="noStrike">
                <a:solidFill>
                  <a:schemeClr val="dk2"/>
                </a:solidFill>
                <a:latin typeface="Inter"/>
                <a:ea typeface="Inter"/>
                <a:cs typeface="Inter"/>
                <a:sym typeface="Inter"/>
              </a:rPr>
              <a:t> </a:t>
            </a:r>
            <a:r>
              <a:rPr b="0" i="0" lang="en-US" sz="2000" u="none" cap="none" strike="noStrike">
                <a:solidFill>
                  <a:schemeClr val="dk2"/>
                </a:solidFill>
                <a:latin typeface="Times New Roman"/>
                <a:ea typeface="Times New Roman"/>
                <a:cs typeface="Times New Roman"/>
                <a:sym typeface="Times New Roman"/>
              </a:rPr>
              <a:t>Interesting features of an image is highlighted such as brightness, contrast, removal of noise ,sharpening of an image etc.Subjective in nature –vary from application to application .</a:t>
            </a:r>
            <a:endParaRPr>
              <a:solidFill>
                <a:schemeClr val="dk2"/>
              </a:solidFill>
            </a:endParaRPr>
          </a:p>
          <a:p>
            <a:pPr indent="0" lvl="0" marL="0" marR="0" rtl="0" algn="l">
              <a:lnSpc>
                <a:spcPct val="100000"/>
              </a:lnSpc>
              <a:spcBef>
                <a:spcPts val="0"/>
              </a:spcBef>
              <a:spcAft>
                <a:spcPts val="0"/>
              </a:spcAft>
              <a:buNone/>
            </a:pPr>
            <a:r>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400" u="none" cap="none" strike="noStrike">
                <a:solidFill>
                  <a:schemeClr val="dk2"/>
                </a:solidFill>
                <a:latin typeface="Times New Roman"/>
                <a:ea typeface="Times New Roman"/>
                <a:cs typeface="Times New Roman"/>
                <a:sym typeface="Times New Roman"/>
              </a:rPr>
              <a:t>3) </a:t>
            </a:r>
            <a:r>
              <a:rPr b="1" i="0" lang="en-US" sz="2400" u="none" cap="none" strike="noStrike">
                <a:solidFill>
                  <a:schemeClr val="dk2"/>
                </a:solidFill>
                <a:latin typeface="Times New Roman"/>
                <a:ea typeface="Times New Roman"/>
                <a:cs typeface="Times New Roman"/>
                <a:sym typeface="Times New Roman"/>
              </a:rPr>
              <a:t>Image Restoration </a:t>
            </a:r>
            <a:r>
              <a:rPr b="0" i="0" lang="en-US" sz="2000" u="none" cap="none" strike="noStrike">
                <a:solidFill>
                  <a:schemeClr val="dk2"/>
                </a:solidFill>
                <a:latin typeface="Times New Roman"/>
                <a:ea typeface="Times New Roman"/>
                <a:cs typeface="Times New Roman"/>
                <a:sym typeface="Times New Roman"/>
              </a:rPr>
              <a:t>is the stage in which the appearance of an image is improved.  Recovering an image that has been degraded .Objective in nature .</a:t>
            </a:r>
            <a:endParaRPr>
              <a:solidFill>
                <a:schemeClr val="dk2"/>
              </a:solidFill>
            </a:endParaRPr>
          </a:p>
          <a:p>
            <a:pPr indent="0" lvl="0" marL="0" marR="0" rtl="0" algn="just">
              <a:lnSpc>
                <a:spcPct val="100000"/>
              </a:lnSpc>
              <a:spcBef>
                <a:spcPts val="0"/>
              </a:spcBef>
              <a:spcAft>
                <a:spcPts val="0"/>
              </a:spcAft>
              <a:buNone/>
            </a:pPr>
            <a:r>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4) Color Image Processing</a:t>
            </a:r>
            <a:endParaRPr>
              <a:solidFill>
                <a:schemeClr val="dk2"/>
              </a:solidFill>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Color image processing is a famous area because it has increased the use of digital images on the internet. This includes color modeling, processing in a digital domain, etc.</a:t>
            </a:r>
            <a:endParaRPr>
              <a:solidFill>
                <a:schemeClr val="dk2"/>
              </a:solidFill>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7"/>
          <p:cNvSpPr txBox="1"/>
          <p:nvPr/>
        </p:nvSpPr>
        <p:spPr>
          <a:xfrm>
            <a:off x="0" y="0"/>
            <a:ext cx="9144000" cy="4587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5) Wavelets and Multi-Resolution Processing</a:t>
            </a:r>
            <a:endParaRPr>
              <a:solidFill>
                <a:schemeClr val="dk2"/>
              </a:solidFill>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Wavelets help to wavelet transform ,that transformed form gives </a:t>
            </a:r>
            <a:r>
              <a:rPr b="1" i="0" lang="en-US" sz="2000" u="none" cap="none" strike="noStrike">
                <a:solidFill>
                  <a:schemeClr val="dk2"/>
                </a:solidFill>
                <a:latin typeface="Times New Roman"/>
                <a:ea typeface="Times New Roman"/>
                <a:cs typeface="Times New Roman"/>
                <a:sym typeface="Times New Roman"/>
              </a:rPr>
              <a:t>time and frequency information of an image</a:t>
            </a:r>
            <a:r>
              <a:rPr b="0" i="0" lang="en-US" sz="2000" u="none" cap="none" strike="noStrike">
                <a:solidFill>
                  <a:schemeClr val="dk2"/>
                </a:solidFill>
                <a:latin typeface="Times New Roman"/>
                <a:ea typeface="Times New Roman"/>
                <a:cs typeface="Times New Roman"/>
                <a:sym typeface="Times New Roman"/>
              </a:rPr>
              <a:t> .Wavelets leads to multi resolution processing in which  image is represented in various degrees of resolution. </a:t>
            </a:r>
            <a:endParaRPr>
              <a:solidFill>
                <a:schemeClr val="dk2"/>
              </a:solidFill>
            </a:endParaRPr>
          </a:p>
          <a:p>
            <a:pPr indent="0" lvl="0" marL="0" marR="0" rtl="0" algn="just">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6) Compression</a:t>
            </a:r>
            <a:endParaRPr>
              <a:solidFill>
                <a:schemeClr val="dk2"/>
              </a:solidFill>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Compression is a technique which is used for </a:t>
            </a:r>
            <a:r>
              <a:rPr b="1" i="0" lang="en-US" sz="2000" u="none" cap="none" strike="noStrike">
                <a:solidFill>
                  <a:schemeClr val="dk2"/>
                </a:solidFill>
                <a:latin typeface="Times New Roman"/>
                <a:ea typeface="Times New Roman"/>
                <a:cs typeface="Times New Roman"/>
                <a:sym typeface="Times New Roman"/>
              </a:rPr>
              <a:t>reducing the requirement of storing an image</a:t>
            </a:r>
            <a:r>
              <a:rPr b="0" i="0" lang="en-US" sz="2000" u="none" cap="none" strike="noStrike">
                <a:solidFill>
                  <a:schemeClr val="dk2"/>
                </a:solidFill>
                <a:latin typeface="Times New Roman"/>
                <a:ea typeface="Times New Roman"/>
                <a:cs typeface="Times New Roman"/>
                <a:sym typeface="Times New Roman"/>
              </a:rPr>
              <a:t>. It is a very important stage because it is very necessary to compress data for internet use.</a:t>
            </a:r>
            <a:endParaRPr>
              <a:solidFill>
                <a:schemeClr val="dk2"/>
              </a:solidFill>
            </a:endParaRPr>
          </a:p>
          <a:p>
            <a:pPr indent="0" lvl="0" marL="0" marR="0" rtl="0" algn="just">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7) Morphological Processing</a:t>
            </a:r>
            <a:endParaRPr>
              <a:solidFill>
                <a:schemeClr val="dk2"/>
              </a:solidFill>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This stage deals with tools which are used for extracting the components of the image, which is </a:t>
            </a:r>
            <a:r>
              <a:rPr b="1" i="0" lang="en-US" sz="2000" u="none" cap="none" strike="noStrike">
                <a:solidFill>
                  <a:schemeClr val="dk2"/>
                </a:solidFill>
                <a:latin typeface="Times New Roman"/>
                <a:ea typeface="Times New Roman"/>
                <a:cs typeface="Times New Roman"/>
                <a:sym typeface="Times New Roman"/>
              </a:rPr>
              <a:t>useful in the representation and description of shape</a:t>
            </a:r>
            <a:r>
              <a:rPr b="0" i="0" lang="en-US" sz="2000" u="none" cap="none" strike="noStrike">
                <a:solidFill>
                  <a:schemeClr val="dk2"/>
                </a:solidFill>
                <a:latin typeface="Times New Roman"/>
                <a:ea typeface="Times New Roman"/>
                <a:cs typeface="Times New Roman"/>
                <a:sym typeface="Times New Roman"/>
              </a:rPr>
              <a:t>. Basic morphological operations are erosion and dialation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8"/>
          <p:cNvSpPr txBox="1"/>
          <p:nvPr/>
        </p:nvSpPr>
        <p:spPr>
          <a:xfrm>
            <a:off x="89941" y="0"/>
            <a:ext cx="8994000" cy="2616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400" u="none" cap="none" strike="noStrike">
                <a:solidFill>
                  <a:schemeClr val="dk2"/>
                </a:solidFill>
                <a:latin typeface="Times New Roman"/>
                <a:ea typeface="Times New Roman"/>
                <a:cs typeface="Times New Roman"/>
                <a:sym typeface="Times New Roman"/>
              </a:rPr>
              <a:t>8) Segmentation</a:t>
            </a:r>
            <a:endParaRPr>
              <a:solidFill>
                <a:schemeClr val="dk2"/>
              </a:solidFill>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In this stage, an image is a </a:t>
            </a:r>
            <a:r>
              <a:rPr b="1" i="0" lang="en-US" sz="2000" u="none" cap="none" strike="noStrike">
                <a:solidFill>
                  <a:schemeClr val="dk2"/>
                </a:solidFill>
                <a:latin typeface="Times New Roman"/>
                <a:ea typeface="Times New Roman"/>
                <a:cs typeface="Times New Roman"/>
                <a:sym typeface="Times New Roman"/>
              </a:rPr>
              <a:t>partitioned into its objects</a:t>
            </a:r>
            <a:r>
              <a:rPr b="0" i="0" lang="en-US" sz="2000" u="none" cap="none" strike="noStrike">
                <a:solidFill>
                  <a:schemeClr val="dk2"/>
                </a:solidFill>
                <a:latin typeface="Times New Roman"/>
                <a:ea typeface="Times New Roman"/>
                <a:cs typeface="Times New Roman"/>
                <a:sym typeface="Times New Roman"/>
              </a:rPr>
              <a:t>. Segmentation is the most difficult tasks in DIP. It is a process which takes a lot of time for the successful solution of imaging problems which requires objects to identify individually.</a:t>
            </a:r>
            <a:endParaRPr>
              <a:solidFill>
                <a:schemeClr val="dk2"/>
              </a:solidFill>
            </a:endParaRPr>
          </a:p>
          <a:p>
            <a:pPr indent="0" lvl="0" marL="0" marR="0" rtl="0" algn="just">
              <a:lnSpc>
                <a:spcPct val="100000"/>
              </a:lnSpc>
              <a:spcBef>
                <a:spcPts val="0"/>
              </a:spcBef>
              <a:spcAft>
                <a:spcPts val="0"/>
              </a:spcAft>
              <a:buNone/>
            </a:pPr>
            <a:r>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dk2"/>
                </a:solidFill>
                <a:latin typeface="Times New Roman"/>
                <a:ea typeface="Times New Roman"/>
                <a:cs typeface="Times New Roman"/>
                <a:sym typeface="Times New Roman"/>
              </a:rPr>
              <a:t>Image Segmentation is the process by which a digital image is partitioned into various subgroups (of pixels) called Image Objects, which can reduce the complexity of the image, and thus analysing the image becomes simpler.</a:t>
            </a:r>
            <a:endParaRPr>
              <a:solidFill>
                <a:schemeClr val="dk2"/>
              </a:solidFill>
            </a:endParaRPr>
          </a:p>
        </p:txBody>
      </p:sp>
      <p:pic>
        <p:nvPicPr>
          <p:cNvPr descr="Example of 2D semantic segmentation: (Top) input image (Bottom) prediction.  | Download Scientific Diagram" id="231" name="Google Shape;231;p18"/>
          <p:cNvPicPr preferRelativeResize="0"/>
          <p:nvPr/>
        </p:nvPicPr>
        <p:blipFill rotWithShape="1">
          <a:blip r:embed="rId3">
            <a:alphaModFix/>
          </a:blip>
          <a:srcRect b="0" l="0" r="0" t="0"/>
          <a:stretch/>
        </p:blipFill>
        <p:spPr>
          <a:xfrm>
            <a:off x="1431561" y="2571749"/>
            <a:ext cx="5021704" cy="2571751"/>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9"/>
          <p:cNvSpPr txBox="1"/>
          <p:nvPr/>
        </p:nvSpPr>
        <p:spPr>
          <a:xfrm>
            <a:off x="0" y="0"/>
            <a:ext cx="8964118" cy="458587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9) Representation and Description</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Representation and description follow the output of the segmentation stage. The output is a raw pixel data which has all points of the </a:t>
            </a:r>
            <a:r>
              <a:rPr b="1" i="0" lang="en-US" sz="2000" u="none" cap="none" strike="noStrike">
                <a:solidFill>
                  <a:srgbClr val="FF0000"/>
                </a:solidFill>
                <a:latin typeface="Times New Roman"/>
                <a:ea typeface="Times New Roman"/>
                <a:cs typeface="Times New Roman"/>
                <a:sym typeface="Times New Roman"/>
              </a:rPr>
              <a:t>region itself </a:t>
            </a:r>
            <a:r>
              <a:rPr b="0" i="0" lang="en-US" sz="2000" u="none" cap="none" strike="noStrike">
                <a:solidFill>
                  <a:schemeClr val="lt1"/>
                </a:solidFill>
                <a:latin typeface="Times New Roman"/>
                <a:ea typeface="Times New Roman"/>
                <a:cs typeface="Times New Roman"/>
                <a:sym typeface="Times New Roman"/>
              </a:rPr>
              <a:t>or constituting either the </a:t>
            </a:r>
            <a:r>
              <a:rPr b="1" i="0" lang="en-US" sz="2000" u="none" cap="none" strike="noStrike">
                <a:solidFill>
                  <a:srgbClr val="FF0000"/>
                </a:solidFill>
                <a:latin typeface="Times New Roman"/>
                <a:ea typeface="Times New Roman"/>
                <a:cs typeface="Times New Roman"/>
                <a:sym typeface="Times New Roman"/>
              </a:rPr>
              <a:t>boundary of a region </a:t>
            </a:r>
            <a:r>
              <a:rPr b="0" i="0" lang="en-US" sz="2000" u="none" cap="none" strike="noStrike">
                <a:solidFill>
                  <a:schemeClr val="lt1"/>
                </a:solidFill>
                <a:latin typeface="Times New Roman"/>
                <a:ea typeface="Times New Roman"/>
                <a:cs typeface="Times New Roman"/>
                <a:sym typeface="Times New Roman"/>
              </a:rPr>
              <a:t>. To transform the raw data, </a:t>
            </a:r>
            <a:r>
              <a:rPr b="1" i="0" lang="en-US" sz="2000" u="none" cap="none" strike="noStrike">
                <a:solidFill>
                  <a:srgbClr val="FFC000"/>
                </a:solidFill>
                <a:latin typeface="Times New Roman"/>
                <a:ea typeface="Times New Roman"/>
                <a:cs typeface="Times New Roman"/>
                <a:sym typeface="Times New Roman"/>
              </a:rPr>
              <a:t>representation </a:t>
            </a:r>
            <a:r>
              <a:rPr b="0" i="0" lang="en-US" sz="2000" u="none" cap="none" strike="noStrike">
                <a:solidFill>
                  <a:schemeClr val="lt1"/>
                </a:solidFill>
                <a:latin typeface="Times New Roman"/>
                <a:ea typeface="Times New Roman"/>
                <a:cs typeface="Times New Roman"/>
                <a:sym typeface="Times New Roman"/>
              </a:rPr>
              <a:t>is the only solution. </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Converting the data to a form suitable for computer processing is necessary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Whereas description is used for extracting information's to differentiate one class of objects from another. It is the </a:t>
            </a:r>
            <a:r>
              <a:rPr b="1" i="0" lang="en-US" sz="2000" u="none" cap="none" strike="noStrike">
                <a:solidFill>
                  <a:srgbClr val="FFC000"/>
                </a:solidFill>
                <a:latin typeface="Times New Roman"/>
                <a:ea typeface="Times New Roman"/>
                <a:cs typeface="Times New Roman"/>
                <a:sym typeface="Times New Roman"/>
              </a:rPr>
              <a:t>feature selection </a:t>
            </a:r>
            <a:r>
              <a:rPr b="0" i="0" lang="en-US" sz="2000" u="none" cap="none" strike="noStrike">
                <a:solidFill>
                  <a:schemeClr val="lt1"/>
                </a:solidFill>
                <a:latin typeface="Times New Roman"/>
                <a:ea typeface="Times New Roman"/>
                <a:cs typeface="Times New Roman"/>
                <a:sym typeface="Times New Roman"/>
              </a:rPr>
              <a:t>that deals with extracting attributes that result in some quantitative information of interest .</a:t>
            </a:r>
            <a:endParaRPr/>
          </a:p>
          <a:p>
            <a:pPr indent="0" lvl="0" marL="0" marR="0" rtl="0" algn="just">
              <a:lnSpc>
                <a:spcPct val="100000"/>
              </a:lnSpc>
              <a:spcBef>
                <a:spcPts val="0"/>
              </a:spcBef>
              <a:spcAft>
                <a:spcPts val="0"/>
              </a:spcAft>
              <a:buNone/>
            </a:pPr>
            <a:r>
              <a:t/>
            </a:r>
            <a:endParaRPr b="1" i="0" sz="2400" u="none" cap="none" strike="noStrike">
              <a:solidFill>
                <a:srgbClr val="FFC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10) Object recognition</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In this stage, the label is assigned to the object, which is based on descriptors.</a:t>
            </a:r>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0"/>
          <p:cNvSpPr txBox="1"/>
          <p:nvPr/>
        </p:nvSpPr>
        <p:spPr>
          <a:xfrm>
            <a:off x="209862" y="108440"/>
            <a:ext cx="556884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Components of image processing system.</a:t>
            </a:r>
            <a:endParaRPr b="1" i="0" sz="2400" u="none" cap="none" strike="noStrike">
              <a:solidFill>
                <a:srgbClr val="FFC000"/>
              </a:solidFill>
              <a:latin typeface="Arial"/>
              <a:ea typeface="Arial"/>
              <a:cs typeface="Arial"/>
              <a:sym typeface="Arial"/>
            </a:endParaRPr>
          </a:p>
        </p:txBody>
      </p:sp>
      <p:pic>
        <p:nvPicPr>
          <p:cNvPr id="242" name="Google Shape;242;p20"/>
          <p:cNvPicPr preferRelativeResize="0"/>
          <p:nvPr/>
        </p:nvPicPr>
        <p:blipFill rotWithShape="1">
          <a:blip r:embed="rId3">
            <a:alphaModFix/>
          </a:blip>
          <a:srcRect b="0" l="0" r="0" t="0"/>
          <a:stretch/>
        </p:blipFill>
        <p:spPr>
          <a:xfrm>
            <a:off x="309327" y="734518"/>
            <a:ext cx="8414947" cy="4300542"/>
          </a:xfrm>
          <a:prstGeom prst="rect">
            <a:avLst/>
          </a:prstGeom>
          <a:noFill/>
          <a:ln>
            <a:noFill/>
          </a:ln>
        </p:spPr>
      </p:pic>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1"/>
          <p:cNvSpPr txBox="1"/>
          <p:nvPr/>
        </p:nvSpPr>
        <p:spPr>
          <a:xfrm>
            <a:off x="86193" y="100945"/>
            <a:ext cx="8971613" cy="48936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Image Sensors: </a:t>
            </a:r>
            <a:r>
              <a:rPr b="1" i="0" lang="en-US" sz="2000" u="none" cap="none" strike="noStrike">
                <a:solidFill>
                  <a:schemeClr val="lt1"/>
                </a:solidFill>
                <a:latin typeface="Times New Roman"/>
                <a:ea typeface="Times New Roman"/>
                <a:cs typeface="Times New Roman"/>
                <a:sym typeface="Times New Roman"/>
              </a:rPr>
              <a:t>Two elements are required to acquire digital images,the first is a physical device that is sensitive to the energy radiated by the object we wish to image. The second is a digitizer, which is a device for converting the output of the physical sensing device into digital form.</a:t>
            </a:r>
            <a:endParaRPr/>
          </a:p>
          <a:p>
            <a:pPr indent="0" lvl="0" marL="0" marR="0" rtl="0" algn="l">
              <a:lnSpc>
                <a:spcPct val="100000"/>
              </a:lnSpc>
              <a:spcBef>
                <a:spcPts val="0"/>
              </a:spcBef>
              <a:spcAft>
                <a:spcPts val="0"/>
              </a:spcAft>
              <a:buNone/>
            </a:pPr>
            <a:r>
              <a:t/>
            </a:r>
            <a:endParaRPr b="1"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Specialized Image Processing Hardware: </a:t>
            </a:r>
            <a:r>
              <a:rPr b="1" i="0" lang="en-US" sz="2000" u="none" cap="none" strike="noStrike">
                <a:solidFill>
                  <a:schemeClr val="lt1"/>
                </a:solidFill>
                <a:latin typeface="Times New Roman"/>
                <a:ea typeface="Times New Roman"/>
                <a:cs typeface="Times New Roman"/>
                <a:sym typeface="Times New Roman"/>
              </a:rPr>
              <a:t>Consists of the digitizer plus hardware that performs other primitive operations, such as an ALU that performs parallel arithmetic and logic operations on entire images.</a:t>
            </a:r>
            <a:endParaRPr/>
          </a:p>
          <a:p>
            <a:pPr indent="0" lvl="0" marL="0" marR="0" rtl="0" algn="l">
              <a:lnSpc>
                <a:spcPct val="100000"/>
              </a:lnSpc>
              <a:spcBef>
                <a:spcPts val="0"/>
              </a:spcBef>
              <a:spcAft>
                <a:spcPts val="0"/>
              </a:spcAft>
              <a:buNone/>
            </a:pPr>
            <a:r>
              <a:t/>
            </a:r>
            <a:endParaRPr b="1"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Computer:</a:t>
            </a:r>
            <a:br>
              <a:rPr b="0" i="0" lang="en-US" sz="2000" u="none" cap="none" strike="noStrike">
                <a:solidFill>
                  <a:schemeClr val="lt1"/>
                </a:solidFill>
                <a:latin typeface="Times New Roman"/>
                <a:ea typeface="Times New Roman"/>
                <a:cs typeface="Times New Roman"/>
                <a:sym typeface="Times New Roman"/>
              </a:rPr>
            </a:br>
            <a:r>
              <a:rPr b="1" i="0" lang="en-US" sz="2000" u="none" cap="none" strike="noStrike">
                <a:solidFill>
                  <a:schemeClr val="lt1"/>
                </a:solidFill>
                <a:latin typeface="Times New Roman"/>
                <a:ea typeface="Times New Roman"/>
                <a:cs typeface="Times New Roman"/>
                <a:sym typeface="Times New Roman"/>
              </a:rPr>
              <a:t>The computer used in the image processing system is the general-purpose computer that is used by us in our daily life. It can range from a PC to a supercomputer. Sometimes custom computers are used to achieve a required level of performance.</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2"/>
          <p:cNvSpPr txBox="1"/>
          <p:nvPr/>
        </p:nvSpPr>
        <p:spPr>
          <a:xfrm>
            <a:off x="0" y="112426"/>
            <a:ext cx="9046564" cy="42165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Image Processing Software:</a:t>
            </a:r>
            <a:br>
              <a:rPr b="0" i="0" lang="en-US" sz="2000" u="none" cap="none" strike="noStrike">
                <a:solidFill>
                  <a:schemeClr val="lt1"/>
                </a:solidFill>
                <a:latin typeface="Times New Roman"/>
                <a:ea typeface="Times New Roman"/>
                <a:cs typeface="Times New Roman"/>
                <a:sym typeface="Times New Roman"/>
              </a:rPr>
            </a:br>
            <a:r>
              <a:rPr b="0" i="0" lang="en-US" sz="2000" u="none" cap="none" strike="noStrike">
                <a:solidFill>
                  <a:schemeClr val="lt1"/>
                </a:solidFill>
                <a:latin typeface="Times New Roman"/>
                <a:ea typeface="Times New Roman"/>
                <a:cs typeface="Times New Roman"/>
                <a:sym typeface="Times New Roman"/>
              </a:rPr>
              <a:t>Image processing software is software that includes all the mechanisms and algorithms that are used in the image processing system.</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Mass Storage:</a:t>
            </a:r>
            <a:br>
              <a:rPr b="0" i="0" lang="en-US" sz="2000" u="none" cap="none" strike="noStrike">
                <a:solidFill>
                  <a:schemeClr val="lt1"/>
                </a:solidFill>
                <a:latin typeface="Times New Roman"/>
                <a:ea typeface="Times New Roman"/>
                <a:cs typeface="Times New Roman"/>
                <a:sym typeface="Times New Roman"/>
              </a:rPr>
            </a:br>
            <a:r>
              <a:rPr b="0" i="0" lang="en-US" sz="2000" u="none" cap="none" strike="noStrike">
                <a:solidFill>
                  <a:schemeClr val="lt1"/>
                </a:solidFill>
                <a:latin typeface="Times New Roman"/>
                <a:ea typeface="Times New Roman"/>
                <a:cs typeface="Times New Roman"/>
                <a:sym typeface="Times New Roman"/>
              </a:rPr>
              <a:t>Mass storage stores the pixels of the images during the processing. An image of size 1024 x 1024 pixels, in which the intensity of each pixel is an 8-bit quantity, requires    1 MB of storage space if the image is not compressed. Providing adequate storage in an image processing system can be a challenge. </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Digital storage for image processing applications falls into three principal categories :</a:t>
            </a:r>
            <a:endParaRPr/>
          </a:p>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1)Short-term storage for use during processing </a:t>
            </a:r>
            <a:endParaRPr/>
          </a:p>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2) Online storage for relatively fast recall</a:t>
            </a:r>
            <a:endParaRPr/>
          </a:p>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3)Archival storage for infrequent access.</a:t>
            </a:r>
            <a:endParaRPr/>
          </a:p>
        </p:txBody>
      </p:sp>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3"/>
          <p:cNvSpPr txBox="1"/>
          <p:nvPr/>
        </p:nvSpPr>
        <p:spPr>
          <a:xfrm>
            <a:off x="0" y="93450"/>
            <a:ext cx="8911652" cy="40318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Image Display: </a:t>
            </a:r>
            <a:r>
              <a:rPr b="1" i="0" lang="en-US" sz="2000" u="none" cap="none" strike="noStrike">
                <a:solidFill>
                  <a:schemeClr val="lt1"/>
                </a:solidFill>
                <a:latin typeface="Times New Roman"/>
                <a:ea typeface="Times New Roman"/>
                <a:cs typeface="Times New Roman"/>
                <a:sym typeface="Times New Roman"/>
              </a:rPr>
              <a:t>mainly color TV monitors, in some cases, there are stereo displays and these are implemented in the form of headgear containing two small displays embedded in goggles worn by the user.  </a:t>
            </a:r>
            <a:endParaRPr/>
          </a:p>
          <a:p>
            <a:pPr indent="0" lvl="0" marL="0" marR="0" rtl="0" algn="l">
              <a:lnSpc>
                <a:spcPct val="100000"/>
              </a:lnSpc>
              <a:spcBef>
                <a:spcPts val="0"/>
              </a:spcBef>
              <a:spcAft>
                <a:spcPts val="0"/>
              </a:spcAft>
              <a:buNone/>
            </a:pPr>
            <a:r>
              <a:t/>
            </a:r>
            <a:endParaRPr b="1"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Hard Copy Device:</a:t>
            </a:r>
            <a:br>
              <a:rPr b="0" i="0" lang="en-US" sz="2400" u="none" cap="none" strike="noStrike">
                <a:solidFill>
                  <a:schemeClr val="lt1"/>
                </a:solidFill>
                <a:latin typeface="Times New Roman"/>
                <a:ea typeface="Times New Roman"/>
                <a:cs typeface="Times New Roman"/>
                <a:sym typeface="Times New Roman"/>
              </a:rPr>
            </a:br>
            <a:r>
              <a:rPr b="1" i="0" lang="en-US" sz="2000" u="none" cap="none" strike="noStrike">
                <a:solidFill>
                  <a:schemeClr val="lt1"/>
                </a:solidFill>
                <a:latin typeface="Times New Roman"/>
                <a:ea typeface="Times New Roman"/>
                <a:cs typeface="Times New Roman"/>
                <a:sym typeface="Times New Roman"/>
              </a:rPr>
              <a:t>Once the image is processed then it is stored in the hard copy device. It can be a pen drive or any external ROM device.</a:t>
            </a:r>
            <a:endParaRPr/>
          </a:p>
          <a:p>
            <a:pPr indent="0" lvl="0" marL="0" marR="0" rtl="0" algn="l">
              <a:lnSpc>
                <a:spcPct val="100000"/>
              </a:lnSpc>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Use laser printers, film cameras, and optical and CD ROM disks.</a:t>
            </a:r>
            <a:endParaRPr/>
          </a:p>
          <a:p>
            <a:pPr indent="0" lvl="0" marL="0" marR="0" rtl="0" algn="l">
              <a:lnSpc>
                <a:spcPct val="100000"/>
              </a:lnSpc>
              <a:spcBef>
                <a:spcPts val="0"/>
              </a:spcBef>
              <a:spcAft>
                <a:spcPts val="0"/>
              </a:spcAft>
              <a:buNone/>
            </a:pPr>
            <a:r>
              <a:t/>
            </a:r>
            <a:endParaRPr b="1"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800" u="none" cap="none" strike="noStrike">
                <a:solidFill>
                  <a:srgbClr val="FFC000"/>
                </a:solidFill>
                <a:latin typeface="Times New Roman"/>
                <a:ea typeface="Times New Roman"/>
                <a:cs typeface="Times New Roman"/>
                <a:sym typeface="Times New Roman"/>
              </a:rPr>
              <a:t>Network:</a:t>
            </a:r>
            <a:endParaRPr b="1" i="0" sz="2000" u="none" cap="none" strike="noStrike">
              <a:solidFill>
                <a:srgbClr val="FFC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Because of the large amount of data inherent in image processing applications, the key consideration in image transmission is bandwidth.</a:t>
            </a:r>
            <a:endParaRPr/>
          </a:p>
        </p:txBody>
      </p:sp>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4"/>
          <p:cNvSpPr txBox="1"/>
          <p:nvPr/>
        </p:nvSpPr>
        <p:spPr>
          <a:xfrm>
            <a:off x="0" y="0"/>
            <a:ext cx="4572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Coordinate conventions. </a:t>
            </a:r>
            <a:endParaRPr b="1" i="0" sz="2400" u="none" cap="none" strike="noStrike">
              <a:solidFill>
                <a:srgbClr val="FFC000"/>
              </a:solidFill>
              <a:latin typeface="Arial"/>
              <a:ea typeface="Arial"/>
              <a:cs typeface="Arial"/>
              <a:sym typeface="Arial"/>
            </a:endParaRPr>
          </a:p>
        </p:txBody>
      </p:sp>
      <p:sp>
        <p:nvSpPr>
          <p:cNvPr id="263" name="Google Shape;263;p24"/>
          <p:cNvSpPr txBox="1"/>
          <p:nvPr/>
        </p:nvSpPr>
        <p:spPr>
          <a:xfrm>
            <a:off x="109615" y="461665"/>
            <a:ext cx="892477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size of the image is the number of rows by the number of columns </a:t>
            </a:r>
            <a:r>
              <a:rPr b="0" i="0" lang="en-US" sz="1800" u="none" cap="none" strike="noStrike">
                <a:solidFill>
                  <a:srgbClr val="FFC000"/>
                </a:solidFill>
                <a:latin typeface="Times New Roman"/>
                <a:ea typeface="Times New Roman"/>
                <a:cs typeface="Times New Roman"/>
                <a:sym typeface="Times New Roman"/>
              </a:rPr>
              <a:t>M x N </a:t>
            </a:r>
            <a:r>
              <a:rPr b="0" i="0" lang="en-US" sz="2000" u="none" cap="none" strike="noStrike">
                <a:solidFill>
                  <a:schemeClr val="lt1"/>
                </a:solidFill>
                <a:latin typeface="Times New Roman"/>
                <a:ea typeface="Times New Roman"/>
                <a:cs typeface="Times New Roman"/>
                <a:sym typeface="Times New Roman"/>
              </a:rPr>
              <a:t>.</a:t>
            </a:r>
            <a:endParaRPr b="0" i="0" sz="2000" u="none" cap="none" strike="noStrike">
              <a:solidFill>
                <a:schemeClr val="lt1"/>
              </a:solidFill>
              <a:latin typeface="Times New Roman"/>
              <a:ea typeface="Times New Roman"/>
              <a:cs typeface="Times New Roman"/>
              <a:sym typeface="Times New Roman"/>
            </a:endParaRPr>
          </a:p>
        </p:txBody>
      </p:sp>
      <p:pic>
        <p:nvPicPr>
          <p:cNvPr id="264" name="Google Shape;264;p24"/>
          <p:cNvPicPr preferRelativeResize="0"/>
          <p:nvPr/>
        </p:nvPicPr>
        <p:blipFill rotWithShape="1">
          <a:blip r:embed="rId3">
            <a:alphaModFix/>
          </a:blip>
          <a:srcRect b="0" l="0" r="0" t="0"/>
          <a:stretch/>
        </p:blipFill>
        <p:spPr>
          <a:xfrm>
            <a:off x="5112191" y="1901160"/>
            <a:ext cx="3922193" cy="3158020"/>
          </a:xfrm>
          <a:prstGeom prst="rect">
            <a:avLst/>
          </a:prstGeom>
          <a:noFill/>
          <a:ln>
            <a:noFill/>
          </a:ln>
        </p:spPr>
      </p:pic>
      <p:pic>
        <p:nvPicPr>
          <p:cNvPr descr="What is meant by Digital Image Processing? Explain how digital images can  be represented? - Bench Partner" id="265" name="Google Shape;265;p24"/>
          <p:cNvPicPr preferRelativeResize="0"/>
          <p:nvPr/>
        </p:nvPicPr>
        <p:blipFill rotWithShape="1">
          <a:blip r:embed="rId4">
            <a:alphaModFix/>
          </a:blip>
          <a:srcRect b="0" l="0" r="0" t="0"/>
          <a:stretch/>
        </p:blipFill>
        <p:spPr>
          <a:xfrm>
            <a:off x="109615" y="1955629"/>
            <a:ext cx="4572546" cy="3103551"/>
          </a:xfrm>
          <a:prstGeom prst="rect">
            <a:avLst/>
          </a:prstGeom>
          <a:noFill/>
          <a:ln>
            <a:noFill/>
          </a:ln>
        </p:spPr>
      </p:pic>
      <p:pic>
        <p:nvPicPr>
          <p:cNvPr id="266" name="Google Shape;266;p24"/>
          <p:cNvPicPr preferRelativeResize="0"/>
          <p:nvPr/>
        </p:nvPicPr>
        <p:blipFill rotWithShape="1">
          <a:blip r:embed="rId5">
            <a:alphaModFix/>
          </a:blip>
          <a:srcRect b="0" l="0" r="0" t="0"/>
          <a:stretch/>
        </p:blipFill>
        <p:spPr>
          <a:xfrm>
            <a:off x="182300" y="861953"/>
            <a:ext cx="7420131" cy="722883"/>
          </a:xfrm>
          <a:prstGeom prst="rect">
            <a:avLst/>
          </a:prstGeom>
          <a:noFill/>
          <a:ln>
            <a:noFill/>
          </a:ln>
        </p:spPr>
      </p:pic>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5"/>
          <p:cNvSpPr txBox="1"/>
          <p:nvPr/>
        </p:nvSpPr>
        <p:spPr>
          <a:xfrm>
            <a:off x="0" y="70964"/>
            <a:ext cx="4572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FFC000"/>
                </a:solidFill>
                <a:latin typeface="Times New Roman"/>
                <a:ea typeface="Times New Roman"/>
                <a:cs typeface="Times New Roman"/>
                <a:sym typeface="Times New Roman"/>
              </a:rPr>
              <a:t>Sampling and quantization</a:t>
            </a:r>
            <a:endParaRPr b="1" i="0" sz="2800" u="none" cap="none" strike="noStrike">
              <a:solidFill>
                <a:srgbClr val="FFC000"/>
              </a:solidFill>
              <a:latin typeface="Arial"/>
              <a:ea typeface="Arial"/>
              <a:cs typeface="Arial"/>
              <a:sym typeface="Arial"/>
            </a:endParaRPr>
          </a:p>
        </p:txBody>
      </p:sp>
      <p:sp>
        <p:nvSpPr>
          <p:cNvPr id="272" name="Google Shape;272;p25"/>
          <p:cNvSpPr txBox="1"/>
          <p:nvPr/>
        </p:nvSpPr>
        <p:spPr>
          <a:xfrm>
            <a:off x="151776" y="883383"/>
            <a:ext cx="8992224" cy="37240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Conversion of analog signal to digital signal:</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output of most of the image sensors is an </a:t>
            </a:r>
            <a:r>
              <a:rPr b="1" i="0" lang="en-US" sz="2000" u="none" cap="none" strike="noStrike">
                <a:solidFill>
                  <a:srgbClr val="FF0000"/>
                </a:solidFill>
                <a:latin typeface="Times New Roman"/>
                <a:ea typeface="Times New Roman"/>
                <a:cs typeface="Times New Roman"/>
                <a:sym typeface="Times New Roman"/>
              </a:rPr>
              <a:t>analog signal</a:t>
            </a:r>
            <a:r>
              <a:rPr b="0" i="0" lang="en-US" sz="2000" u="none" cap="none" strike="noStrike">
                <a:solidFill>
                  <a:schemeClr val="lt1"/>
                </a:solidFill>
                <a:latin typeface="Times New Roman"/>
                <a:ea typeface="Times New Roman"/>
                <a:cs typeface="Times New Roman"/>
                <a:sym typeface="Times New Roman"/>
              </a:rPr>
              <a:t>, and we can not apply digital processing to it because </a:t>
            </a:r>
            <a:r>
              <a:rPr b="1" i="0" lang="en-US" sz="2000" u="none" cap="none" strike="noStrike">
                <a:solidFill>
                  <a:srgbClr val="FF0000"/>
                </a:solidFill>
                <a:latin typeface="Times New Roman"/>
                <a:ea typeface="Times New Roman"/>
                <a:cs typeface="Times New Roman"/>
                <a:sym typeface="Times New Roman"/>
              </a:rPr>
              <a:t>we can not store it</a:t>
            </a:r>
            <a:r>
              <a:rPr b="0" i="0" lang="en-US" sz="2000" u="none" cap="none" strike="noStrike">
                <a:solidFill>
                  <a:schemeClr val="lt1"/>
                </a:solidFill>
                <a:latin typeface="Times New Roman"/>
                <a:ea typeface="Times New Roman"/>
                <a:cs typeface="Times New Roman"/>
                <a:sym typeface="Times New Roman"/>
              </a:rPr>
              <a:t>. We can not store it because it </a:t>
            </a:r>
            <a:r>
              <a:rPr b="1" i="0" lang="en-US" sz="2000" u="none" cap="none" strike="noStrike">
                <a:solidFill>
                  <a:srgbClr val="FF0000"/>
                </a:solidFill>
                <a:latin typeface="Times New Roman"/>
                <a:ea typeface="Times New Roman"/>
                <a:cs typeface="Times New Roman"/>
                <a:sym typeface="Times New Roman"/>
              </a:rPr>
              <a:t>requires infinite memory to store </a:t>
            </a:r>
            <a:r>
              <a:rPr b="0" i="0" lang="en-US" sz="2000" u="none" cap="none" strike="noStrike">
                <a:solidFill>
                  <a:schemeClr val="lt1"/>
                </a:solidFill>
                <a:latin typeface="Times New Roman"/>
                <a:ea typeface="Times New Roman"/>
                <a:cs typeface="Times New Roman"/>
                <a:sym typeface="Times New Roman"/>
              </a:rPr>
              <a:t>a signal that can have infinite values.</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So we have to </a:t>
            </a:r>
            <a:r>
              <a:rPr b="1" i="0" lang="en-US" sz="2000" u="none" cap="none" strike="noStrike">
                <a:solidFill>
                  <a:srgbClr val="FF0000"/>
                </a:solidFill>
                <a:latin typeface="Times New Roman"/>
                <a:ea typeface="Times New Roman"/>
                <a:cs typeface="Times New Roman"/>
                <a:sym typeface="Times New Roman"/>
              </a:rPr>
              <a:t>convert an analog signal into a digital signal .</a:t>
            </a:r>
            <a:endParaRPr/>
          </a:p>
          <a:p>
            <a:pPr indent="0" lvl="0" marL="0" marR="0" rtl="0" algn="just">
              <a:lnSpc>
                <a:spcPct val="100000"/>
              </a:lnSpc>
              <a:spcBef>
                <a:spcPts val="0"/>
              </a:spcBef>
              <a:spcAft>
                <a:spcPts val="0"/>
              </a:spcAft>
              <a:buNone/>
            </a:pPr>
            <a:r>
              <a:t/>
            </a:r>
            <a:endParaRPr b="1" i="0" sz="2000" u="none" cap="none" strike="noStrike">
              <a:solidFill>
                <a:srgbClr val="FF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To create an image which is digital, we need to covert continuous data into digital form. There are </a:t>
            </a:r>
            <a:r>
              <a:rPr b="1" i="0" lang="en-US" sz="2400" u="none" cap="none" strike="noStrike">
                <a:solidFill>
                  <a:srgbClr val="FF0000"/>
                </a:solidFill>
                <a:latin typeface="Times New Roman"/>
                <a:ea typeface="Times New Roman"/>
                <a:cs typeface="Times New Roman"/>
                <a:sym typeface="Times New Roman"/>
              </a:rPr>
              <a:t>two steps</a:t>
            </a:r>
            <a:r>
              <a:rPr b="0" i="0" lang="en-US" sz="2400" u="none" cap="none" strike="noStrike">
                <a:solidFill>
                  <a:schemeClr val="lt1"/>
                </a:solidFill>
                <a:latin typeface="Times New Roman"/>
                <a:ea typeface="Times New Roman"/>
                <a:cs typeface="Times New Roman"/>
                <a:sym typeface="Times New Roman"/>
              </a:rPr>
              <a:t> in which it is done.</a:t>
            </a:r>
            <a:endParaRPr/>
          </a:p>
          <a:p>
            <a:pPr indent="-152400" lvl="0" marL="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FFC000"/>
                </a:solidFill>
                <a:latin typeface="Times New Roman"/>
                <a:ea typeface="Times New Roman"/>
                <a:cs typeface="Times New Roman"/>
                <a:sym typeface="Times New Roman"/>
              </a:rPr>
              <a:t>Sampling</a:t>
            </a:r>
            <a:endParaRPr/>
          </a:p>
          <a:p>
            <a:pPr indent="-152400" lvl="0" marL="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FFC000"/>
                </a:solidFill>
                <a:latin typeface="Times New Roman"/>
                <a:ea typeface="Times New Roman"/>
                <a:cs typeface="Times New Roman"/>
                <a:sym typeface="Times New Roman"/>
              </a:rPr>
              <a:t>Quantization</a:t>
            </a:r>
            <a:endParaRPr/>
          </a:p>
          <a:p>
            <a:pPr indent="0" lvl="0" marL="0" marR="0" rtl="0" algn="just">
              <a:lnSpc>
                <a:spcPct val="100000"/>
              </a:lnSpc>
              <a:spcBef>
                <a:spcPts val="0"/>
              </a:spcBef>
              <a:spcAft>
                <a:spcPts val="0"/>
              </a:spcAft>
              <a:buNone/>
            </a:pPr>
            <a:r>
              <a:t/>
            </a:r>
            <a:endParaRPr b="1" i="0" sz="2000" u="none" cap="none" strike="noStrike">
              <a:solidFill>
                <a:srgbClr val="FF0000"/>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26"/>
          <p:cNvPicPr preferRelativeResize="0"/>
          <p:nvPr/>
        </p:nvPicPr>
        <p:blipFill rotWithShape="1">
          <a:blip r:embed="rId3">
            <a:alphaModFix/>
          </a:blip>
          <a:srcRect b="0" l="0" r="0" t="0"/>
          <a:stretch/>
        </p:blipFill>
        <p:spPr>
          <a:xfrm>
            <a:off x="262326" y="1241218"/>
            <a:ext cx="6886575" cy="1966677"/>
          </a:xfrm>
          <a:prstGeom prst="rect">
            <a:avLst/>
          </a:prstGeom>
          <a:noFill/>
          <a:ln>
            <a:noFill/>
          </a:ln>
        </p:spPr>
      </p:pic>
      <p:sp>
        <p:nvSpPr>
          <p:cNvPr id="278" name="Google Shape;278;p26"/>
          <p:cNvSpPr txBox="1"/>
          <p:nvPr/>
        </p:nvSpPr>
        <p:spPr>
          <a:xfrm>
            <a:off x="352268" y="359764"/>
            <a:ext cx="722525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Basic Idea :Converting an analog signal to digital form </a:t>
            </a:r>
            <a:endParaRPr/>
          </a:p>
        </p:txBody>
      </p:sp>
      <p:sp>
        <p:nvSpPr>
          <p:cNvPr id="279" name="Google Shape;279;p26"/>
          <p:cNvSpPr txBox="1"/>
          <p:nvPr/>
        </p:nvSpPr>
        <p:spPr>
          <a:xfrm>
            <a:off x="149902" y="3427629"/>
            <a:ext cx="832703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convert both of its axis (x,y) into a digital format.</a:t>
            </a:r>
            <a:endParaRPr b="0" i="0" sz="20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7"/>
          <p:cNvSpPr txBox="1"/>
          <p:nvPr/>
        </p:nvSpPr>
        <p:spPr>
          <a:xfrm>
            <a:off x="0" y="284117"/>
            <a:ext cx="314044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Sampling</a:t>
            </a:r>
            <a:r>
              <a:rPr b="0" i="0" lang="en-US" sz="2400" u="none" cap="none" strike="noStrike">
                <a:solidFill>
                  <a:srgbClr val="000000"/>
                </a:solidFill>
                <a:latin typeface="Times New Roman"/>
                <a:ea typeface="Times New Roman"/>
                <a:cs typeface="Times New Roman"/>
                <a:sym typeface="Times New Roman"/>
              </a:rPr>
              <a:t> </a:t>
            </a:r>
            <a:endParaRPr/>
          </a:p>
        </p:txBody>
      </p:sp>
      <p:sp>
        <p:nvSpPr>
          <p:cNvPr id="285" name="Google Shape;285;p27"/>
          <p:cNvSpPr txBox="1"/>
          <p:nvPr/>
        </p:nvSpPr>
        <p:spPr>
          <a:xfrm>
            <a:off x="0" y="974481"/>
            <a:ext cx="4572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FF0000"/>
                </a:solidFill>
                <a:latin typeface="Times New Roman"/>
                <a:ea typeface="Times New Roman"/>
                <a:cs typeface="Times New Roman"/>
                <a:sym typeface="Times New Roman"/>
              </a:rPr>
              <a:t>Digitize x-axis in the sampling</a:t>
            </a:r>
            <a:endParaRPr b="0" i="0" sz="2400" u="none" cap="none" strike="noStrike">
              <a:solidFill>
                <a:srgbClr val="FF0000"/>
              </a:solidFill>
              <a:latin typeface="Times New Roman"/>
              <a:ea typeface="Times New Roman"/>
              <a:cs typeface="Times New Roman"/>
              <a:sym typeface="Times New Roman"/>
            </a:endParaRPr>
          </a:p>
        </p:txBody>
      </p:sp>
      <p:sp>
        <p:nvSpPr>
          <p:cNvPr id="286" name="Google Shape;286;p27"/>
          <p:cNvSpPr txBox="1"/>
          <p:nvPr/>
        </p:nvSpPr>
        <p:spPr>
          <a:xfrm>
            <a:off x="-116174" y="1536792"/>
            <a:ext cx="6798039" cy="7078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It is done on the independent variable.</a:t>
            </a:r>
            <a:endParaRPr/>
          </a:p>
          <a:p>
            <a:pPr indent="0" lvl="0" marL="0" marR="0" rtl="0" algn="just">
              <a:lnSpc>
                <a:spcPct val="100000"/>
              </a:lnSpc>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In case of equation y = sin(x), it is done on x variable</a:t>
            </a:r>
            <a:endParaRPr/>
          </a:p>
        </p:txBody>
      </p:sp>
      <p:pic>
        <p:nvPicPr>
          <p:cNvPr descr="sampling" id="287" name="Google Shape;287;p27"/>
          <p:cNvPicPr preferRelativeResize="0"/>
          <p:nvPr/>
        </p:nvPicPr>
        <p:blipFill rotWithShape="1">
          <a:blip r:embed="rId3">
            <a:alphaModFix/>
          </a:blip>
          <a:srcRect b="0" l="0" r="0" t="0"/>
          <a:stretch/>
        </p:blipFill>
        <p:spPr>
          <a:xfrm>
            <a:off x="5546361" y="83925"/>
            <a:ext cx="3597639" cy="2389452"/>
          </a:xfrm>
          <a:prstGeom prst="rect">
            <a:avLst/>
          </a:prstGeom>
          <a:noFill/>
          <a:ln>
            <a:noFill/>
          </a:ln>
        </p:spPr>
      </p:pic>
      <p:pic>
        <p:nvPicPr>
          <p:cNvPr id="288" name="Google Shape;288;p27"/>
          <p:cNvPicPr preferRelativeResize="0"/>
          <p:nvPr/>
        </p:nvPicPr>
        <p:blipFill rotWithShape="1">
          <a:blip r:embed="rId4">
            <a:alphaModFix/>
          </a:blip>
          <a:srcRect b="0" l="0" r="0" t="0"/>
          <a:stretch/>
        </p:blipFill>
        <p:spPr>
          <a:xfrm>
            <a:off x="142406" y="2571750"/>
            <a:ext cx="7008604" cy="2244677"/>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8"/>
          <p:cNvSpPr txBox="1"/>
          <p:nvPr/>
        </p:nvSpPr>
        <p:spPr>
          <a:xfrm>
            <a:off x="59961" y="175896"/>
            <a:ext cx="4572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Quantization</a:t>
            </a:r>
            <a:endParaRPr/>
          </a:p>
        </p:txBody>
      </p:sp>
      <p:sp>
        <p:nvSpPr>
          <p:cNvPr id="294" name="Google Shape;294;p28"/>
          <p:cNvSpPr txBox="1"/>
          <p:nvPr/>
        </p:nvSpPr>
        <p:spPr>
          <a:xfrm>
            <a:off x="0" y="708304"/>
            <a:ext cx="894163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Quantization is the opposite of sampling. It is done on y-axis. When you are quantizing an image, you are actually dividing a signal into quanta(partitions).</a:t>
            </a:r>
            <a:endParaRPr b="0" i="0" sz="2000" u="none" cap="none" strike="noStrike">
              <a:solidFill>
                <a:schemeClr val="lt1"/>
              </a:solidFill>
              <a:latin typeface="Times New Roman"/>
              <a:ea typeface="Times New Roman"/>
              <a:cs typeface="Times New Roman"/>
              <a:sym typeface="Times New Roman"/>
            </a:endParaRPr>
          </a:p>
        </p:txBody>
      </p:sp>
      <p:sp>
        <p:nvSpPr>
          <p:cNvPr id="295" name="Google Shape;295;p28"/>
          <p:cNvSpPr txBox="1"/>
          <p:nvPr/>
        </p:nvSpPr>
        <p:spPr>
          <a:xfrm>
            <a:off x="99310" y="1569475"/>
            <a:ext cx="88423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On the x-axis of the signal, are the coordinate values, and on the y axis, we have amplitudes. So </a:t>
            </a:r>
            <a:r>
              <a:rPr b="1" i="0" lang="en-US" sz="2000" u="none" cap="none" strike="noStrike">
                <a:solidFill>
                  <a:srgbClr val="FFC000"/>
                </a:solidFill>
                <a:latin typeface="Times New Roman"/>
                <a:ea typeface="Times New Roman"/>
                <a:cs typeface="Times New Roman"/>
                <a:sym typeface="Times New Roman"/>
              </a:rPr>
              <a:t>digitizing the amplitudes is known as Quantization.</a:t>
            </a:r>
            <a:endParaRPr b="1" i="0" sz="2000" u="none" cap="none" strike="noStrike">
              <a:solidFill>
                <a:srgbClr val="FFC000"/>
              </a:solidFill>
              <a:latin typeface="Times New Roman"/>
              <a:ea typeface="Times New Roman"/>
              <a:cs typeface="Times New Roman"/>
              <a:sym typeface="Times New Roman"/>
            </a:endParaRPr>
          </a:p>
        </p:txBody>
      </p:sp>
      <p:pic>
        <p:nvPicPr>
          <p:cNvPr id="296" name="Google Shape;296;p28"/>
          <p:cNvPicPr preferRelativeResize="0"/>
          <p:nvPr/>
        </p:nvPicPr>
        <p:blipFill rotWithShape="1">
          <a:blip r:embed="rId3">
            <a:alphaModFix/>
          </a:blip>
          <a:srcRect b="0" l="0" r="0" t="0"/>
          <a:stretch/>
        </p:blipFill>
        <p:spPr>
          <a:xfrm>
            <a:off x="99311" y="2902705"/>
            <a:ext cx="3023598" cy="2240795"/>
          </a:xfrm>
          <a:prstGeom prst="rect">
            <a:avLst/>
          </a:prstGeom>
          <a:noFill/>
          <a:ln>
            <a:noFill/>
          </a:ln>
        </p:spPr>
      </p:pic>
      <p:sp>
        <p:nvSpPr>
          <p:cNvPr id="297" name="Google Shape;297;p28"/>
          <p:cNvSpPr txBox="1"/>
          <p:nvPr/>
        </p:nvSpPr>
        <p:spPr>
          <a:xfrm>
            <a:off x="2733257" y="2502595"/>
            <a:ext cx="865494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 </a:t>
            </a:r>
            <a:r>
              <a:rPr b="0" i="0" lang="en-US" sz="2000" u="none" cap="none" strike="noStrike">
                <a:solidFill>
                  <a:schemeClr val="lt1"/>
                </a:solidFill>
                <a:latin typeface="Times New Roman"/>
                <a:ea typeface="Times New Roman"/>
                <a:cs typeface="Times New Roman"/>
                <a:sym typeface="Times New Roman"/>
              </a:rPr>
              <a:t>The signal has been quantified into three different levels</a:t>
            </a:r>
            <a:r>
              <a:rPr b="0" i="0" lang="en-US" sz="1400" u="none" cap="none" strike="noStrike">
                <a:solidFill>
                  <a:srgbClr val="000000"/>
                </a:solidFill>
                <a:latin typeface="Nunito"/>
                <a:ea typeface="Nunito"/>
                <a:cs typeface="Nunito"/>
                <a:sym typeface="Nunito"/>
              </a:rPr>
              <a:t>.</a:t>
            </a:r>
            <a:endParaRPr b="0" i="0" sz="1400" u="none" cap="none" strike="noStrike">
              <a:solidFill>
                <a:srgbClr val="000000"/>
              </a:solidFill>
              <a:latin typeface="Arial"/>
              <a:ea typeface="Arial"/>
              <a:cs typeface="Arial"/>
              <a:sym typeface="Aria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9"/>
          <p:cNvSpPr txBox="1"/>
          <p:nvPr/>
        </p:nvSpPr>
        <p:spPr>
          <a:xfrm>
            <a:off x="135736" y="3713963"/>
            <a:ext cx="9349353"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when we sample an image, we actually gather a lot of values along x-axis , and in quantization, we set different intensity levels to these x-sample values.</a:t>
            </a:r>
            <a:endParaRPr b="1" i="0" sz="2400" u="none" cap="none" strike="noStrike">
              <a:solidFill>
                <a:srgbClr val="FFC000"/>
              </a:solidFill>
              <a:latin typeface="Times New Roman"/>
              <a:ea typeface="Times New Roman"/>
              <a:cs typeface="Times New Roman"/>
              <a:sym typeface="Times New Roman"/>
            </a:endParaRPr>
          </a:p>
        </p:txBody>
      </p:sp>
      <p:pic>
        <p:nvPicPr>
          <p:cNvPr id="303" name="Google Shape;303;p29"/>
          <p:cNvPicPr preferRelativeResize="0"/>
          <p:nvPr/>
        </p:nvPicPr>
        <p:blipFill rotWithShape="1">
          <a:blip r:embed="rId3">
            <a:alphaModFix/>
          </a:blip>
          <a:srcRect b="0" l="0" r="0" t="0"/>
          <a:stretch/>
        </p:blipFill>
        <p:spPr>
          <a:xfrm>
            <a:off x="0" y="99365"/>
            <a:ext cx="4294682" cy="2651329"/>
          </a:xfrm>
          <a:prstGeom prst="rect">
            <a:avLst/>
          </a:prstGeom>
          <a:noFill/>
          <a:ln>
            <a:noFill/>
          </a:ln>
        </p:spPr>
      </p:pic>
      <p:sp>
        <p:nvSpPr>
          <p:cNvPr id="304" name="Google Shape;304;p29"/>
          <p:cNvSpPr txBox="1"/>
          <p:nvPr/>
        </p:nvSpPr>
        <p:spPr>
          <a:xfrm>
            <a:off x="4572000" y="105357"/>
            <a:ext cx="473473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Signal has been quantized into 5 different levels or partitions. Ranging from 0 black to 4 white. </a:t>
            </a:r>
            <a:endParaRPr b="0" i="0" sz="1800" u="none" cap="none" strike="noStrike">
              <a:solidFill>
                <a:schemeClr val="lt1"/>
              </a:solidFill>
              <a:latin typeface="Times New Roman"/>
              <a:ea typeface="Times New Roman"/>
              <a:cs typeface="Times New Roman"/>
              <a:sym typeface="Times New Roman"/>
            </a:endParaRPr>
          </a:p>
        </p:txBody>
      </p:sp>
      <p:pic>
        <p:nvPicPr>
          <p:cNvPr id="305" name="Google Shape;305;p29"/>
          <p:cNvPicPr preferRelativeResize="0"/>
          <p:nvPr/>
        </p:nvPicPr>
        <p:blipFill rotWithShape="1">
          <a:blip r:embed="rId4">
            <a:alphaModFix/>
          </a:blip>
          <a:srcRect b="0" l="0" r="0" t="0"/>
          <a:stretch/>
        </p:blipFill>
        <p:spPr>
          <a:xfrm>
            <a:off x="4972050" y="751688"/>
            <a:ext cx="4171950" cy="2962275"/>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30"/>
          <p:cNvPicPr preferRelativeResize="0"/>
          <p:nvPr/>
        </p:nvPicPr>
        <p:blipFill rotWithShape="1">
          <a:blip r:embed="rId3">
            <a:alphaModFix/>
          </a:blip>
          <a:srcRect b="0" l="0" r="0" t="0"/>
          <a:stretch/>
        </p:blipFill>
        <p:spPr>
          <a:xfrm>
            <a:off x="115094" y="2000250"/>
            <a:ext cx="8420100" cy="1143000"/>
          </a:xfrm>
          <a:prstGeom prst="rect">
            <a:avLst/>
          </a:prstGeom>
          <a:noFill/>
          <a:ln>
            <a:noFill/>
          </a:ln>
        </p:spPr>
      </p:pic>
      <p:pic>
        <p:nvPicPr>
          <p:cNvPr id="311" name="Google Shape;311;p30"/>
          <p:cNvPicPr preferRelativeResize="0"/>
          <p:nvPr/>
        </p:nvPicPr>
        <p:blipFill rotWithShape="1">
          <a:blip r:embed="rId4">
            <a:alphaModFix/>
          </a:blip>
          <a:srcRect b="0" l="0" r="0" t="0"/>
          <a:stretch/>
        </p:blipFill>
        <p:spPr>
          <a:xfrm>
            <a:off x="384918" y="560411"/>
            <a:ext cx="6867525" cy="847725"/>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1"/>
          <p:cNvSpPr txBox="1"/>
          <p:nvPr/>
        </p:nvSpPr>
        <p:spPr>
          <a:xfrm>
            <a:off x="85114" y="206268"/>
            <a:ext cx="726006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Spatial and Gray Level Resolution</a:t>
            </a:r>
            <a:endParaRPr b="1" i="0" sz="2400" u="none" cap="none" strike="noStrike">
              <a:solidFill>
                <a:srgbClr val="FFC000"/>
              </a:solidFill>
              <a:latin typeface="Arial"/>
              <a:ea typeface="Arial"/>
              <a:cs typeface="Arial"/>
              <a:sym typeface="Arial"/>
            </a:endParaRPr>
          </a:p>
        </p:txBody>
      </p:sp>
      <p:sp>
        <p:nvSpPr>
          <p:cNvPr id="317" name="Google Shape;317;p31"/>
          <p:cNvSpPr txBox="1"/>
          <p:nvPr/>
        </p:nvSpPr>
        <p:spPr>
          <a:xfrm>
            <a:off x="85113" y="1009763"/>
            <a:ext cx="8691627"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Spatial resolution </a:t>
            </a:r>
            <a:r>
              <a:rPr b="0" i="0" lang="en-US" sz="2000" u="none" cap="none" strike="noStrike">
                <a:solidFill>
                  <a:schemeClr val="lt1"/>
                </a:solidFill>
                <a:latin typeface="Times New Roman"/>
                <a:ea typeface="Times New Roman"/>
                <a:cs typeface="Times New Roman"/>
                <a:sym typeface="Times New Roman"/>
              </a:rPr>
              <a:t>states that the clarity of an image cannot be determined by pixel resolution (number of pixels in an image).</a:t>
            </a:r>
            <a:endParaRPr b="0" i="0" sz="2000" u="none" cap="none" strike="noStrike">
              <a:solidFill>
                <a:schemeClr val="lt1"/>
              </a:solidFill>
              <a:latin typeface="Times New Roman"/>
              <a:ea typeface="Times New Roman"/>
              <a:cs typeface="Times New Roman"/>
              <a:sym typeface="Times New Roman"/>
            </a:endParaRPr>
          </a:p>
        </p:txBody>
      </p:sp>
      <p:sp>
        <p:nvSpPr>
          <p:cNvPr id="318" name="Google Shape;318;p31"/>
          <p:cNvSpPr txBox="1"/>
          <p:nvPr/>
        </p:nvSpPr>
        <p:spPr>
          <a:xfrm>
            <a:off x="-1" y="2042820"/>
            <a:ext cx="92039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Spatial resolution can be defined as the </a:t>
            </a:r>
            <a:r>
              <a:rPr b="1" i="0" lang="en-US" sz="2000" u="none" cap="none" strike="noStrike">
                <a:solidFill>
                  <a:srgbClr val="FF0000"/>
                </a:solidFill>
                <a:latin typeface="Times New Roman"/>
                <a:ea typeface="Times New Roman"/>
                <a:cs typeface="Times New Roman"/>
                <a:sym typeface="Times New Roman"/>
              </a:rPr>
              <a:t>number of independent pixels values per inch</a:t>
            </a:r>
            <a:r>
              <a:rPr b="0" i="0" lang="en-US" sz="2000" u="none" cap="none" strike="noStrike">
                <a:solidFill>
                  <a:schemeClr val="lt1"/>
                </a:solidFill>
                <a:latin typeface="Times New Roman"/>
                <a:ea typeface="Times New Roman"/>
                <a:cs typeface="Times New Roman"/>
                <a:sym typeface="Times New Roman"/>
              </a:rPr>
              <a:t>.</a:t>
            </a:r>
            <a:endParaRPr b="0" i="0" sz="20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32"/>
          <p:cNvPicPr preferRelativeResize="0"/>
          <p:nvPr/>
        </p:nvPicPr>
        <p:blipFill rotWithShape="1">
          <a:blip r:embed="rId3">
            <a:alphaModFix/>
          </a:blip>
          <a:srcRect b="0" l="0" r="0" t="0"/>
          <a:stretch/>
        </p:blipFill>
        <p:spPr>
          <a:xfrm>
            <a:off x="1" y="0"/>
            <a:ext cx="4377128" cy="4468943"/>
          </a:xfrm>
          <a:prstGeom prst="rect">
            <a:avLst/>
          </a:prstGeom>
          <a:noFill/>
          <a:ln>
            <a:noFill/>
          </a:ln>
        </p:spPr>
      </p:pic>
      <p:pic>
        <p:nvPicPr>
          <p:cNvPr id="324" name="Google Shape;324;p32"/>
          <p:cNvPicPr preferRelativeResize="0"/>
          <p:nvPr/>
        </p:nvPicPr>
        <p:blipFill rotWithShape="1">
          <a:blip r:embed="rId4">
            <a:alphaModFix/>
          </a:blip>
          <a:srcRect b="0" l="0" r="0" t="0"/>
          <a:stretch/>
        </p:blipFill>
        <p:spPr>
          <a:xfrm>
            <a:off x="6275888" y="-89941"/>
            <a:ext cx="2768171" cy="5143500"/>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33"/>
          <p:cNvPicPr preferRelativeResize="0"/>
          <p:nvPr/>
        </p:nvPicPr>
        <p:blipFill rotWithShape="1">
          <a:blip r:embed="rId3">
            <a:alphaModFix/>
          </a:blip>
          <a:srcRect b="0" l="0" r="0" t="0"/>
          <a:stretch/>
        </p:blipFill>
        <p:spPr>
          <a:xfrm>
            <a:off x="0" y="0"/>
            <a:ext cx="8734425" cy="3476625"/>
          </a:xfrm>
          <a:prstGeom prst="rect">
            <a:avLst/>
          </a:prstGeom>
          <a:noFill/>
          <a:ln>
            <a:noFill/>
          </a:ln>
        </p:spPr>
      </p:pic>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4"/>
          <p:cNvSpPr txBox="1"/>
          <p:nvPr/>
        </p:nvSpPr>
        <p:spPr>
          <a:xfrm>
            <a:off x="-1" y="234979"/>
            <a:ext cx="8971613"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Gray level resolution</a:t>
            </a:r>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Gray level resolution refers to the predictable or deterministic change in the shades or levels of gray in an image.</a:t>
            </a:r>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In short gray-level resolution is equal to the number of bits per pixel (BPP).</a:t>
            </a:r>
            <a:endParaRPr/>
          </a:p>
          <a:p>
            <a:pPr indent="0" lvl="0" marL="0" marR="0" rtl="0" algn="just">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number of different colors in an image depends on the depth of color or </a:t>
            </a:r>
            <a:r>
              <a:rPr b="0" i="0" lang="en-US" sz="2000" u="none" cap="none" strike="noStrike">
                <a:solidFill>
                  <a:srgbClr val="FFC000"/>
                </a:solidFill>
                <a:latin typeface="Times New Roman"/>
                <a:ea typeface="Times New Roman"/>
                <a:cs typeface="Times New Roman"/>
                <a:sym typeface="Times New Roman"/>
              </a:rPr>
              <a:t>bits per pixel</a:t>
            </a:r>
            <a:r>
              <a:rPr b="0" i="0" lang="en-US" sz="2800" u="none" cap="none" strike="noStrike">
                <a:solidFill>
                  <a:srgbClr val="FFC000"/>
                </a:solidFill>
                <a:latin typeface="Nunito"/>
                <a:ea typeface="Nunito"/>
                <a:cs typeface="Nunito"/>
                <a:sym typeface="Nunito"/>
              </a:rPr>
              <a:t>.</a:t>
            </a:r>
            <a:endParaRPr b="0" i="0" sz="2000" u="none" cap="none" strike="noStrike">
              <a:solidFill>
                <a:srgbClr val="FFC000"/>
              </a:solidFill>
              <a:latin typeface="Times New Roman"/>
              <a:ea typeface="Times New Roman"/>
              <a:cs typeface="Times New Roman"/>
              <a:sym typeface="Times New Roman"/>
            </a:endParaRPr>
          </a:p>
        </p:txBody>
      </p:sp>
      <p:sp>
        <p:nvSpPr>
          <p:cNvPr id="335" name="Google Shape;335;p34"/>
          <p:cNvSpPr txBox="1"/>
          <p:nvPr/>
        </p:nvSpPr>
        <p:spPr>
          <a:xfrm>
            <a:off x="264200" y="3195537"/>
            <a:ext cx="8475065" cy="7078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mathematical relation that can be established between gray level resolution and bits per pixel can be given as.</a:t>
            </a:r>
            <a:endParaRPr/>
          </a:p>
        </p:txBody>
      </p:sp>
      <p:pic>
        <p:nvPicPr>
          <p:cNvPr id="336" name="Google Shape;336;p34"/>
          <p:cNvPicPr preferRelativeResize="0"/>
          <p:nvPr/>
        </p:nvPicPr>
        <p:blipFill rotWithShape="1">
          <a:blip r:embed="rId3">
            <a:alphaModFix/>
          </a:blip>
          <a:srcRect b="0" l="0" r="0" t="0"/>
          <a:stretch/>
        </p:blipFill>
        <p:spPr>
          <a:xfrm>
            <a:off x="3505512" y="4041254"/>
            <a:ext cx="1638300" cy="628650"/>
          </a:xfrm>
          <a:prstGeom prst="rect">
            <a:avLst/>
          </a:prstGeom>
          <a:noFill/>
          <a:ln>
            <a:noFill/>
          </a:ln>
        </p:spPr>
      </p:pic>
      <p:sp>
        <p:nvSpPr>
          <p:cNvPr id="337" name="Google Shape;337;p34"/>
          <p:cNvSpPr txBox="1"/>
          <p:nvPr/>
        </p:nvSpPr>
        <p:spPr>
          <a:xfrm>
            <a:off x="5808689" y="3903423"/>
            <a:ext cx="262327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L – number of gray levels</a:t>
            </a:r>
            <a:endParaRPr/>
          </a:p>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K-bits per pixel</a:t>
            </a:r>
            <a:endParaRPr/>
          </a:p>
        </p:txBody>
      </p:sp>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35"/>
          <p:cNvPicPr preferRelativeResize="0"/>
          <p:nvPr/>
        </p:nvPicPr>
        <p:blipFill rotWithShape="1">
          <a:blip r:embed="rId3">
            <a:alphaModFix/>
          </a:blip>
          <a:srcRect b="0" l="0" r="0" t="0"/>
          <a:stretch/>
        </p:blipFill>
        <p:spPr>
          <a:xfrm>
            <a:off x="0" y="53715"/>
            <a:ext cx="2645139" cy="3162300"/>
          </a:xfrm>
          <a:prstGeom prst="rect">
            <a:avLst/>
          </a:prstGeom>
          <a:noFill/>
          <a:ln>
            <a:noFill/>
          </a:ln>
        </p:spPr>
      </p:pic>
      <p:sp>
        <p:nvSpPr>
          <p:cNvPr id="343" name="Google Shape;343;p35"/>
          <p:cNvSpPr txBox="1"/>
          <p:nvPr/>
        </p:nvSpPr>
        <p:spPr>
          <a:xfrm>
            <a:off x="2645139" y="61210"/>
            <a:ext cx="662627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FFC000"/>
                </a:solidFill>
                <a:latin typeface="Times New Roman"/>
                <a:ea typeface="Times New Roman"/>
                <a:cs typeface="Times New Roman"/>
                <a:sym typeface="Times New Roman"/>
              </a:rPr>
              <a:t>The image of Einstein is a grayscale image</a:t>
            </a:r>
            <a:endParaRPr/>
          </a:p>
        </p:txBody>
      </p:sp>
      <p:sp>
        <p:nvSpPr>
          <p:cNvPr id="344" name="Google Shape;344;p35"/>
          <p:cNvSpPr txBox="1"/>
          <p:nvPr/>
        </p:nvSpPr>
        <p:spPr>
          <a:xfrm>
            <a:off x="4084820" y="664059"/>
            <a:ext cx="5126636" cy="12311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It is an image with 8 bits per pixel or 8bpp.</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 </a:t>
            </a:r>
            <a:r>
              <a:rPr b="0" i="0" lang="en-US" sz="2000" u="none" cap="none" strike="noStrike">
                <a:solidFill>
                  <a:schemeClr val="lt1"/>
                </a:solidFill>
                <a:latin typeface="Times New Roman"/>
                <a:ea typeface="Times New Roman"/>
                <a:cs typeface="Times New Roman"/>
                <a:sym typeface="Times New Roman"/>
              </a:rPr>
              <a:t>Gray-level resolution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45" name="Google Shape;345;p35"/>
          <p:cNvPicPr preferRelativeResize="0"/>
          <p:nvPr/>
        </p:nvPicPr>
        <p:blipFill rotWithShape="1">
          <a:blip r:embed="rId4">
            <a:alphaModFix/>
          </a:blip>
          <a:srcRect b="0" l="0" r="0" t="0"/>
          <a:stretch/>
        </p:blipFill>
        <p:spPr>
          <a:xfrm>
            <a:off x="6745573" y="1218671"/>
            <a:ext cx="2218545" cy="2850178"/>
          </a:xfrm>
          <a:prstGeom prst="rect">
            <a:avLst/>
          </a:prstGeom>
          <a:noFill/>
          <a:ln>
            <a:noFill/>
          </a:ln>
        </p:spPr>
      </p:pic>
      <p:sp>
        <p:nvSpPr>
          <p:cNvPr id="346" name="Google Shape;346;p35"/>
          <p:cNvSpPr txBox="1"/>
          <p:nvPr/>
        </p:nvSpPr>
        <p:spPr>
          <a:xfrm>
            <a:off x="52465" y="3392354"/>
            <a:ext cx="6550702"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It means its gray-level resolution is 256. Or in another way, we can say that this image has </a:t>
            </a:r>
            <a:r>
              <a:rPr b="1" i="0" lang="en-US" sz="1800" u="none" cap="none" strike="noStrike">
                <a:solidFill>
                  <a:srgbClr val="FF0000"/>
                </a:solidFill>
                <a:latin typeface="Times New Roman"/>
                <a:ea typeface="Times New Roman"/>
                <a:cs typeface="Times New Roman"/>
                <a:sym typeface="Times New Roman"/>
              </a:rPr>
              <a:t>256 different shades of gray.</a:t>
            </a:r>
            <a:endParaRPr/>
          </a:p>
          <a:p>
            <a:pPr indent="0" lvl="0" marL="0" marR="0" rtl="0" algn="just">
              <a:lnSpc>
                <a:spcPct val="100000"/>
              </a:lnSpc>
              <a:spcBef>
                <a:spcPts val="0"/>
              </a:spcBef>
              <a:spcAft>
                <a:spcPts val="0"/>
              </a:spcAft>
              <a:buNone/>
            </a:pPr>
            <a:r>
              <a:t/>
            </a:r>
            <a:endParaRPr b="1" i="0" sz="1800" u="none" cap="none" strike="noStrike">
              <a:solidFill>
                <a:srgbClr val="FF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1" i="0" lang="en-US" sz="1800" u="none" cap="none" strike="noStrike">
                <a:solidFill>
                  <a:srgbClr val="FFC000"/>
                </a:solidFill>
                <a:latin typeface="Times New Roman"/>
                <a:ea typeface="Times New Roman"/>
                <a:cs typeface="Times New Roman"/>
                <a:sym typeface="Times New Roman"/>
              </a:rPr>
              <a:t>The more the bits per pixel of an image, the more is its gray-level resolution.</a:t>
            </a:r>
            <a:endParaRPr/>
          </a:p>
        </p:txBody>
      </p:sp>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6"/>
          <p:cNvSpPr txBox="1"/>
          <p:nvPr/>
        </p:nvSpPr>
        <p:spPr>
          <a:xfrm>
            <a:off x="164892" y="327711"/>
            <a:ext cx="8979108" cy="38738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spatial resolution of an image is given by 128 X 128. What is its storage requirements if it is represented by 64 gray levels? </a:t>
            </a:r>
            <a:endParaRPr/>
          </a:p>
          <a:p>
            <a:pPr indent="0" lvl="0" marL="0" marR="0" rtl="0" algn="l">
              <a:lnSpc>
                <a:spcPct val="100000"/>
              </a:lnSpc>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a:p>
            <a:pPr indent="0" lvl="0" marL="0" marR="0" rtl="0" algn="l">
              <a:lnSpc>
                <a:spcPct val="107000"/>
              </a:lnSpc>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64=2</a:t>
            </a:r>
            <a:r>
              <a:rPr b="0" baseline="30000" i="0" lang="en-US" sz="2400" u="none" cap="none" strike="noStrike">
                <a:solidFill>
                  <a:schemeClr val="lt1"/>
                </a:solidFill>
                <a:latin typeface="Times New Roman"/>
                <a:ea typeface="Times New Roman"/>
                <a:cs typeface="Times New Roman"/>
                <a:sym typeface="Times New Roman"/>
              </a:rPr>
              <a:t>6</a:t>
            </a:r>
            <a:endParaRPr b="0" i="0" sz="2400" u="none" cap="none" strike="noStrike">
              <a:solidFill>
                <a:schemeClr val="lt1"/>
              </a:solidFill>
              <a:latin typeface="Times New Roman"/>
              <a:ea typeface="Times New Roman"/>
              <a:cs typeface="Times New Roman"/>
              <a:sym typeface="Times New Roman"/>
            </a:endParaRPr>
          </a:p>
          <a:p>
            <a:pPr indent="0" lvl="0" marL="0" marR="0" rtl="0" algn="l">
              <a:lnSpc>
                <a:spcPct val="107000"/>
              </a:lnSpc>
              <a:spcBef>
                <a:spcPts val="800"/>
              </a:spcBef>
              <a:spcAft>
                <a:spcPts val="0"/>
              </a:spcAft>
              <a:buNone/>
            </a:pPr>
            <a:r>
              <a:rPr b="0" i="0" lang="en-US" sz="2400" u="none" cap="none" strike="noStrike">
                <a:solidFill>
                  <a:schemeClr val="lt1"/>
                </a:solidFill>
                <a:latin typeface="Times New Roman"/>
                <a:ea typeface="Times New Roman"/>
                <a:cs typeface="Times New Roman"/>
                <a:sym typeface="Times New Roman"/>
              </a:rPr>
              <a:t>6-bit</a:t>
            </a:r>
            <a:r>
              <a:rPr b="0" baseline="30000" i="0" lang="en-US" sz="2400" u="none" cap="none" strike="noStrike">
                <a:solidFill>
                  <a:schemeClr val="lt1"/>
                </a:solidFill>
                <a:latin typeface="Times New Roman"/>
                <a:ea typeface="Times New Roman"/>
                <a:cs typeface="Times New Roman"/>
                <a:sym typeface="Times New Roman"/>
              </a:rPr>
              <a:t> </a:t>
            </a:r>
            <a:r>
              <a:rPr b="0" i="0" lang="en-US" sz="2400" u="none" cap="none" strike="noStrike">
                <a:solidFill>
                  <a:schemeClr val="lt1"/>
                </a:solidFill>
                <a:latin typeface="Times New Roman"/>
                <a:ea typeface="Times New Roman"/>
                <a:cs typeface="Times New Roman"/>
                <a:sym typeface="Times New Roman"/>
              </a:rPr>
              <a:t>representation for each grey level.</a:t>
            </a:r>
            <a:endParaRPr/>
          </a:p>
          <a:p>
            <a:pPr indent="0" lvl="0" marL="0" marR="0" rtl="0" algn="l">
              <a:lnSpc>
                <a:spcPct val="107000"/>
              </a:lnSpc>
              <a:spcBef>
                <a:spcPts val="800"/>
              </a:spcBef>
              <a:spcAft>
                <a:spcPts val="0"/>
              </a:spcAft>
              <a:buNone/>
            </a:pPr>
            <a:r>
              <a:rPr b="0" i="0" lang="en-US" sz="2400" u="none" cap="none" strike="noStrike">
                <a:solidFill>
                  <a:schemeClr val="lt1"/>
                </a:solidFill>
                <a:latin typeface="Times New Roman"/>
                <a:ea typeface="Times New Roman"/>
                <a:cs typeface="Times New Roman"/>
                <a:sym typeface="Times New Roman"/>
              </a:rPr>
              <a:t>Image size =128 x128 </a:t>
            </a:r>
            <a:endParaRPr/>
          </a:p>
          <a:p>
            <a:pPr indent="0" lvl="0" marL="0" marR="0" rtl="0" algn="l">
              <a:lnSpc>
                <a:spcPct val="107000"/>
              </a:lnSpc>
              <a:spcBef>
                <a:spcPts val="800"/>
              </a:spcBef>
              <a:spcAft>
                <a:spcPts val="0"/>
              </a:spcAft>
              <a:buNone/>
            </a:pPr>
            <a:r>
              <a:rPr b="0" i="0" lang="en-US" sz="2400" u="none" cap="none" strike="noStrike">
                <a:solidFill>
                  <a:schemeClr val="lt1"/>
                </a:solidFill>
                <a:latin typeface="Times New Roman"/>
                <a:ea typeface="Times New Roman"/>
                <a:cs typeface="Times New Roman"/>
                <a:sym typeface="Times New Roman"/>
              </a:rPr>
              <a:t>Storage requirements=128 x128 x6 bits</a:t>
            </a:r>
            <a:endParaRPr/>
          </a:p>
          <a:p>
            <a:pPr indent="0" lvl="0" marL="0" marR="0" rtl="0" algn="l">
              <a:lnSpc>
                <a:spcPct val="107000"/>
              </a:lnSpc>
              <a:spcBef>
                <a:spcPts val="800"/>
              </a:spcBef>
              <a:spcAft>
                <a:spcPts val="0"/>
              </a:spcAft>
              <a:buNone/>
            </a:pPr>
            <a:r>
              <a:rPr b="0" i="0" lang="en-US" sz="2400" u="none" cap="none" strike="noStrike">
                <a:solidFill>
                  <a:schemeClr val="lt1"/>
                </a:solidFill>
                <a:latin typeface="Times New Roman"/>
                <a:ea typeface="Times New Roman"/>
                <a:cs typeface="Times New Roman"/>
                <a:sym typeface="Times New Roman"/>
              </a:rPr>
              <a:t>                                   </a:t>
            </a:r>
            <a:endParaRPr b="0" i="0" sz="24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None/>
            </a:pPr>
            <a:r>
              <a:t/>
            </a:r>
            <a:endParaRPr b="0" i="0" sz="2000" u="none" cap="none" strike="noStrike">
              <a:solidFill>
                <a:schemeClr val="lt1"/>
              </a:solidFill>
              <a:latin typeface="Arial"/>
              <a:ea typeface="Arial"/>
              <a:cs typeface="Arial"/>
              <a:sym typeface="Arial"/>
            </a:endParaRPr>
          </a:p>
        </p:txBody>
      </p:sp>
    </p:spTree>
  </p:cSld>
  <p:clrMapOvr>
    <a:masterClrMapping/>
  </p:clrMapOvr>
  <p:transition>
    <p:fade thruBlk="1"/>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7"/>
          <p:cNvSpPr txBox="1"/>
          <p:nvPr/>
        </p:nvSpPr>
        <p:spPr>
          <a:xfrm>
            <a:off x="1" y="90659"/>
            <a:ext cx="9091533" cy="43396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The basic relationship between pixels– neighborhood, adjacency, connectivity</a:t>
            </a:r>
            <a:endParaRPr b="1" i="0" sz="2400" u="none" cap="none" strike="noStrike">
              <a:solidFill>
                <a:srgbClr val="FFC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2400" u="none" cap="none" strike="noStrike">
              <a:solidFill>
                <a:srgbClr val="FFC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Neighbors of a Pixel</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A pixel p at coordinates (x,y) has four horizontal and vertical neighbors whose coordinates are given by: (x+1,y),(x-1,y), (x,y+1), (x,y-1) .</a:t>
            </a:r>
            <a:endParaRPr/>
          </a:p>
          <a:p>
            <a:pPr indent="0" lvl="0" marL="0" marR="0" rtl="0" algn="l">
              <a:lnSpc>
                <a:spcPct val="100000"/>
              </a:lnSpc>
              <a:spcBef>
                <a:spcPts val="0"/>
              </a:spcBef>
              <a:spcAft>
                <a:spcPts val="0"/>
              </a:spcAft>
              <a:buNone/>
            </a:pPr>
            <a:r>
              <a:t/>
            </a:r>
            <a:endParaRPr b="1"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This set is called the 4-neighbors of p, is denoted by</a:t>
            </a:r>
            <a:r>
              <a:rPr b="1" i="0" lang="en-US" sz="2000" u="none" cap="none" strike="noStrike">
                <a:solidFill>
                  <a:srgbClr val="FFC000"/>
                </a:solidFill>
                <a:latin typeface="Times New Roman"/>
                <a:ea typeface="Times New Roman"/>
                <a:cs typeface="Times New Roman"/>
                <a:sym typeface="Times New Roman"/>
              </a:rPr>
              <a:t> </a:t>
            </a:r>
            <a:r>
              <a:rPr b="1" i="0" lang="en-US" sz="1800" u="none" cap="none" strike="noStrike">
                <a:solidFill>
                  <a:srgbClr val="FFC000"/>
                </a:solidFill>
                <a:latin typeface="Calibri"/>
                <a:ea typeface="Calibri"/>
                <a:cs typeface="Calibri"/>
                <a:sym typeface="Calibri"/>
              </a:rPr>
              <a:t>N</a:t>
            </a:r>
            <a:r>
              <a:rPr b="1" baseline="-25000" i="0" lang="en-US" sz="1800" u="none" cap="none" strike="noStrike">
                <a:solidFill>
                  <a:srgbClr val="FFC000"/>
                </a:solidFill>
                <a:latin typeface="Calibri"/>
                <a:ea typeface="Calibri"/>
                <a:cs typeface="Calibri"/>
                <a:sym typeface="Calibri"/>
              </a:rPr>
              <a:t>4</a:t>
            </a:r>
            <a:r>
              <a:rPr b="1" i="0" lang="en-US" sz="1800" u="none" cap="none" strike="noStrike">
                <a:solidFill>
                  <a:srgbClr val="FFC000"/>
                </a:solidFill>
                <a:latin typeface="Calibri"/>
                <a:ea typeface="Calibri"/>
                <a:cs typeface="Calibri"/>
                <a:sym typeface="Calibri"/>
              </a:rPr>
              <a:t>(P)</a:t>
            </a:r>
            <a:r>
              <a:rPr b="0" i="0" lang="en-US" sz="2000" u="none" cap="none" strike="noStrike">
                <a:solidFill>
                  <a:schemeClr val="lt1"/>
                </a:solidFill>
                <a:latin typeface="Times New Roman"/>
                <a:ea typeface="Times New Roman"/>
                <a:cs typeface="Times New Roman"/>
                <a:sym typeface="Times New Roman"/>
              </a:rPr>
              <a:t>. Each pixel is a unit distance from (x,y), and some of the neighbor locations of p lie outside the digital image if (x,y) is on the border of the image. </a:t>
            </a:r>
            <a:endParaRPr/>
          </a:p>
          <a:p>
            <a:pPr indent="0" lvl="0" marL="0" marR="0" rtl="0" algn="l">
              <a:lnSpc>
                <a:spcPct val="100000"/>
              </a:lnSpc>
              <a:spcBef>
                <a:spcPts val="0"/>
              </a:spcBef>
              <a:spcAft>
                <a:spcPts val="0"/>
              </a:spcAft>
              <a:buNone/>
            </a:pPr>
            <a:r>
              <a:t/>
            </a:r>
            <a:endParaRPr b="1"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four-diagonal neighbor of p have coordinates: (x+1,y+1),(x+1,y-1), (x-1,y+1),     (x-1,y-1) and are denoted by </a:t>
            </a:r>
            <a:r>
              <a:rPr b="1" i="0" lang="en-US" sz="2000" u="none" cap="none" strike="noStrike">
                <a:solidFill>
                  <a:srgbClr val="FFC000"/>
                </a:solidFill>
                <a:latin typeface="Calibri"/>
                <a:ea typeface="Calibri"/>
                <a:cs typeface="Calibri"/>
                <a:sym typeface="Calibri"/>
              </a:rPr>
              <a:t>N</a:t>
            </a:r>
            <a:r>
              <a:rPr b="1" baseline="-25000" i="0" lang="en-US" sz="2000" u="none" cap="none" strike="noStrike">
                <a:solidFill>
                  <a:srgbClr val="FFC000"/>
                </a:solidFill>
                <a:latin typeface="Calibri"/>
                <a:ea typeface="Calibri"/>
                <a:cs typeface="Calibri"/>
                <a:sym typeface="Calibri"/>
              </a:rPr>
              <a:t>D</a:t>
            </a:r>
            <a:r>
              <a:rPr b="1" i="0" lang="en-US" sz="2000" u="none" cap="none" strike="noStrike">
                <a:solidFill>
                  <a:srgbClr val="FFC000"/>
                </a:solidFill>
                <a:latin typeface="Calibri"/>
                <a:ea typeface="Calibri"/>
                <a:cs typeface="Calibri"/>
                <a:sym typeface="Calibri"/>
              </a:rPr>
              <a:t>(P)</a:t>
            </a:r>
            <a:r>
              <a:rPr b="0" i="0" lang="en-US" sz="2000" u="none" cap="none" strike="noStrike">
                <a:solidFill>
                  <a:schemeClr val="lt1"/>
                </a:solidFill>
                <a:latin typeface="Times New Roman"/>
                <a:ea typeface="Times New Roman"/>
                <a:cs typeface="Times New Roman"/>
                <a:sym typeface="Times New Roman"/>
              </a:rPr>
              <a:t>. </a:t>
            </a:r>
            <a:endParaRPr b="1" i="0" sz="2000" u="none" cap="none" strike="noStrike">
              <a:solidFill>
                <a:schemeClr val="lt1"/>
              </a:solidFill>
              <a:latin typeface="Times New Roman"/>
              <a:ea typeface="Times New Roman"/>
              <a:cs typeface="Times New Roman"/>
              <a:sym typeface="Times New Roman"/>
            </a:endParaRPr>
          </a:p>
        </p:txBody>
      </p:sp>
      <p:pic>
        <p:nvPicPr>
          <p:cNvPr id="357" name="Google Shape;357;p37"/>
          <p:cNvPicPr preferRelativeResize="0"/>
          <p:nvPr/>
        </p:nvPicPr>
        <p:blipFill rotWithShape="1">
          <a:blip r:embed="rId3">
            <a:alphaModFix/>
          </a:blip>
          <a:srcRect b="0" l="0" r="0" t="0"/>
          <a:stretch/>
        </p:blipFill>
        <p:spPr>
          <a:xfrm>
            <a:off x="6364807" y="939449"/>
            <a:ext cx="2336982" cy="1632301"/>
          </a:xfrm>
          <a:prstGeom prst="rect">
            <a:avLst/>
          </a:prstGeom>
          <a:noFill/>
          <a:ln>
            <a:noFill/>
          </a:ln>
        </p:spPr>
      </p:pic>
      <p:pic>
        <p:nvPicPr>
          <p:cNvPr id="358" name="Google Shape;358;p37"/>
          <p:cNvPicPr preferRelativeResize="0"/>
          <p:nvPr/>
        </p:nvPicPr>
        <p:blipFill rotWithShape="1">
          <a:blip r:embed="rId4">
            <a:alphaModFix/>
          </a:blip>
          <a:srcRect b="0" l="0" r="0" t="0"/>
          <a:stretch/>
        </p:blipFill>
        <p:spPr>
          <a:xfrm>
            <a:off x="3792512" y="3237406"/>
            <a:ext cx="2073170" cy="1783829"/>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8"/>
          <p:cNvSpPr txBox="1"/>
          <p:nvPr/>
        </p:nvSpPr>
        <p:spPr>
          <a:xfrm>
            <a:off x="-59960" y="106168"/>
            <a:ext cx="9144000" cy="17851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FFC000"/>
                </a:solidFill>
                <a:latin typeface="Calibri"/>
                <a:ea typeface="Calibri"/>
                <a:cs typeface="Calibri"/>
                <a:sym typeface="Calibri"/>
              </a:rPr>
              <a:t>N</a:t>
            </a:r>
            <a:r>
              <a:rPr b="1" baseline="-25000" i="0" lang="en-US" sz="2000" u="none" cap="none" strike="noStrike">
                <a:solidFill>
                  <a:srgbClr val="FFC000"/>
                </a:solidFill>
                <a:latin typeface="Calibri"/>
                <a:ea typeface="Calibri"/>
                <a:cs typeface="Calibri"/>
                <a:sym typeface="Calibri"/>
              </a:rPr>
              <a:t>D</a:t>
            </a:r>
            <a:r>
              <a:rPr b="1" i="0" lang="en-US" sz="2000" u="none" cap="none" strike="noStrike">
                <a:solidFill>
                  <a:srgbClr val="FFC000"/>
                </a:solidFill>
                <a:latin typeface="Calibri"/>
                <a:ea typeface="Calibri"/>
                <a:cs typeface="Calibri"/>
                <a:sym typeface="Calibri"/>
              </a:rPr>
              <a:t>(P) </a:t>
            </a:r>
            <a:r>
              <a:rPr b="0" i="0" lang="en-US" sz="2000" u="none" cap="none" strike="noStrike">
                <a:solidFill>
                  <a:schemeClr val="lt1"/>
                </a:solidFill>
                <a:latin typeface="Times New Roman"/>
                <a:ea typeface="Times New Roman"/>
                <a:cs typeface="Times New Roman"/>
                <a:sym typeface="Times New Roman"/>
              </a:rPr>
              <a:t>together with </a:t>
            </a:r>
            <a:r>
              <a:rPr b="1" i="0" lang="en-US" sz="2000" u="none" cap="none" strike="noStrike">
                <a:solidFill>
                  <a:srgbClr val="FFC000"/>
                </a:solidFill>
                <a:latin typeface="Calibri"/>
                <a:ea typeface="Calibri"/>
                <a:cs typeface="Calibri"/>
                <a:sym typeface="Calibri"/>
              </a:rPr>
              <a:t>N</a:t>
            </a:r>
            <a:r>
              <a:rPr b="1" baseline="-25000" i="0" lang="en-US" sz="2000" u="none" cap="none" strike="noStrike">
                <a:solidFill>
                  <a:srgbClr val="FFC000"/>
                </a:solidFill>
                <a:latin typeface="Calibri"/>
                <a:ea typeface="Calibri"/>
                <a:cs typeface="Calibri"/>
                <a:sym typeface="Calibri"/>
              </a:rPr>
              <a:t>4</a:t>
            </a:r>
            <a:r>
              <a:rPr b="1" i="0" lang="en-US" sz="2000" u="none" cap="none" strike="noStrike">
                <a:solidFill>
                  <a:srgbClr val="FFC000"/>
                </a:solidFill>
                <a:latin typeface="Calibri"/>
                <a:ea typeface="Calibri"/>
                <a:cs typeface="Calibri"/>
                <a:sym typeface="Calibri"/>
              </a:rPr>
              <a:t>(P) </a:t>
            </a:r>
            <a:r>
              <a:rPr b="0" i="0" lang="en-US" sz="2000" u="none" cap="none" strike="noStrike">
                <a:solidFill>
                  <a:schemeClr val="lt1"/>
                </a:solidFill>
                <a:latin typeface="Times New Roman"/>
                <a:ea typeface="Times New Roman"/>
                <a:cs typeface="Times New Roman"/>
                <a:sym typeface="Times New Roman"/>
              </a:rPr>
              <a:t>are called the 8-neighbors of p, denoted by </a:t>
            </a:r>
            <a:r>
              <a:rPr b="1" i="0" lang="en-US" sz="2000" u="none" cap="none" strike="noStrike">
                <a:solidFill>
                  <a:srgbClr val="FFC000"/>
                </a:solidFill>
                <a:latin typeface="Times New Roman"/>
                <a:ea typeface="Times New Roman"/>
                <a:cs typeface="Times New Roman"/>
                <a:sym typeface="Times New Roman"/>
              </a:rPr>
              <a:t>N</a:t>
            </a:r>
            <a:r>
              <a:rPr b="1" baseline="-25000" i="0" lang="en-US" sz="2000" u="none" cap="none" strike="noStrike">
                <a:solidFill>
                  <a:srgbClr val="FFC000"/>
                </a:solidFill>
                <a:latin typeface="Times New Roman"/>
                <a:ea typeface="Times New Roman"/>
                <a:cs typeface="Times New Roman"/>
                <a:sym typeface="Times New Roman"/>
              </a:rPr>
              <a:t>8</a:t>
            </a:r>
            <a:r>
              <a:rPr b="1" i="0" lang="en-US" sz="2000" u="none" cap="none" strike="noStrike">
                <a:solidFill>
                  <a:srgbClr val="FFC000"/>
                </a:solidFill>
                <a:latin typeface="Times New Roman"/>
                <a:ea typeface="Times New Roman"/>
                <a:cs typeface="Times New Roman"/>
                <a:sym typeface="Times New Roman"/>
              </a:rPr>
              <a:t>(P)</a:t>
            </a:r>
            <a:r>
              <a:rPr b="0" i="0" lang="en-US" sz="2000" u="none" cap="none" strike="noStrike">
                <a:solidFill>
                  <a:schemeClr val="lt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rgbClr val="FF0000"/>
                </a:solidFill>
                <a:latin typeface="Times New Roman"/>
                <a:ea typeface="Times New Roman"/>
                <a:cs typeface="Times New Roman"/>
                <a:sym typeface="Times New Roman"/>
              </a:rPr>
              <a:t>N</a:t>
            </a:r>
            <a:r>
              <a:rPr b="1" i="0" lang="en-US" sz="1600" u="none" cap="none" strike="noStrike">
                <a:solidFill>
                  <a:srgbClr val="FF0000"/>
                </a:solidFill>
                <a:latin typeface="Times New Roman"/>
                <a:ea typeface="Times New Roman"/>
                <a:cs typeface="Times New Roman"/>
                <a:sym typeface="Times New Roman"/>
              </a:rPr>
              <a:t>8 </a:t>
            </a:r>
            <a:r>
              <a:rPr b="1" i="0" lang="en-US" sz="2000" u="none" cap="none" strike="noStrike">
                <a:solidFill>
                  <a:srgbClr val="FF0000"/>
                </a:solidFill>
                <a:latin typeface="Times New Roman"/>
                <a:ea typeface="Times New Roman"/>
                <a:cs typeface="Times New Roman"/>
                <a:sym typeface="Times New Roman"/>
              </a:rPr>
              <a:t>= N</a:t>
            </a:r>
            <a:r>
              <a:rPr b="1" i="0" lang="en-US" sz="1400" u="none" cap="none" strike="noStrike">
                <a:solidFill>
                  <a:srgbClr val="FF0000"/>
                </a:solidFill>
                <a:latin typeface="Times New Roman"/>
                <a:ea typeface="Times New Roman"/>
                <a:cs typeface="Times New Roman"/>
                <a:sym typeface="Times New Roman"/>
              </a:rPr>
              <a:t>4  </a:t>
            </a:r>
            <a:r>
              <a:rPr b="1" i="0" lang="en-US" sz="2000" u="none" cap="none" strike="noStrike">
                <a:solidFill>
                  <a:srgbClr val="FF0000"/>
                </a:solidFill>
                <a:latin typeface="Times New Roman"/>
                <a:ea typeface="Times New Roman"/>
                <a:cs typeface="Times New Roman"/>
                <a:sym typeface="Times New Roman"/>
              </a:rPr>
              <a:t>U N</a:t>
            </a:r>
            <a:r>
              <a:rPr b="1" i="0" lang="en-US" sz="1400" u="none" cap="none" strike="noStrike">
                <a:solidFill>
                  <a:srgbClr val="FF0000"/>
                </a:solidFill>
                <a:latin typeface="Times New Roman"/>
                <a:ea typeface="Times New Roman"/>
                <a:cs typeface="Times New Roman"/>
                <a:sym typeface="Times New Roman"/>
              </a:rPr>
              <a:t>D</a:t>
            </a:r>
            <a:endParaRPr/>
          </a:p>
          <a:p>
            <a:pPr indent="0" lvl="0" marL="0" marR="0" rtl="0" algn="l">
              <a:lnSpc>
                <a:spcPct val="100000"/>
              </a:lnSpc>
              <a:spcBef>
                <a:spcPts val="0"/>
              </a:spcBef>
              <a:spcAft>
                <a:spcPts val="0"/>
              </a:spcAft>
              <a:buNone/>
            </a:pPr>
            <a:r>
              <a:t/>
            </a:r>
            <a:endParaRPr b="1" i="0" sz="140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Some of the points in the N</a:t>
            </a:r>
            <a:r>
              <a:rPr b="0" i="0" lang="en-US" sz="1200" u="none" cap="none" strike="noStrike">
                <a:solidFill>
                  <a:schemeClr val="lt1"/>
                </a:solidFill>
                <a:latin typeface="Times New Roman"/>
                <a:ea typeface="Times New Roman"/>
                <a:cs typeface="Times New Roman"/>
                <a:sym typeface="Times New Roman"/>
              </a:rPr>
              <a:t>4</a:t>
            </a:r>
            <a:r>
              <a:rPr b="0" i="0" lang="en-US" sz="1800" u="none" cap="none" strike="noStrike">
                <a:solidFill>
                  <a:schemeClr val="lt1"/>
                </a:solidFill>
                <a:latin typeface="Times New Roman"/>
                <a:ea typeface="Times New Roman"/>
                <a:cs typeface="Times New Roman"/>
                <a:sym typeface="Times New Roman"/>
              </a:rPr>
              <a:t> , N</a:t>
            </a:r>
            <a:r>
              <a:rPr b="0" i="0" lang="en-US" sz="1200" u="none" cap="none" strike="noStrike">
                <a:solidFill>
                  <a:schemeClr val="lt1"/>
                </a:solidFill>
                <a:latin typeface="Times New Roman"/>
                <a:ea typeface="Times New Roman"/>
                <a:cs typeface="Times New Roman"/>
                <a:sym typeface="Times New Roman"/>
              </a:rPr>
              <a:t>D,</a:t>
            </a:r>
            <a:r>
              <a:rPr b="0" i="0" lang="en-US" sz="1800" u="none" cap="none" strike="noStrike">
                <a:solidFill>
                  <a:schemeClr val="lt1"/>
                </a:solidFill>
                <a:latin typeface="Times New Roman"/>
                <a:ea typeface="Times New Roman"/>
                <a:cs typeface="Times New Roman"/>
                <a:sym typeface="Times New Roman"/>
              </a:rPr>
              <a:t> and N</a:t>
            </a:r>
            <a:r>
              <a:rPr b="0" i="0" lang="en-US" sz="1200" u="none" cap="none" strike="noStrike">
                <a:solidFill>
                  <a:schemeClr val="lt1"/>
                </a:solidFill>
                <a:latin typeface="Times New Roman"/>
                <a:ea typeface="Times New Roman"/>
                <a:cs typeface="Times New Roman"/>
                <a:sym typeface="Times New Roman"/>
              </a:rPr>
              <a:t>8</a:t>
            </a:r>
            <a:r>
              <a:rPr b="0" i="0" lang="en-US" sz="1800" u="none" cap="none" strike="noStrike">
                <a:solidFill>
                  <a:schemeClr val="lt1"/>
                </a:solidFill>
                <a:latin typeface="Times New Roman"/>
                <a:ea typeface="Times New Roman"/>
                <a:cs typeface="Times New Roman"/>
                <a:sym typeface="Times New Roman"/>
              </a:rPr>
              <a:t> may fall outside the image when P lies on the border of an image.</a:t>
            </a:r>
            <a:endParaRPr b="1" i="0" sz="1800" u="none" cap="none" strike="noStrike">
              <a:solidFill>
                <a:schemeClr val="lt1"/>
              </a:solidFill>
              <a:latin typeface="Times New Roman"/>
              <a:ea typeface="Times New Roman"/>
              <a:cs typeface="Times New Roman"/>
              <a:sym typeface="Times New Roman"/>
            </a:endParaRPr>
          </a:p>
        </p:txBody>
      </p:sp>
      <p:pic>
        <p:nvPicPr>
          <p:cNvPr id="364" name="Google Shape;364;p38"/>
          <p:cNvPicPr preferRelativeResize="0"/>
          <p:nvPr/>
        </p:nvPicPr>
        <p:blipFill rotWithShape="1">
          <a:blip r:embed="rId3">
            <a:alphaModFix/>
          </a:blip>
          <a:srcRect b="0" l="0" r="0" t="0"/>
          <a:stretch/>
        </p:blipFill>
        <p:spPr>
          <a:xfrm>
            <a:off x="2311296" y="1876281"/>
            <a:ext cx="3771900" cy="3161051"/>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9"/>
          <p:cNvSpPr txBox="1"/>
          <p:nvPr/>
        </p:nvSpPr>
        <p:spPr>
          <a:xfrm>
            <a:off x="179882" y="132838"/>
            <a:ext cx="8964118" cy="47705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Adjacency: </a:t>
            </a:r>
            <a:r>
              <a:rPr b="0" i="0" lang="en-US" sz="2000" u="none" cap="none" strike="noStrike">
                <a:solidFill>
                  <a:schemeClr val="lt1"/>
                </a:solidFill>
                <a:latin typeface="Times New Roman"/>
                <a:ea typeface="Times New Roman"/>
                <a:cs typeface="Times New Roman"/>
                <a:sym typeface="Times New Roman"/>
              </a:rPr>
              <a:t>Two pixels are connected if they are neighbors, and their gray levels satisfy some specified criterion of similarity. </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For example, in a binary image two pixels are connected if they are 4-neighbors and have the same value (0/1) .</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Let v: </a:t>
            </a:r>
            <a:r>
              <a:rPr b="0" i="0" lang="en-US" sz="2000" u="none" cap="none" strike="noStrike">
                <a:solidFill>
                  <a:schemeClr val="lt1"/>
                </a:solidFill>
                <a:latin typeface="Times New Roman"/>
                <a:ea typeface="Times New Roman"/>
                <a:cs typeface="Times New Roman"/>
                <a:sym typeface="Times New Roman"/>
              </a:rPr>
              <a:t>a set of intensity values used to </a:t>
            </a:r>
            <a:r>
              <a:rPr b="1" i="1" lang="en-US" sz="2000" u="none" cap="none" strike="noStrike">
                <a:solidFill>
                  <a:schemeClr val="lt1"/>
                </a:solidFill>
                <a:latin typeface="Times New Roman"/>
                <a:ea typeface="Times New Roman"/>
                <a:cs typeface="Times New Roman"/>
                <a:sym typeface="Times New Roman"/>
              </a:rPr>
              <a:t>define adjacency </a:t>
            </a:r>
            <a:r>
              <a:rPr b="0" i="0" lang="en-US" sz="2000" u="none" cap="none" strike="noStrike">
                <a:solidFill>
                  <a:schemeClr val="lt1"/>
                </a:solidFill>
                <a:latin typeface="Times New Roman"/>
                <a:ea typeface="Times New Roman"/>
                <a:cs typeface="Times New Roman"/>
                <a:sym typeface="Times New Roman"/>
              </a:rPr>
              <a:t>and </a:t>
            </a:r>
            <a:r>
              <a:rPr b="1" i="1" lang="en-US" sz="2000" u="none" cap="none" strike="noStrike">
                <a:solidFill>
                  <a:schemeClr val="lt1"/>
                </a:solidFill>
                <a:latin typeface="Times New Roman"/>
                <a:ea typeface="Times New Roman"/>
                <a:cs typeface="Times New Roman"/>
                <a:sym typeface="Times New Roman"/>
              </a:rPr>
              <a:t>connectivity</a:t>
            </a:r>
            <a:r>
              <a:rPr b="0" i="0" lang="en-US" sz="2000" u="none" cap="none" strike="noStrike">
                <a:solidFill>
                  <a:schemeClr val="lt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 In a </a:t>
            </a:r>
            <a:r>
              <a:rPr b="1" i="0" lang="en-US" sz="2000" u="none" cap="none" strike="noStrike">
                <a:solidFill>
                  <a:schemeClr val="lt1"/>
                </a:solidFill>
                <a:latin typeface="Times New Roman"/>
                <a:ea typeface="Times New Roman"/>
                <a:cs typeface="Times New Roman"/>
                <a:sym typeface="Times New Roman"/>
              </a:rPr>
              <a:t>binary Image v={1}, </a:t>
            </a:r>
            <a:r>
              <a:rPr b="0" i="0" lang="en-US" sz="2000" u="none" cap="none" strike="noStrike">
                <a:solidFill>
                  <a:schemeClr val="lt1"/>
                </a:solidFill>
                <a:latin typeface="Times New Roman"/>
                <a:ea typeface="Times New Roman"/>
                <a:cs typeface="Times New Roman"/>
                <a:sym typeface="Times New Roman"/>
              </a:rPr>
              <a:t>if we are referring to adjacency of pixels with value 1.</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 In a </a:t>
            </a:r>
            <a:r>
              <a:rPr b="1" i="0" lang="en-US" sz="2000" u="none" cap="none" strike="noStrike">
                <a:solidFill>
                  <a:schemeClr val="lt1"/>
                </a:solidFill>
                <a:latin typeface="Times New Roman"/>
                <a:ea typeface="Times New Roman"/>
                <a:cs typeface="Times New Roman"/>
                <a:sym typeface="Times New Roman"/>
              </a:rPr>
              <a:t>Gray scale image</a:t>
            </a:r>
            <a:r>
              <a:rPr b="0" i="0" lang="en-US" sz="2000" u="none" cap="none" strike="noStrike">
                <a:solidFill>
                  <a:schemeClr val="lt1"/>
                </a:solidFill>
                <a:latin typeface="Times New Roman"/>
                <a:ea typeface="Times New Roman"/>
                <a:cs typeface="Times New Roman"/>
                <a:sym typeface="Times New Roman"/>
              </a:rPr>
              <a:t>, the idea is the same, but </a:t>
            </a:r>
            <a:r>
              <a:rPr b="1" i="0" lang="en-US" sz="2000" u="none" cap="none" strike="noStrike">
                <a:solidFill>
                  <a:schemeClr val="lt1"/>
                </a:solidFill>
                <a:latin typeface="Times New Roman"/>
                <a:ea typeface="Times New Roman"/>
                <a:cs typeface="Times New Roman"/>
                <a:sym typeface="Times New Roman"/>
              </a:rPr>
              <a:t>v </a:t>
            </a:r>
            <a:r>
              <a:rPr b="0" i="0" lang="en-US" sz="2000" u="none" cap="none" strike="noStrike">
                <a:solidFill>
                  <a:schemeClr val="lt1"/>
                </a:solidFill>
                <a:latin typeface="Times New Roman"/>
                <a:ea typeface="Times New Roman"/>
                <a:cs typeface="Times New Roman"/>
                <a:sym typeface="Times New Roman"/>
              </a:rPr>
              <a:t>typically contains more elements,</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for example </a:t>
            </a:r>
            <a:r>
              <a:rPr b="1" i="0" lang="en-US" sz="2000" u="none" cap="none" strike="noStrike">
                <a:solidFill>
                  <a:schemeClr val="lt1"/>
                </a:solidFill>
                <a:latin typeface="Times New Roman"/>
                <a:ea typeface="Times New Roman"/>
                <a:cs typeface="Times New Roman"/>
                <a:sym typeface="Times New Roman"/>
              </a:rPr>
              <a:t>v= {180, 181, 182,....,200}.</a:t>
            </a:r>
            <a:endParaRPr/>
          </a:p>
          <a:p>
            <a:pPr indent="0" lvl="0" marL="0" marR="0" rtl="0" algn="l">
              <a:lnSpc>
                <a:spcPct val="100000"/>
              </a:lnSpc>
              <a:spcBef>
                <a:spcPts val="0"/>
              </a:spcBef>
              <a:spcAft>
                <a:spcPts val="0"/>
              </a:spcAft>
              <a:buNone/>
            </a:pPr>
            <a:r>
              <a:t/>
            </a:r>
            <a:endParaRPr b="1"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 If the possible intensity values 0 to 255, </a:t>
            </a:r>
            <a:r>
              <a:rPr b="1" i="0" lang="en-US" sz="2000" u="none" cap="none" strike="noStrike">
                <a:solidFill>
                  <a:schemeClr val="lt1"/>
                </a:solidFill>
                <a:latin typeface="Times New Roman"/>
                <a:ea typeface="Times New Roman"/>
                <a:cs typeface="Times New Roman"/>
                <a:sym typeface="Times New Roman"/>
              </a:rPr>
              <a:t>v </a:t>
            </a:r>
            <a:r>
              <a:rPr b="0" i="0" lang="en-US" sz="2000" u="none" cap="none" strike="noStrike">
                <a:solidFill>
                  <a:schemeClr val="lt1"/>
                </a:solidFill>
                <a:latin typeface="Times New Roman"/>
                <a:ea typeface="Times New Roman"/>
                <a:cs typeface="Times New Roman"/>
                <a:sym typeface="Times New Roman"/>
              </a:rPr>
              <a:t>set could be any subset of these 256 values.</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0"/>
          <p:cNvSpPr txBox="1"/>
          <p:nvPr/>
        </p:nvSpPr>
        <p:spPr>
          <a:xfrm>
            <a:off x="134912" y="68812"/>
            <a:ext cx="9758596"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Types of adjacency/connectivity </a:t>
            </a:r>
            <a:endParaRPr/>
          </a:p>
          <a:p>
            <a:pPr indent="0" lvl="0" marL="0" marR="0" rtl="0" algn="l">
              <a:lnSpc>
                <a:spcPct val="100000"/>
              </a:lnSpc>
              <a:spcBef>
                <a:spcPts val="0"/>
              </a:spcBef>
              <a:spcAft>
                <a:spcPts val="0"/>
              </a:spcAft>
              <a:buNone/>
            </a:pPr>
            <a:r>
              <a:t/>
            </a:r>
            <a:endParaRPr b="1"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rgbClr val="FF0000"/>
                </a:solidFill>
                <a:latin typeface="Times New Roman"/>
                <a:ea typeface="Times New Roman"/>
                <a:cs typeface="Times New Roman"/>
                <a:sym typeface="Times New Roman"/>
              </a:rPr>
              <a:t>1. 4-adjacency</a:t>
            </a:r>
            <a:r>
              <a:rPr b="1" i="0" lang="en-US" sz="2000" u="none" cap="none" strike="noStrike">
                <a:solidFill>
                  <a:schemeClr val="lt1"/>
                </a:solidFill>
                <a:latin typeface="Times New Roman"/>
                <a:ea typeface="Times New Roman"/>
                <a:cs typeface="Times New Roman"/>
                <a:sym typeface="Times New Roman"/>
              </a:rPr>
              <a:t>: </a:t>
            </a:r>
            <a:r>
              <a:rPr b="0" i="0" lang="en-US" sz="2000" u="none" cap="none" strike="noStrike">
                <a:solidFill>
                  <a:schemeClr val="lt1"/>
                </a:solidFill>
                <a:latin typeface="Times New Roman"/>
                <a:ea typeface="Times New Roman"/>
                <a:cs typeface="Times New Roman"/>
                <a:sym typeface="Times New Roman"/>
              </a:rPr>
              <a:t>Two pixels p and q with values from v are </a:t>
            </a:r>
            <a:r>
              <a:rPr b="1" i="0" lang="en-US" sz="2000" u="none" cap="none" strike="noStrike">
                <a:solidFill>
                  <a:schemeClr val="lt1"/>
                </a:solidFill>
                <a:latin typeface="Times New Roman"/>
                <a:ea typeface="Times New Roman"/>
                <a:cs typeface="Times New Roman"/>
                <a:sym typeface="Times New Roman"/>
              </a:rPr>
              <a:t>4-adjacent </a:t>
            </a:r>
            <a:r>
              <a:rPr b="0" i="0" lang="en-US" sz="2000" u="none" cap="none" strike="noStrike">
                <a:solidFill>
                  <a:schemeClr val="lt1"/>
                </a:solidFill>
                <a:latin typeface="Times New Roman"/>
                <a:ea typeface="Times New Roman"/>
                <a:cs typeface="Times New Roman"/>
                <a:sym typeface="Times New Roman"/>
              </a:rPr>
              <a:t>if q is in the</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                          set N4 (p).</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rgbClr val="FF0000"/>
                </a:solidFill>
                <a:latin typeface="Times New Roman"/>
                <a:ea typeface="Times New Roman"/>
                <a:cs typeface="Times New Roman"/>
                <a:sym typeface="Times New Roman"/>
              </a:rPr>
              <a:t>2. 8-adjacency</a:t>
            </a:r>
            <a:r>
              <a:rPr b="1" i="0" lang="en-US" sz="2000" u="none" cap="none" strike="noStrike">
                <a:solidFill>
                  <a:schemeClr val="lt1"/>
                </a:solidFill>
                <a:latin typeface="Times New Roman"/>
                <a:ea typeface="Times New Roman"/>
                <a:cs typeface="Times New Roman"/>
                <a:sym typeface="Times New Roman"/>
              </a:rPr>
              <a:t>: </a:t>
            </a:r>
            <a:r>
              <a:rPr b="0" i="0" lang="en-US" sz="2000" u="none" cap="none" strike="noStrike">
                <a:solidFill>
                  <a:schemeClr val="lt1"/>
                </a:solidFill>
                <a:latin typeface="Times New Roman"/>
                <a:ea typeface="Times New Roman"/>
                <a:cs typeface="Times New Roman"/>
                <a:sym typeface="Times New Roman"/>
              </a:rPr>
              <a:t>Two pixels p and q with values from v are </a:t>
            </a:r>
            <a:r>
              <a:rPr b="1" i="0" lang="en-US" sz="2000" u="none" cap="none" strike="noStrike">
                <a:solidFill>
                  <a:schemeClr val="lt1"/>
                </a:solidFill>
                <a:latin typeface="Times New Roman"/>
                <a:ea typeface="Times New Roman"/>
                <a:cs typeface="Times New Roman"/>
                <a:sym typeface="Times New Roman"/>
              </a:rPr>
              <a:t>8-adjacent </a:t>
            </a:r>
            <a:r>
              <a:rPr b="0" i="0" lang="en-US" sz="2000" u="none" cap="none" strike="noStrike">
                <a:solidFill>
                  <a:schemeClr val="lt1"/>
                </a:solidFill>
                <a:latin typeface="Times New Roman"/>
                <a:ea typeface="Times New Roman"/>
                <a:cs typeface="Times New Roman"/>
                <a:sym typeface="Times New Roman"/>
              </a:rPr>
              <a:t>if q is in the</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                          set N8 (p).</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rgbClr val="FF0000"/>
                </a:solidFill>
                <a:latin typeface="Times New Roman"/>
                <a:ea typeface="Times New Roman"/>
                <a:cs typeface="Times New Roman"/>
                <a:sym typeface="Times New Roman"/>
              </a:rPr>
              <a:t>3. m-adjacency (mixed): </a:t>
            </a:r>
            <a:r>
              <a:rPr b="0" i="0" lang="en-US" sz="2000" u="none" cap="none" strike="noStrike">
                <a:solidFill>
                  <a:schemeClr val="lt1"/>
                </a:solidFill>
                <a:latin typeface="Times New Roman"/>
                <a:ea typeface="Times New Roman"/>
                <a:cs typeface="Times New Roman"/>
                <a:sym typeface="Times New Roman"/>
              </a:rPr>
              <a:t>two pixels p and q with values from v are </a:t>
            </a:r>
            <a:r>
              <a:rPr b="1" i="0" lang="en-US" sz="2000" u="none" cap="none" strike="noStrike">
                <a:solidFill>
                  <a:schemeClr val="lt1"/>
                </a:solidFill>
                <a:latin typeface="Times New Roman"/>
                <a:ea typeface="Times New Roman"/>
                <a:cs typeface="Times New Roman"/>
                <a:sym typeface="Times New Roman"/>
              </a:rPr>
              <a:t>m-adjacent </a:t>
            </a:r>
            <a:r>
              <a:rPr b="0" i="0" lang="en-US" sz="2000" u="none" cap="none" strike="noStrike">
                <a:solidFill>
                  <a:schemeClr val="lt1"/>
                </a:solidFill>
                <a:latin typeface="Times New Roman"/>
                <a:ea typeface="Times New Roman"/>
                <a:cs typeface="Times New Roman"/>
                <a:sym typeface="Times New Roman"/>
              </a:rPr>
              <a:t>if:</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                                    q </a:t>
            </a:r>
            <a:r>
              <a:rPr b="1" i="0" lang="en-US" sz="2000" u="none" cap="none" strike="noStrike">
                <a:solidFill>
                  <a:schemeClr val="lt1"/>
                </a:solidFill>
                <a:latin typeface="Times New Roman"/>
                <a:ea typeface="Times New Roman"/>
                <a:cs typeface="Times New Roman"/>
                <a:sym typeface="Times New Roman"/>
              </a:rPr>
              <a:t>is in </a:t>
            </a:r>
            <a:r>
              <a:rPr b="0" i="0" lang="en-US" sz="2000" u="none" cap="none" strike="noStrike">
                <a:solidFill>
                  <a:schemeClr val="lt1"/>
                </a:solidFill>
                <a:latin typeface="Times New Roman"/>
                <a:ea typeface="Times New Roman"/>
                <a:cs typeface="Times New Roman"/>
                <a:sym typeface="Times New Roman"/>
              </a:rPr>
              <a:t>N4 (p)    or </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  q </a:t>
            </a:r>
            <a:r>
              <a:rPr b="1" i="0" lang="en-US" sz="2000" u="none" cap="none" strike="noStrike">
                <a:solidFill>
                  <a:schemeClr val="lt1"/>
                </a:solidFill>
                <a:latin typeface="Times New Roman"/>
                <a:ea typeface="Times New Roman"/>
                <a:cs typeface="Times New Roman"/>
                <a:sym typeface="Times New Roman"/>
              </a:rPr>
              <a:t>is in </a:t>
            </a:r>
            <a:r>
              <a:rPr b="0" i="0" lang="en-US" sz="2000" u="none" cap="none" strike="noStrike">
                <a:solidFill>
                  <a:schemeClr val="lt1"/>
                </a:solidFill>
                <a:latin typeface="Times New Roman"/>
                <a:ea typeface="Times New Roman"/>
                <a:cs typeface="Times New Roman"/>
                <a:sym typeface="Times New Roman"/>
              </a:rPr>
              <a:t>ND (P) and </a:t>
            </a:r>
            <a:r>
              <a:rPr b="1" i="0" lang="en-US" sz="2000" u="none" cap="none" strike="noStrike">
                <a:solidFill>
                  <a:schemeClr val="lt1"/>
                </a:solidFill>
                <a:latin typeface="Times New Roman"/>
                <a:ea typeface="Times New Roman"/>
                <a:cs typeface="Times New Roman"/>
                <a:sym typeface="Times New Roman"/>
              </a:rPr>
              <a:t>t</a:t>
            </a:r>
            <a:r>
              <a:rPr b="1" i="0" lang="en-US" sz="2000" u="none" cap="none" strike="noStrike">
                <a:solidFill>
                  <a:schemeClr val="lt1"/>
                </a:solidFill>
                <a:latin typeface="Times New Roman"/>
                <a:ea typeface="Times New Roman"/>
                <a:cs typeface="Times New Roman"/>
                <a:sym typeface="Times New Roman"/>
              </a:rPr>
              <a:t>he set </a:t>
            </a:r>
            <a:r>
              <a:rPr b="0" i="0" lang="en-US" sz="2000" u="none" cap="none" strike="noStrike">
                <a:solidFill>
                  <a:schemeClr val="lt1"/>
                </a:solidFill>
                <a:latin typeface="Times New Roman"/>
                <a:ea typeface="Times New Roman"/>
                <a:cs typeface="Times New Roman"/>
                <a:sym typeface="Times New Roman"/>
              </a:rPr>
              <a:t>N4 (p) ∩ N4 (q) has no pixel whose values are from </a:t>
            </a:r>
            <a:r>
              <a:rPr b="1" i="0" lang="en-US" sz="2000" u="none" cap="none" strike="noStrike">
                <a:solidFill>
                  <a:srgbClr val="FFC000"/>
                </a:solidFill>
                <a:latin typeface="Times New Roman"/>
                <a:ea typeface="Times New Roman"/>
                <a:cs typeface="Times New Roman"/>
                <a:sym typeface="Times New Roman"/>
              </a:rPr>
              <a:t>V.</a:t>
            </a:r>
            <a:endParaRPr b="0" i="0" sz="2000" u="none" cap="none" strike="noStrike">
              <a:solidFill>
                <a:schemeClr val="lt1"/>
              </a:solidFill>
              <a:latin typeface="Times New Roman"/>
              <a:ea typeface="Times New Roman"/>
              <a:cs typeface="Times New Roman"/>
              <a:sym typeface="Times New Roman"/>
            </a:endParaRPr>
          </a:p>
        </p:txBody>
      </p:sp>
      <p:sp>
        <p:nvSpPr>
          <p:cNvPr id="375" name="Google Shape;375;p40"/>
          <p:cNvSpPr txBox="1"/>
          <p:nvPr/>
        </p:nvSpPr>
        <p:spPr>
          <a:xfrm>
            <a:off x="0" y="3672432"/>
            <a:ext cx="914400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Mixed adjacency </a:t>
            </a:r>
            <a:r>
              <a:rPr b="0" i="0" lang="en-US" sz="2000" u="none" cap="none" strike="noStrike">
                <a:solidFill>
                  <a:schemeClr val="lt1"/>
                </a:solidFill>
                <a:latin typeface="Times New Roman"/>
                <a:ea typeface="Times New Roman"/>
                <a:cs typeface="Times New Roman"/>
                <a:sym typeface="Times New Roman"/>
              </a:rPr>
              <a:t>is a modification of 8-adjacency ''introduced to eliminate the ambiguities that often arise when 8- adjacency is used. (eliminate multiple path connection)</a:t>
            </a:r>
            <a:endParaRPr b="0" i="0" sz="2000" u="none" cap="none" strike="noStrike">
              <a:solidFill>
                <a:schemeClr val="lt1"/>
              </a:solidFill>
              <a:latin typeface="Arial"/>
              <a:ea typeface="Arial"/>
              <a:cs typeface="Arial"/>
              <a:sym typeface="Arial"/>
            </a:endParaRPr>
          </a:p>
        </p:txBody>
      </p:sp>
    </p:spTree>
  </p:cSld>
  <p:clrMapOvr>
    <a:masterClrMapping/>
  </p:clrMapOvr>
  <p:transition>
    <p:fade thruBlk="1"/>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1"/>
          <p:cNvSpPr txBox="1"/>
          <p:nvPr/>
        </p:nvSpPr>
        <p:spPr>
          <a:xfrm>
            <a:off x="412230" y="194872"/>
            <a:ext cx="282564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4 adjacency </a:t>
            </a:r>
            <a:endParaRPr/>
          </a:p>
        </p:txBody>
      </p:sp>
      <p:graphicFrame>
        <p:nvGraphicFramePr>
          <p:cNvPr id="381" name="Google Shape;381;p41"/>
          <p:cNvGraphicFramePr/>
          <p:nvPr/>
        </p:nvGraphicFramePr>
        <p:xfrm>
          <a:off x="483432" y="1406045"/>
          <a:ext cx="3000000" cy="3000000"/>
        </p:xfrm>
        <a:graphic>
          <a:graphicData uri="http://schemas.openxmlformats.org/drawingml/2006/table">
            <a:tbl>
              <a:tblPr bandRow="1" firstRow="1">
                <a:noFill/>
                <a:tableStyleId>{979BE475-7191-4B5F-B133-15A57CA0C80E}</a:tableStyleId>
              </a:tblPr>
              <a:tblGrid>
                <a:gridCol w="562450"/>
                <a:gridCol w="562450"/>
                <a:gridCol w="562450"/>
                <a:gridCol w="562450"/>
              </a:tblGrid>
              <a:tr h="370850">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a:t>
                      </a:r>
                      <a:endParaRPr/>
                    </a:p>
                  </a:txBody>
                  <a:tcPr marT="45725" marB="45725" marR="91450" marL="91450">
                    <a:solidFill>
                      <a:srgbClr val="F7EBD5"/>
                    </a:solidFill>
                  </a:tcPr>
                </a:tc>
              </a:tr>
              <a:tr h="370850">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r>
              <a:tr h="370850">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r>
              <a:tr h="370850">
                <a:tc>
                  <a:txBody>
                    <a:bodyPr/>
                    <a:lstStyle/>
                    <a:p>
                      <a:pPr indent="0" lvl="0" marL="0" marR="0" rtl="0" algn="ctr">
                        <a:lnSpc>
                          <a:spcPct val="100000"/>
                        </a:lnSpc>
                        <a:spcBef>
                          <a:spcPts val="0"/>
                        </a:spcBef>
                        <a:spcAft>
                          <a:spcPts val="0"/>
                        </a:spcAft>
                        <a:buNone/>
                      </a:pPr>
                      <a:r>
                        <a:rPr lang="en-US" sz="1400" u="none" cap="none" strike="noStrike"/>
                        <a:t>1</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r>
            </a:tbl>
          </a:graphicData>
        </a:graphic>
      </p:graphicFrame>
      <p:sp>
        <p:nvSpPr>
          <p:cNvPr id="382" name="Google Shape;382;p41"/>
          <p:cNvSpPr txBox="1"/>
          <p:nvPr/>
        </p:nvSpPr>
        <p:spPr>
          <a:xfrm>
            <a:off x="843197" y="1098268"/>
            <a:ext cx="19637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FF0000"/>
                </a:solidFill>
                <a:latin typeface="Arial"/>
                <a:ea typeface="Arial"/>
                <a:cs typeface="Arial"/>
                <a:sym typeface="Arial"/>
              </a:rPr>
              <a:t>Binary Image </a:t>
            </a:r>
            <a:endParaRPr/>
          </a:p>
        </p:txBody>
      </p:sp>
      <p:sp>
        <p:nvSpPr>
          <p:cNvPr id="383" name="Google Shape;383;p41"/>
          <p:cNvSpPr txBox="1"/>
          <p:nvPr/>
        </p:nvSpPr>
        <p:spPr>
          <a:xfrm>
            <a:off x="963118" y="3009035"/>
            <a:ext cx="86193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C000"/>
                </a:solidFill>
                <a:latin typeface="Arial"/>
                <a:ea typeface="Arial"/>
                <a:cs typeface="Arial"/>
                <a:sym typeface="Arial"/>
              </a:rPr>
              <a:t>v={1}</a:t>
            </a:r>
            <a:endParaRPr/>
          </a:p>
        </p:txBody>
      </p:sp>
      <p:sp>
        <p:nvSpPr>
          <p:cNvPr id="384" name="Google Shape;384;p41"/>
          <p:cNvSpPr/>
          <p:nvPr/>
        </p:nvSpPr>
        <p:spPr>
          <a:xfrm>
            <a:off x="1686393" y="1799151"/>
            <a:ext cx="427219" cy="307777"/>
          </a:xfrm>
          <a:prstGeom prst="ellipse">
            <a:avLst/>
          </a:prstGeom>
          <a:noFill/>
          <a:ln cap="flat" cmpd="sng" w="25400">
            <a:solidFill>
              <a:srgbClr val="2A5E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385" name="Google Shape;385;p41"/>
          <p:cNvCxnSpPr/>
          <p:nvPr/>
        </p:nvCxnSpPr>
        <p:spPr>
          <a:xfrm>
            <a:off x="1900002" y="2006939"/>
            <a:ext cx="0" cy="234901"/>
          </a:xfrm>
          <a:prstGeom prst="straightConnector1">
            <a:avLst/>
          </a:prstGeom>
          <a:noFill/>
          <a:ln cap="flat" cmpd="sng" w="28575">
            <a:solidFill>
              <a:srgbClr val="FF0000"/>
            </a:solidFill>
            <a:prstDash val="solid"/>
            <a:round/>
            <a:headEnd len="sm" w="sm" type="none"/>
            <a:tailEnd len="med" w="med" type="triangle"/>
          </a:ln>
        </p:spPr>
      </p:cxnSp>
      <p:sp>
        <p:nvSpPr>
          <p:cNvPr id="386" name="Google Shape;386;p41"/>
          <p:cNvSpPr txBox="1"/>
          <p:nvPr/>
        </p:nvSpPr>
        <p:spPr>
          <a:xfrm>
            <a:off x="6122233" y="1098267"/>
            <a:ext cx="19637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FF0000"/>
                </a:solidFill>
                <a:latin typeface="Arial"/>
                <a:ea typeface="Arial"/>
                <a:cs typeface="Arial"/>
                <a:sym typeface="Arial"/>
              </a:rPr>
              <a:t>Gray Image </a:t>
            </a:r>
            <a:endParaRPr/>
          </a:p>
        </p:txBody>
      </p:sp>
      <p:graphicFrame>
        <p:nvGraphicFramePr>
          <p:cNvPr id="387" name="Google Shape;387;p41"/>
          <p:cNvGraphicFramePr/>
          <p:nvPr/>
        </p:nvGraphicFramePr>
        <p:xfrm>
          <a:off x="5687518" y="1459321"/>
          <a:ext cx="3000000" cy="3000000"/>
        </p:xfrm>
        <a:graphic>
          <a:graphicData uri="http://schemas.openxmlformats.org/drawingml/2006/table">
            <a:tbl>
              <a:tblPr bandRow="1" firstRow="1">
                <a:noFill/>
                <a:tableStyleId>{979BE475-7191-4B5F-B133-15A57CA0C80E}</a:tableStyleId>
              </a:tblPr>
              <a:tblGrid>
                <a:gridCol w="562450"/>
                <a:gridCol w="562450"/>
                <a:gridCol w="562450"/>
                <a:gridCol w="562450"/>
              </a:tblGrid>
              <a:tr h="370850">
                <a:tc>
                  <a:txBody>
                    <a:bodyPr/>
                    <a:lstStyle/>
                    <a:p>
                      <a:pPr indent="0" lvl="0" marL="0" marR="0" rtl="0" algn="ctr">
                        <a:lnSpc>
                          <a:spcPct val="100000"/>
                        </a:lnSpc>
                        <a:spcBef>
                          <a:spcPts val="0"/>
                        </a:spcBef>
                        <a:spcAft>
                          <a:spcPts val="0"/>
                        </a:spcAft>
                        <a:buNone/>
                      </a:pPr>
                      <a:r>
                        <a:rPr lang="en-US" sz="1400" u="none" cap="none" strike="noStrike"/>
                        <a:t>54</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100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8</a:t>
                      </a:r>
                      <a:endParaRPr/>
                    </a:p>
                  </a:txBody>
                  <a:tcPr marT="45725" marB="45725" marR="91450" marL="91450">
                    <a:solidFill>
                      <a:srgbClr val="F7EBD5"/>
                    </a:solidFill>
                  </a:tcPr>
                </a:tc>
              </a:tr>
              <a:tr h="370850">
                <a:tc>
                  <a:txBody>
                    <a:bodyPr/>
                    <a:lstStyle/>
                    <a:p>
                      <a:pPr indent="0" lvl="0" marL="0" marR="0" rtl="0" algn="ctr">
                        <a:lnSpc>
                          <a:spcPct val="100000"/>
                        </a:lnSpc>
                        <a:spcBef>
                          <a:spcPts val="0"/>
                        </a:spcBef>
                        <a:spcAft>
                          <a:spcPts val="0"/>
                        </a:spcAft>
                        <a:buNone/>
                      </a:pPr>
                      <a:r>
                        <a:rPr lang="en-US" sz="1400" u="none" cap="none" strike="noStrike"/>
                        <a:t>81</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150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2</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34</a:t>
                      </a:r>
                      <a:endParaRPr/>
                    </a:p>
                  </a:txBody>
                  <a:tcPr marT="45725" marB="45725" marR="91450" marL="91450">
                    <a:solidFill>
                      <a:srgbClr val="F7EBD5"/>
                    </a:solidFill>
                  </a:tcPr>
                </a:tc>
              </a:tr>
              <a:tr h="370850">
                <a:tc>
                  <a:txBody>
                    <a:bodyPr/>
                    <a:lstStyle/>
                    <a:p>
                      <a:pPr indent="0" lvl="0" marL="0" marR="0" rtl="0" algn="ctr">
                        <a:lnSpc>
                          <a:spcPct val="100000"/>
                        </a:lnSpc>
                        <a:spcBef>
                          <a:spcPts val="0"/>
                        </a:spcBef>
                        <a:spcAft>
                          <a:spcPts val="0"/>
                        </a:spcAft>
                        <a:buNone/>
                      </a:pPr>
                      <a:r>
                        <a:rPr lang="en-US" sz="1400" u="none" cap="none" strike="noStrike"/>
                        <a:t>200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201</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3</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45</a:t>
                      </a:r>
                      <a:endParaRPr/>
                    </a:p>
                  </a:txBody>
                  <a:tcPr marT="45725" marB="45725" marR="91450" marL="91450">
                    <a:solidFill>
                      <a:srgbClr val="F7EBD5"/>
                    </a:solidFill>
                  </a:tcPr>
                </a:tc>
              </a:tr>
              <a:tr h="370850">
                <a:tc>
                  <a:txBody>
                    <a:bodyPr/>
                    <a:lstStyle/>
                    <a:p>
                      <a:pPr indent="0" lvl="0" marL="0" marR="0" rtl="0" algn="ctr">
                        <a:lnSpc>
                          <a:spcPct val="100000"/>
                        </a:lnSpc>
                        <a:spcBef>
                          <a:spcPts val="0"/>
                        </a:spcBef>
                        <a:spcAft>
                          <a:spcPts val="0"/>
                        </a:spcAft>
                        <a:buNone/>
                      </a:pPr>
                      <a:r>
                        <a:rPr lang="en-US" sz="1400" u="none" cap="none" strike="noStrike"/>
                        <a:t>7</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70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147</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56</a:t>
                      </a:r>
                      <a:endParaRPr/>
                    </a:p>
                  </a:txBody>
                  <a:tcPr marT="45725" marB="45725" marR="91450" marL="91450">
                    <a:solidFill>
                      <a:srgbClr val="F7EBD5"/>
                    </a:solidFill>
                  </a:tcPr>
                </a:tc>
              </a:tr>
            </a:tbl>
          </a:graphicData>
        </a:graphic>
      </p:graphicFrame>
      <p:sp>
        <p:nvSpPr>
          <p:cNvPr id="388" name="Google Shape;388;p41"/>
          <p:cNvSpPr txBox="1"/>
          <p:nvPr/>
        </p:nvSpPr>
        <p:spPr>
          <a:xfrm>
            <a:off x="5922988" y="2980966"/>
            <a:ext cx="23622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C000"/>
                </a:solidFill>
                <a:latin typeface="Arial"/>
                <a:ea typeface="Arial"/>
                <a:cs typeface="Arial"/>
                <a:sym typeface="Arial"/>
              </a:rPr>
              <a:t>v={1,2,3,4,5,6,7,8,9,10}</a:t>
            </a:r>
            <a:endParaRPr/>
          </a:p>
        </p:txBody>
      </p:sp>
      <p:sp>
        <p:nvSpPr>
          <p:cNvPr id="389" name="Google Shape;389;p41"/>
          <p:cNvSpPr/>
          <p:nvPr/>
        </p:nvSpPr>
        <p:spPr>
          <a:xfrm>
            <a:off x="6921709" y="1885013"/>
            <a:ext cx="427219" cy="217357"/>
          </a:xfrm>
          <a:prstGeom prst="ellipse">
            <a:avLst/>
          </a:prstGeom>
          <a:noFill/>
          <a:ln cap="flat" cmpd="sng" w="25400">
            <a:solidFill>
              <a:srgbClr val="2A5E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390" name="Google Shape;390;p41"/>
          <p:cNvCxnSpPr/>
          <p:nvPr/>
        </p:nvCxnSpPr>
        <p:spPr>
          <a:xfrm flipH="1">
            <a:off x="7081603" y="2097346"/>
            <a:ext cx="1" cy="252519"/>
          </a:xfrm>
          <a:prstGeom prst="straightConnector1">
            <a:avLst/>
          </a:prstGeom>
          <a:noFill/>
          <a:ln cap="flat" cmpd="sng" w="19050">
            <a:solidFill>
              <a:srgbClr val="FF0000"/>
            </a:solidFill>
            <a:prstDash val="solid"/>
            <a:round/>
            <a:headEnd len="sm" w="sm" type="none"/>
            <a:tailEnd len="med" w="med" type="triangle"/>
          </a:ln>
        </p:spPr>
      </p:cxn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2"/>
          <p:cNvSpPr txBox="1"/>
          <p:nvPr/>
        </p:nvSpPr>
        <p:spPr>
          <a:xfrm>
            <a:off x="412230" y="194872"/>
            <a:ext cx="282564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8 adjacency </a:t>
            </a:r>
            <a:endParaRPr/>
          </a:p>
        </p:txBody>
      </p:sp>
      <p:graphicFrame>
        <p:nvGraphicFramePr>
          <p:cNvPr id="396" name="Google Shape;396;p42"/>
          <p:cNvGraphicFramePr/>
          <p:nvPr/>
        </p:nvGraphicFramePr>
        <p:xfrm>
          <a:off x="483432" y="1406045"/>
          <a:ext cx="3000000" cy="3000000"/>
        </p:xfrm>
        <a:graphic>
          <a:graphicData uri="http://schemas.openxmlformats.org/drawingml/2006/table">
            <a:tbl>
              <a:tblPr bandRow="1" firstRow="1">
                <a:noFill/>
                <a:tableStyleId>{979BE475-7191-4B5F-B133-15A57CA0C80E}</a:tableStyleId>
              </a:tblPr>
              <a:tblGrid>
                <a:gridCol w="562450"/>
                <a:gridCol w="562450"/>
                <a:gridCol w="562450"/>
                <a:gridCol w="562450"/>
              </a:tblGrid>
              <a:tr h="370850">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a:t>
                      </a:r>
                      <a:endParaRPr/>
                    </a:p>
                  </a:txBody>
                  <a:tcPr marT="45725" marB="45725" marR="91450" marL="91450">
                    <a:solidFill>
                      <a:srgbClr val="F7EBD5"/>
                    </a:solidFill>
                  </a:tcPr>
                </a:tc>
              </a:tr>
              <a:tr h="370850">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r>
              <a:tr h="370850">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r>
              <a:tr h="370850">
                <a:tc>
                  <a:txBody>
                    <a:bodyPr/>
                    <a:lstStyle/>
                    <a:p>
                      <a:pPr indent="0" lvl="0" marL="0" marR="0" rtl="0" algn="ctr">
                        <a:lnSpc>
                          <a:spcPct val="100000"/>
                        </a:lnSpc>
                        <a:spcBef>
                          <a:spcPts val="0"/>
                        </a:spcBef>
                        <a:spcAft>
                          <a:spcPts val="0"/>
                        </a:spcAft>
                        <a:buNone/>
                      </a:pPr>
                      <a:r>
                        <a:rPr lang="en-US" sz="1400" u="none" cap="none" strike="noStrike"/>
                        <a:t>1</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0</a:t>
                      </a:r>
                      <a:endParaRPr/>
                    </a:p>
                  </a:txBody>
                  <a:tcPr marT="45725" marB="45725" marR="91450" marL="91450">
                    <a:solidFill>
                      <a:srgbClr val="F7EBD5"/>
                    </a:solidFill>
                  </a:tcPr>
                </a:tc>
              </a:tr>
            </a:tbl>
          </a:graphicData>
        </a:graphic>
      </p:graphicFrame>
      <p:sp>
        <p:nvSpPr>
          <p:cNvPr id="397" name="Google Shape;397;p42"/>
          <p:cNvSpPr txBox="1"/>
          <p:nvPr/>
        </p:nvSpPr>
        <p:spPr>
          <a:xfrm>
            <a:off x="843197" y="1098268"/>
            <a:ext cx="19637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FF0000"/>
                </a:solidFill>
                <a:latin typeface="Arial"/>
                <a:ea typeface="Arial"/>
                <a:cs typeface="Arial"/>
                <a:sym typeface="Arial"/>
              </a:rPr>
              <a:t>Binary Image </a:t>
            </a:r>
            <a:endParaRPr/>
          </a:p>
        </p:txBody>
      </p:sp>
      <p:sp>
        <p:nvSpPr>
          <p:cNvPr id="398" name="Google Shape;398;p42"/>
          <p:cNvSpPr txBox="1"/>
          <p:nvPr/>
        </p:nvSpPr>
        <p:spPr>
          <a:xfrm>
            <a:off x="963118" y="3009035"/>
            <a:ext cx="86193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C000"/>
                </a:solidFill>
                <a:latin typeface="Arial"/>
                <a:ea typeface="Arial"/>
                <a:cs typeface="Arial"/>
                <a:sym typeface="Arial"/>
              </a:rPr>
              <a:t>v={1}</a:t>
            </a:r>
            <a:endParaRPr/>
          </a:p>
        </p:txBody>
      </p:sp>
      <p:sp>
        <p:nvSpPr>
          <p:cNvPr id="399" name="Google Shape;399;p42"/>
          <p:cNvSpPr/>
          <p:nvPr/>
        </p:nvSpPr>
        <p:spPr>
          <a:xfrm>
            <a:off x="1686393" y="1815243"/>
            <a:ext cx="427219" cy="307777"/>
          </a:xfrm>
          <a:prstGeom prst="ellipse">
            <a:avLst/>
          </a:prstGeom>
          <a:noFill/>
          <a:ln cap="flat" cmpd="sng" w="25400">
            <a:solidFill>
              <a:srgbClr val="2A5E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00" name="Google Shape;400;p42"/>
          <p:cNvCxnSpPr/>
          <p:nvPr/>
        </p:nvCxnSpPr>
        <p:spPr>
          <a:xfrm>
            <a:off x="1900002" y="2044398"/>
            <a:ext cx="0" cy="234107"/>
          </a:xfrm>
          <a:prstGeom prst="straightConnector1">
            <a:avLst/>
          </a:prstGeom>
          <a:noFill/>
          <a:ln cap="flat" cmpd="sng" w="28575">
            <a:solidFill>
              <a:srgbClr val="FF0000"/>
            </a:solidFill>
            <a:prstDash val="solid"/>
            <a:round/>
            <a:headEnd len="sm" w="sm" type="none"/>
            <a:tailEnd len="med" w="med" type="triangle"/>
          </a:ln>
        </p:spPr>
      </p:cxnSp>
      <p:sp>
        <p:nvSpPr>
          <p:cNvPr id="401" name="Google Shape;401;p42"/>
          <p:cNvSpPr txBox="1"/>
          <p:nvPr/>
        </p:nvSpPr>
        <p:spPr>
          <a:xfrm>
            <a:off x="6122233" y="1098267"/>
            <a:ext cx="19637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FF0000"/>
                </a:solidFill>
                <a:latin typeface="Arial"/>
                <a:ea typeface="Arial"/>
                <a:cs typeface="Arial"/>
                <a:sym typeface="Arial"/>
              </a:rPr>
              <a:t>Gray Image </a:t>
            </a:r>
            <a:endParaRPr/>
          </a:p>
        </p:txBody>
      </p:sp>
      <p:graphicFrame>
        <p:nvGraphicFramePr>
          <p:cNvPr id="402" name="Google Shape;402;p42"/>
          <p:cNvGraphicFramePr/>
          <p:nvPr/>
        </p:nvGraphicFramePr>
        <p:xfrm>
          <a:off x="5687518" y="1459321"/>
          <a:ext cx="3000000" cy="3000000"/>
        </p:xfrm>
        <a:graphic>
          <a:graphicData uri="http://schemas.openxmlformats.org/drawingml/2006/table">
            <a:tbl>
              <a:tblPr bandRow="1" firstRow="1">
                <a:noFill/>
                <a:tableStyleId>{979BE475-7191-4B5F-B133-15A57CA0C80E}</a:tableStyleId>
              </a:tblPr>
              <a:tblGrid>
                <a:gridCol w="562450"/>
                <a:gridCol w="562450"/>
                <a:gridCol w="562450"/>
                <a:gridCol w="562450"/>
              </a:tblGrid>
              <a:tr h="370850">
                <a:tc>
                  <a:txBody>
                    <a:bodyPr/>
                    <a:lstStyle/>
                    <a:p>
                      <a:pPr indent="0" lvl="0" marL="0" marR="0" rtl="0" algn="ctr">
                        <a:lnSpc>
                          <a:spcPct val="100000"/>
                        </a:lnSpc>
                        <a:spcBef>
                          <a:spcPts val="0"/>
                        </a:spcBef>
                        <a:spcAft>
                          <a:spcPts val="0"/>
                        </a:spcAft>
                        <a:buNone/>
                      </a:pPr>
                      <a:r>
                        <a:rPr lang="en-US" sz="1400" u="none" cap="none" strike="noStrike"/>
                        <a:t>54</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100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8</a:t>
                      </a:r>
                      <a:endParaRPr/>
                    </a:p>
                  </a:txBody>
                  <a:tcPr marT="45725" marB="45725" marR="91450" marL="91450">
                    <a:solidFill>
                      <a:srgbClr val="F7EBD5"/>
                    </a:solidFill>
                  </a:tcPr>
                </a:tc>
              </a:tr>
              <a:tr h="370850">
                <a:tc>
                  <a:txBody>
                    <a:bodyPr/>
                    <a:lstStyle/>
                    <a:p>
                      <a:pPr indent="0" lvl="0" marL="0" marR="0" rtl="0" algn="ctr">
                        <a:lnSpc>
                          <a:spcPct val="100000"/>
                        </a:lnSpc>
                        <a:spcBef>
                          <a:spcPts val="0"/>
                        </a:spcBef>
                        <a:spcAft>
                          <a:spcPts val="0"/>
                        </a:spcAft>
                        <a:buNone/>
                      </a:pPr>
                      <a:r>
                        <a:rPr lang="en-US" sz="1400" u="none" cap="none" strike="noStrike"/>
                        <a:t>81</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150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2</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34</a:t>
                      </a:r>
                      <a:endParaRPr/>
                    </a:p>
                  </a:txBody>
                  <a:tcPr marT="45725" marB="45725" marR="91450" marL="91450">
                    <a:solidFill>
                      <a:srgbClr val="F7EBD5"/>
                    </a:solidFill>
                  </a:tcPr>
                </a:tc>
              </a:tr>
              <a:tr h="370850">
                <a:tc>
                  <a:txBody>
                    <a:bodyPr/>
                    <a:lstStyle/>
                    <a:p>
                      <a:pPr indent="0" lvl="0" marL="0" marR="0" rtl="0" algn="ctr">
                        <a:lnSpc>
                          <a:spcPct val="100000"/>
                        </a:lnSpc>
                        <a:spcBef>
                          <a:spcPts val="0"/>
                        </a:spcBef>
                        <a:spcAft>
                          <a:spcPts val="0"/>
                        </a:spcAft>
                        <a:buNone/>
                      </a:pPr>
                      <a:r>
                        <a:rPr lang="en-US" sz="1400" u="none" cap="none" strike="noStrike"/>
                        <a:t>200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201</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3</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45</a:t>
                      </a:r>
                      <a:endParaRPr/>
                    </a:p>
                  </a:txBody>
                  <a:tcPr marT="45725" marB="45725" marR="91450" marL="91450">
                    <a:solidFill>
                      <a:srgbClr val="F7EBD5"/>
                    </a:solidFill>
                  </a:tcPr>
                </a:tc>
              </a:tr>
              <a:tr h="370850">
                <a:tc>
                  <a:txBody>
                    <a:bodyPr/>
                    <a:lstStyle/>
                    <a:p>
                      <a:pPr indent="0" lvl="0" marL="0" marR="0" rtl="0" algn="ctr">
                        <a:lnSpc>
                          <a:spcPct val="100000"/>
                        </a:lnSpc>
                        <a:spcBef>
                          <a:spcPts val="0"/>
                        </a:spcBef>
                        <a:spcAft>
                          <a:spcPts val="0"/>
                        </a:spcAft>
                        <a:buNone/>
                      </a:pPr>
                      <a:r>
                        <a:rPr lang="en-US" sz="1400" u="none" cap="none" strike="noStrike"/>
                        <a:t>7</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70</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147</a:t>
                      </a:r>
                      <a:endParaRPr/>
                    </a:p>
                  </a:txBody>
                  <a:tcPr marT="45725" marB="45725" marR="91450" marL="91450">
                    <a:solidFill>
                      <a:srgbClr val="F7EBD5"/>
                    </a:solidFill>
                  </a:tcPr>
                </a:tc>
                <a:tc>
                  <a:txBody>
                    <a:bodyPr/>
                    <a:lstStyle/>
                    <a:p>
                      <a:pPr indent="0" lvl="0" marL="0" marR="0" rtl="0" algn="ctr">
                        <a:lnSpc>
                          <a:spcPct val="100000"/>
                        </a:lnSpc>
                        <a:spcBef>
                          <a:spcPts val="0"/>
                        </a:spcBef>
                        <a:spcAft>
                          <a:spcPts val="0"/>
                        </a:spcAft>
                        <a:buNone/>
                      </a:pPr>
                      <a:r>
                        <a:rPr lang="en-US" sz="1400" u="none" cap="none" strike="noStrike"/>
                        <a:t>56</a:t>
                      </a:r>
                      <a:endParaRPr/>
                    </a:p>
                  </a:txBody>
                  <a:tcPr marT="45725" marB="45725" marR="91450" marL="91450">
                    <a:solidFill>
                      <a:srgbClr val="F7EBD5"/>
                    </a:solidFill>
                  </a:tcPr>
                </a:tc>
              </a:tr>
            </a:tbl>
          </a:graphicData>
        </a:graphic>
      </p:graphicFrame>
      <p:sp>
        <p:nvSpPr>
          <p:cNvPr id="403" name="Google Shape;403;p42"/>
          <p:cNvSpPr txBox="1"/>
          <p:nvPr/>
        </p:nvSpPr>
        <p:spPr>
          <a:xfrm>
            <a:off x="5922988" y="2980966"/>
            <a:ext cx="23622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C000"/>
                </a:solidFill>
                <a:latin typeface="Arial"/>
                <a:ea typeface="Arial"/>
                <a:cs typeface="Arial"/>
                <a:sym typeface="Arial"/>
              </a:rPr>
              <a:t>v={1,2,3,4,5,6,7,8,9,10}</a:t>
            </a:r>
            <a:endParaRPr/>
          </a:p>
        </p:txBody>
      </p:sp>
      <p:sp>
        <p:nvSpPr>
          <p:cNvPr id="404" name="Google Shape;404;p42"/>
          <p:cNvSpPr/>
          <p:nvPr/>
        </p:nvSpPr>
        <p:spPr>
          <a:xfrm>
            <a:off x="6921709" y="1885013"/>
            <a:ext cx="427219" cy="217357"/>
          </a:xfrm>
          <a:prstGeom prst="ellipse">
            <a:avLst/>
          </a:prstGeom>
          <a:noFill/>
          <a:ln cap="flat" cmpd="sng" w="25400">
            <a:solidFill>
              <a:srgbClr val="2A5E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05" name="Google Shape;405;p42"/>
          <p:cNvCxnSpPr/>
          <p:nvPr/>
        </p:nvCxnSpPr>
        <p:spPr>
          <a:xfrm flipH="1">
            <a:off x="7081603" y="2097346"/>
            <a:ext cx="1" cy="252519"/>
          </a:xfrm>
          <a:prstGeom prst="straightConnector1">
            <a:avLst/>
          </a:prstGeom>
          <a:noFill/>
          <a:ln cap="flat" cmpd="sng" w="19050">
            <a:solidFill>
              <a:srgbClr val="FF0000"/>
            </a:solidFill>
            <a:prstDash val="solid"/>
            <a:round/>
            <a:headEnd len="sm" w="sm" type="none"/>
            <a:tailEnd len="med" w="med" type="triangle"/>
          </a:ln>
        </p:spPr>
      </p:cxnSp>
      <p:cxnSp>
        <p:nvCxnSpPr>
          <p:cNvPr id="406" name="Google Shape;406;p42"/>
          <p:cNvCxnSpPr/>
          <p:nvPr/>
        </p:nvCxnSpPr>
        <p:spPr>
          <a:xfrm flipH="1" rot="10800000">
            <a:off x="2030433" y="1570647"/>
            <a:ext cx="377360" cy="286349"/>
          </a:xfrm>
          <a:prstGeom prst="straightConnector1">
            <a:avLst/>
          </a:prstGeom>
          <a:noFill/>
          <a:ln cap="flat" cmpd="sng" w="28575">
            <a:solidFill>
              <a:srgbClr val="FF0000"/>
            </a:solidFill>
            <a:prstDash val="solid"/>
            <a:round/>
            <a:headEnd len="sm" w="sm" type="none"/>
            <a:tailEnd len="med" w="med" type="triangle"/>
          </a:ln>
        </p:spPr>
      </p:cxnSp>
      <p:cxnSp>
        <p:nvCxnSpPr>
          <p:cNvPr id="407" name="Google Shape;407;p42"/>
          <p:cNvCxnSpPr>
            <a:stCxn id="404" idx="7"/>
          </p:cNvCxnSpPr>
          <p:nvPr/>
        </p:nvCxnSpPr>
        <p:spPr>
          <a:xfrm flipH="1" rot="10800000">
            <a:off x="7286363" y="1570644"/>
            <a:ext cx="313800" cy="346200"/>
          </a:xfrm>
          <a:prstGeom prst="straightConnector1">
            <a:avLst/>
          </a:prstGeom>
          <a:noFill/>
          <a:ln cap="flat" cmpd="sng" w="28575">
            <a:solidFill>
              <a:srgbClr val="FF0000"/>
            </a:solidFill>
            <a:prstDash val="solid"/>
            <a:round/>
            <a:headEnd len="sm" w="sm" type="none"/>
            <a:tailEnd len="med" w="med" type="triangle"/>
          </a:ln>
        </p:spPr>
      </p:cxnSp>
      <p:cxnSp>
        <p:nvCxnSpPr>
          <p:cNvPr id="408" name="Google Shape;408;p42"/>
          <p:cNvCxnSpPr/>
          <p:nvPr/>
        </p:nvCxnSpPr>
        <p:spPr>
          <a:xfrm rot="10800000">
            <a:off x="6588177" y="1713821"/>
            <a:ext cx="333532" cy="203023"/>
          </a:xfrm>
          <a:prstGeom prst="straightConnector1">
            <a:avLst/>
          </a:prstGeom>
          <a:noFill/>
          <a:ln cap="flat" cmpd="sng" w="19050">
            <a:solidFill>
              <a:srgbClr val="FF0000"/>
            </a:solidFill>
            <a:prstDash val="solid"/>
            <a:round/>
            <a:headEnd len="sm" w="sm" type="none"/>
            <a:tailEnd len="med" w="med" type="triangle"/>
          </a:ln>
        </p:spPr>
      </p:cxnSp>
      <p:cxnSp>
        <p:nvCxnSpPr>
          <p:cNvPr id="409" name="Google Shape;409;p42"/>
          <p:cNvCxnSpPr/>
          <p:nvPr/>
        </p:nvCxnSpPr>
        <p:spPr>
          <a:xfrm rot="10800000">
            <a:off x="1359260" y="1616044"/>
            <a:ext cx="376992" cy="199199"/>
          </a:xfrm>
          <a:prstGeom prst="straightConnector1">
            <a:avLst/>
          </a:prstGeom>
          <a:noFill/>
          <a:ln cap="flat" cmpd="sng" w="19050">
            <a:solidFill>
              <a:srgbClr val="FF0000"/>
            </a:solidFill>
            <a:prstDash val="solid"/>
            <a:round/>
            <a:headEnd len="sm" w="sm" type="none"/>
            <a:tailEnd len="med" w="med" type="triangle"/>
          </a:ln>
        </p:spPr>
      </p:cxnSp>
      <p:sp>
        <p:nvSpPr>
          <p:cNvPr id="410" name="Google Shape;410;p42"/>
          <p:cNvSpPr txBox="1"/>
          <p:nvPr/>
        </p:nvSpPr>
        <p:spPr>
          <a:xfrm>
            <a:off x="483433" y="2487555"/>
            <a:ext cx="47968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FF0000"/>
                </a:solidFill>
                <a:latin typeface="Arial"/>
                <a:ea typeface="Arial"/>
                <a:cs typeface="Arial"/>
                <a:sym typeface="Arial"/>
              </a:rPr>
              <a:t> x</a:t>
            </a:r>
            <a:endParaRPr/>
          </a:p>
        </p:txBody>
      </p:sp>
      <p:sp>
        <p:nvSpPr>
          <p:cNvPr id="411" name="Google Shape;411;p42"/>
          <p:cNvSpPr txBox="1"/>
          <p:nvPr/>
        </p:nvSpPr>
        <p:spPr>
          <a:xfrm>
            <a:off x="5668779" y="2467772"/>
            <a:ext cx="47968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FF0000"/>
                </a:solidFill>
                <a:latin typeface="Arial"/>
                <a:ea typeface="Arial"/>
                <a:cs typeface="Arial"/>
                <a:sym typeface="Arial"/>
              </a:rPr>
              <a:t> x</a:t>
            </a:r>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3"/>
          <p:cNvSpPr txBox="1"/>
          <p:nvPr/>
        </p:nvSpPr>
        <p:spPr>
          <a:xfrm>
            <a:off x="412230" y="194872"/>
            <a:ext cx="282564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m adjacency </a:t>
            </a:r>
            <a:endParaRPr/>
          </a:p>
        </p:txBody>
      </p:sp>
      <p:sp>
        <p:nvSpPr>
          <p:cNvPr id="417" name="Google Shape;417;p43"/>
          <p:cNvSpPr txBox="1"/>
          <p:nvPr/>
        </p:nvSpPr>
        <p:spPr>
          <a:xfrm>
            <a:off x="550888" y="1060793"/>
            <a:ext cx="19637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FF0000"/>
                </a:solidFill>
                <a:latin typeface="Arial"/>
                <a:ea typeface="Arial"/>
                <a:cs typeface="Arial"/>
                <a:sym typeface="Arial"/>
              </a:rPr>
              <a:t>Binary Image </a:t>
            </a:r>
            <a:endParaRPr/>
          </a:p>
        </p:txBody>
      </p:sp>
      <p:sp>
        <p:nvSpPr>
          <p:cNvPr id="418" name="Google Shape;418;p43"/>
          <p:cNvSpPr txBox="1"/>
          <p:nvPr/>
        </p:nvSpPr>
        <p:spPr>
          <a:xfrm>
            <a:off x="963118" y="3009035"/>
            <a:ext cx="86193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C000"/>
                </a:solidFill>
                <a:latin typeface="Arial"/>
                <a:ea typeface="Arial"/>
                <a:cs typeface="Arial"/>
                <a:sym typeface="Arial"/>
              </a:rPr>
              <a:t>v={1}</a:t>
            </a:r>
            <a:endParaRPr/>
          </a:p>
        </p:txBody>
      </p:sp>
      <p:graphicFrame>
        <p:nvGraphicFramePr>
          <p:cNvPr id="419" name="Google Shape;419;p43"/>
          <p:cNvGraphicFramePr/>
          <p:nvPr/>
        </p:nvGraphicFramePr>
        <p:xfrm>
          <a:off x="612098" y="1441210"/>
          <a:ext cx="3000000" cy="3000000"/>
        </p:xfrm>
        <a:graphic>
          <a:graphicData uri="http://schemas.openxmlformats.org/drawingml/2006/table">
            <a:tbl>
              <a:tblPr bandRow="1" firstRow="1">
                <a:noFill/>
                <a:tableStyleId>{979BE475-7191-4B5F-B133-15A57CA0C80E}</a:tableStyleId>
              </a:tblPr>
              <a:tblGrid>
                <a:gridCol w="613775"/>
                <a:gridCol w="613775"/>
                <a:gridCol w="613775"/>
              </a:tblGrid>
              <a:tr h="370850">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r>
              <a:tr h="370850">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r>
              <a:tr h="177800">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r>
            </a:tbl>
          </a:graphicData>
        </a:graphic>
      </p:graphicFrame>
      <p:sp>
        <p:nvSpPr>
          <p:cNvPr id="420" name="Google Shape;420;p43"/>
          <p:cNvSpPr/>
          <p:nvPr/>
        </p:nvSpPr>
        <p:spPr>
          <a:xfrm>
            <a:off x="1317258" y="1852024"/>
            <a:ext cx="430967" cy="224852"/>
          </a:xfrm>
          <a:prstGeom prst="ellipse">
            <a:avLst/>
          </a:prstGeom>
          <a:noFill/>
          <a:ln cap="flat" cmpd="sng" w="25400">
            <a:solidFill>
              <a:srgbClr val="2A5E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21" name="Google Shape;421;p43"/>
          <p:cNvCxnSpPr/>
          <p:nvPr/>
        </p:nvCxnSpPr>
        <p:spPr>
          <a:xfrm>
            <a:off x="1611443" y="2076876"/>
            <a:ext cx="464695" cy="276580"/>
          </a:xfrm>
          <a:prstGeom prst="straightConnector1">
            <a:avLst/>
          </a:prstGeom>
          <a:noFill/>
          <a:ln cap="flat" cmpd="sng" w="19050">
            <a:solidFill>
              <a:srgbClr val="FF0000"/>
            </a:solidFill>
            <a:prstDash val="solid"/>
            <a:round/>
            <a:headEnd len="sm" w="sm" type="none"/>
            <a:tailEnd len="sm" w="sm" type="none"/>
          </a:ln>
        </p:spPr>
      </p:cxnSp>
      <p:cxnSp>
        <p:nvCxnSpPr>
          <p:cNvPr id="422" name="Google Shape;422;p43"/>
          <p:cNvCxnSpPr/>
          <p:nvPr/>
        </p:nvCxnSpPr>
        <p:spPr>
          <a:xfrm rot="10800000">
            <a:off x="1532741" y="1596452"/>
            <a:ext cx="0" cy="255572"/>
          </a:xfrm>
          <a:prstGeom prst="straightConnector1">
            <a:avLst/>
          </a:prstGeom>
          <a:noFill/>
          <a:ln cap="flat" cmpd="sng" w="28575">
            <a:solidFill>
              <a:srgbClr val="FF0000"/>
            </a:solidFill>
            <a:prstDash val="solid"/>
            <a:round/>
            <a:headEnd len="sm" w="sm" type="none"/>
            <a:tailEnd len="sm" w="sm" type="none"/>
          </a:ln>
        </p:spPr>
      </p:cxnSp>
      <p:cxnSp>
        <p:nvCxnSpPr>
          <p:cNvPr id="423" name="Google Shape;423;p43"/>
          <p:cNvCxnSpPr/>
          <p:nvPr/>
        </p:nvCxnSpPr>
        <p:spPr>
          <a:xfrm flipH="1" rot="10800000">
            <a:off x="1721363" y="1555531"/>
            <a:ext cx="402864" cy="367998"/>
          </a:xfrm>
          <a:prstGeom prst="straightConnector1">
            <a:avLst/>
          </a:prstGeom>
          <a:noFill/>
          <a:ln cap="flat" cmpd="sng" w="12700">
            <a:solidFill>
              <a:srgbClr val="FF0000"/>
            </a:solidFill>
            <a:prstDash val="dash"/>
            <a:round/>
            <a:headEnd len="sm" w="sm" type="none"/>
            <a:tailEnd len="sm" w="sm" type="none"/>
          </a:ln>
        </p:spPr>
      </p:cxnSp>
      <p:cxnSp>
        <p:nvCxnSpPr>
          <p:cNvPr id="424" name="Google Shape;424;p43"/>
          <p:cNvCxnSpPr/>
          <p:nvPr/>
        </p:nvCxnSpPr>
        <p:spPr>
          <a:xfrm>
            <a:off x="1611443" y="1596452"/>
            <a:ext cx="512784" cy="0"/>
          </a:xfrm>
          <a:prstGeom prst="straightConnector1">
            <a:avLst/>
          </a:prstGeom>
          <a:noFill/>
          <a:ln cap="flat" cmpd="sng" w="19050">
            <a:solidFill>
              <a:srgbClr val="FF0000"/>
            </a:solidFill>
            <a:prstDash val="dash"/>
            <a:round/>
            <a:headEnd len="sm" w="sm" type="none"/>
            <a:tailEnd len="sm" w="sm" type="none"/>
          </a:ln>
        </p:spPr>
      </p:cxnSp>
      <p:sp>
        <p:nvSpPr>
          <p:cNvPr id="425" name="Google Shape;425;p43"/>
          <p:cNvSpPr txBox="1"/>
          <p:nvPr/>
        </p:nvSpPr>
        <p:spPr>
          <a:xfrm>
            <a:off x="2054268" y="1175669"/>
            <a:ext cx="139408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0000"/>
                </a:solidFill>
                <a:latin typeface="Arial"/>
                <a:ea typeface="Arial"/>
                <a:cs typeface="Arial"/>
                <a:sym typeface="Arial"/>
              </a:rPr>
              <a:t>Ambiguity</a:t>
            </a:r>
            <a:r>
              <a:rPr b="0" i="0" lang="en-US" sz="1400" u="none" cap="none" strike="noStrike">
                <a:solidFill>
                  <a:srgbClr val="000000"/>
                </a:solidFill>
                <a:latin typeface="Arial"/>
                <a:ea typeface="Arial"/>
                <a:cs typeface="Arial"/>
                <a:sym typeface="Arial"/>
              </a:rPr>
              <a:t> </a:t>
            </a:r>
            <a:endParaRPr/>
          </a:p>
        </p:txBody>
      </p:sp>
      <p:sp>
        <p:nvSpPr>
          <p:cNvPr id="426" name="Google Shape;426;p43"/>
          <p:cNvSpPr txBox="1"/>
          <p:nvPr/>
        </p:nvSpPr>
        <p:spPr>
          <a:xfrm>
            <a:off x="3237875" y="944380"/>
            <a:ext cx="559133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If 4 adjacency and 8 adjacency are possible at the same time priority is for 4 adjacency </a:t>
            </a:r>
            <a:endParaRPr/>
          </a:p>
        </p:txBody>
      </p:sp>
      <p:graphicFrame>
        <p:nvGraphicFramePr>
          <p:cNvPr id="427" name="Google Shape;427;p43"/>
          <p:cNvGraphicFramePr/>
          <p:nvPr/>
        </p:nvGraphicFramePr>
        <p:xfrm>
          <a:off x="5831173" y="2116443"/>
          <a:ext cx="3000000" cy="3000000"/>
        </p:xfrm>
        <a:graphic>
          <a:graphicData uri="http://schemas.openxmlformats.org/drawingml/2006/table">
            <a:tbl>
              <a:tblPr bandRow="1" firstRow="1">
                <a:noFill/>
                <a:tableStyleId>{979BE475-7191-4B5F-B133-15A57CA0C80E}</a:tableStyleId>
              </a:tblPr>
              <a:tblGrid>
                <a:gridCol w="613775"/>
                <a:gridCol w="613775"/>
                <a:gridCol w="613775"/>
              </a:tblGrid>
              <a:tr h="370850">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r>
              <a:tr h="370850">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r>
              <a:tr h="177800">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r>
            </a:tbl>
          </a:graphicData>
        </a:graphic>
      </p:graphicFrame>
      <p:sp>
        <p:nvSpPr>
          <p:cNvPr id="428" name="Google Shape;428;p43"/>
          <p:cNvSpPr/>
          <p:nvPr/>
        </p:nvSpPr>
        <p:spPr>
          <a:xfrm>
            <a:off x="6536333" y="2527257"/>
            <a:ext cx="430967" cy="224852"/>
          </a:xfrm>
          <a:prstGeom prst="ellipse">
            <a:avLst/>
          </a:prstGeom>
          <a:noFill/>
          <a:ln cap="flat" cmpd="sng" w="25400">
            <a:solidFill>
              <a:srgbClr val="2A5E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29" name="Google Shape;429;p43"/>
          <p:cNvCxnSpPr/>
          <p:nvPr/>
        </p:nvCxnSpPr>
        <p:spPr>
          <a:xfrm>
            <a:off x="6855185" y="2752109"/>
            <a:ext cx="464695" cy="276580"/>
          </a:xfrm>
          <a:prstGeom prst="straightConnector1">
            <a:avLst/>
          </a:prstGeom>
          <a:noFill/>
          <a:ln cap="flat" cmpd="sng" w="19050">
            <a:solidFill>
              <a:srgbClr val="FF0000"/>
            </a:solidFill>
            <a:prstDash val="solid"/>
            <a:round/>
            <a:headEnd len="sm" w="sm" type="none"/>
            <a:tailEnd len="sm" w="sm" type="none"/>
          </a:ln>
        </p:spPr>
      </p:cxnSp>
      <p:cxnSp>
        <p:nvCxnSpPr>
          <p:cNvPr id="430" name="Google Shape;430;p43"/>
          <p:cNvCxnSpPr/>
          <p:nvPr/>
        </p:nvCxnSpPr>
        <p:spPr>
          <a:xfrm rot="10800000">
            <a:off x="6751816" y="2271685"/>
            <a:ext cx="0" cy="255572"/>
          </a:xfrm>
          <a:prstGeom prst="straightConnector1">
            <a:avLst/>
          </a:prstGeom>
          <a:noFill/>
          <a:ln cap="flat" cmpd="sng" w="28575">
            <a:solidFill>
              <a:srgbClr val="FF0000"/>
            </a:solidFill>
            <a:prstDash val="solid"/>
            <a:round/>
            <a:headEnd len="sm" w="sm" type="none"/>
            <a:tailEnd len="sm" w="sm" type="none"/>
          </a:ln>
        </p:spPr>
      </p:cxnSp>
      <p:cxnSp>
        <p:nvCxnSpPr>
          <p:cNvPr id="431" name="Google Shape;431;p43"/>
          <p:cNvCxnSpPr/>
          <p:nvPr/>
        </p:nvCxnSpPr>
        <p:spPr>
          <a:xfrm>
            <a:off x="6807096" y="2271685"/>
            <a:ext cx="512784" cy="0"/>
          </a:xfrm>
          <a:prstGeom prst="straightConnector1">
            <a:avLst/>
          </a:prstGeom>
          <a:noFill/>
          <a:ln cap="flat" cmpd="sng" w="19050">
            <a:solidFill>
              <a:srgbClr val="FF0000"/>
            </a:solidFill>
            <a:prstDash val="solid"/>
            <a:round/>
            <a:headEnd len="sm" w="sm" type="none"/>
            <a:tailEnd len="sm" w="sm" type="none"/>
          </a:ln>
        </p:spPr>
      </p:cxn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500"/>
                                        <p:tgtEl>
                                          <p:spTgt spid="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500"/>
                                        <p:tgtEl>
                                          <p:spTgt spid="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4"/>
          <p:cNvSpPr txBox="1"/>
          <p:nvPr/>
        </p:nvSpPr>
        <p:spPr>
          <a:xfrm>
            <a:off x="0" y="157397"/>
            <a:ext cx="9376348"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A digital path or curve from a pixel </a:t>
            </a:r>
            <a:r>
              <a:rPr b="0" i="0" lang="en-US" sz="2000" u="none" cap="none" strike="noStrike">
                <a:solidFill>
                  <a:srgbClr val="FFC000"/>
                </a:solidFill>
                <a:latin typeface="Times New Roman"/>
                <a:ea typeface="Times New Roman"/>
                <a:cs typeface="Times New Roman"/>
                <a:sym typeface="Times New Roman"/>
              </a:rPr>
              <a:t>p</a:t>
            </a:r>
            <a:r>
              <a:rPr b="0" i="0" lang="en-US" sz="2000" u="none" cap="none" strike="noStrike">
                <a:solidFill>
                  <a:schemeClr val="lt1"/>
                </a:solidFill>
                <a:latin typeface="Times New Roman"/>
                <a:ea typeface="Times New Roman"/>
                <a:cs typeface="Times New Roman"/>
                <a:sym typeface="Times New Roman"/>
              </a:rPr>
              <a:t> with coordinates(x,y) to pixel </a:t>
            </a:r>
            <a:r>
              <a:rPr b="0" i="0" lang="en-US" sz="2000" u="none" cap="none" strike="noStrike">
                <a:solidFill>
                  <a:srgbClr val="FFC000"/>
                </a:solidFill>
                <a:latin typeface="Times New Roman"/>
                <a:ea typeface="Times New Roman"/>
                <a:cs typeface="Times New Roman"/>
                <a:sym typeface="Times New Roman"/>
              </a:rPr>
              <a:t>q</a:t>
            </a:r>
            <a:r>
              <a:rPr b="0" i="0" lang="en-US" sz="2000" u="none" cap="none" strike="noStrike">
                <a:solidFill>
                  <a:schemeClr val="lt1"/>
                </a:solidFill>
                <a:latin typeface="Times New Roman"/>
                <a:ea typeface="Times New Roman"/>
                <a:cs typeface="Times New Roman"/>
                <a:sym typeface="Times New Roman"/>
              </a:rPr>
              <a:t> with coordinates</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(s,t) is a sequence of distinct pixels with coordinates </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           (x0,y0),(x1,y1),…,(xn,yn)  where (x0,y0)=(x,y)    and (xn,yn)=(s,t) and pixels (xi,yi) and (xi-1,yi-1) are adjacent for 1&lt;=i&lt;=n .   Here length of the path=n.</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If (x0,y0)=(xn,yn) ,the path is a closed path .</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We can define 4- , 8- , or m- paths depending on the type of adjacency.</a:t>
            </a:r>
            <a:endParaRPr/>
          </a:p>
        </p:txBody>
      </p:sp>
    </p:spTree>
  </p:cSld>
  <p:clrMapOvr>
    <a:masterClrMapping/>
  </p:clrMapOvr>
  <p:transition>
    <p:fade thruBlk="1"/>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5"/>
          <p:cNvSpPr txBox="1"/>
          <p:nvPr/>
        </p:nvSpPr>
        <p:spPr>
          <a:xfrm>
            <a:off x="412230" y="194872"/>
            <a:ext cx="282564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m adjacency </a:t>
            </a:r>
            <a:endParaRPr/>
          </a:p>
        </p:txBody>
      </p:sp>
      <p:sp>
        <p:nvSpPr>
          <p:cNvPr id="442" name="Google Shape;442;p45"/>
          <p:cNvSpPr txBox="1"/>
          <p:nvPr/>
        </p:nvSpPr>
        <p:spPr>
          <a:xfrm>
            <a:off x="698286" y="1017192"/>
            <a:ext cx="196371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FF0000"/>
                </a:solidFill>
                <a:latin typeface="Arial"/>
                <a:ea typeface="Arial"/>
                <a:cs typeface="Arial"/>
                <a:sym typeface="Arial"/>
              </a:rPr>
              <a:t>8-paths</a:t>
            </a:r>
            <a:endParaRPr/>
          </a:p>
        </p:txBody>
      </p:sp>
      <p:sp>
        <p:nvSpPr>
          <p:cNvPr id="443" name="Google Shape;443;p45"/>
          <p:cNvSpPr txBox="1"/>
          <p:nvPr/>
        </p:nvSpPr>
        <p:spPr>
          <a:xfrm>
            <a:off x="4040461" y="1247754"/>
            <a:ext cx="86193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C000"/>
                </a:solidFill>
                <a:latin typeface="Arial"/>
                <a:ea typeface="Arial"/>
                <a:cs typeface="Arial"/>
                <a:sym typeface="Arial"/>
              </a:rPr>
              <a:t>v={1}</a:t>
            </a:r>
            <a:endParaRPr/>
          </a:p>
        </p:txBody>
      </p:sp>
      <p:graphicFrame>
        <p:nvGraphicFramePr>
          <p:cNvPr id="444" name="Google Shape;444;p45"/>
          <p:cNvGraphicFramePr/>
          <p:nvPr/>
        </p:nvGraphicFramePr>
        <p:xfrm>
          <a:off x="612098" y="1441210"/>
          <a:ext cx="3000000" cy="3000000"/>
        </p:xfrm>
        <a:graphic>
          <a:graphicData uri="http://schemas.openxmlformats.org/drawingml/2006/table">
            <a:tbl>
              <a:tblPr bandRow="1" firstRow="1">
                <a:noFill/>
                <a:tableStyleId>{979BE475-7191-4B5F-B133-15A57CA0C80E}</a:tableStyleId>
              </a:tblPr>
              <a:tblGrid>
                <a:gridCol w="613775"/>
                <a:gridCol w="613775"/>
                <a:gridCol w="613775"/>
              </a:tblGrid>
              <a:tr h="370850">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r>
              <a:tr h="370850">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r>
              <a:tr h="177800">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r>
            </a:tbl>
          </a:graphicData>
        </a:graphic>
      </p:graphicFrame>
      <p:cxnSp>
        <p:nvCxnSpPr>
          <p:cNvPr id="445" name="Google Shape;445;p45"/>
          <p:cNvCxnSpPr/>
          <p:nvPr/>
        </p:nvCxnSpPr>
        <p:spPr>
          <a:xfrm>
            <a:off x="1543987" y="2016177"/>
            <a:ext cx="532151" cy="337279"/>
          </a:xfrm>
          <a:prstGeom prst="straightConnector1">
            <a:avLst/>
          </a:prstGeom>
          <a:noFill/>
          <a:ln cap="flat" cmpd="sng" w="19050">
            <a:solidFill>
              <a:srgbClr val="FF0000"/>
            </a:solidFill>
            <a:prstDash val="solid"/>
            <a:round/>
            <a:headEnd len="sm" w="sm" type="none"/>
            <a:tailEnd len="sm" w="sm" type="none"/>
          </a:ln>
        </p:spPr>
      </p:cxnSp>
      <p:cxnSp>
        <p:nvCxnSpPr>
          <p:cNvPr id="446" name="Google Shape;446;p45"/>
          <p:cNvCxnSpPr/>
          <p:nvPr/>
        </p:nvCxnSpPr>
        <p:spPr>
          <a:xfrm flipH="1" rot="10800000">
            <a:off x="1543987" y="1555531"/>
            <a:ext cx="580240" cy="400685"/>
          </a:xfrm>
          <a:prstGeom prst="straightConnector1">
            <a:avLst/>
          </a:prstGeom>
          <a:noFill/>
          <a:ln cap="flat" cmpd="sng" w="28575">
            <a:solidFill>
              <a:srgbClr val="FF0000"/>
            </a:solidFill>
            <a:prstDash val="solid"/>
            <a:round/>
            <a:headEnd len="sm" w="sm" type="none"/>
            <a:tailEnd len="sm" w="sm" type="none"/>
          </a:ln>
        </p:spPr>
      </p:cxnSp>
      <p:graphicFrame>
        <p:nvGraphicFramePr>
          <p:cNvPr id="447" name="Google Shape;447;p45"/>
          <p:cNvGraphicFramePr/>
          <p:nvPr/>
        </p:nvGraphicFramePr>
        <p:xfrm>
          <a:off x="5831173" y="2116443"/>
          <a:ext cx="3000000" cy="3000000"/>
        </p:xfrm>
        <a:graphic>
          <a:graphicData uri="http://schemas.openxmlformats.org/drawingml/2006/table">
            <a:tbl>
              <a:tblPr bandRow="1" firstRow="1">
                <a:noFill/>
                <a:tableStyleId>{979BE475-7191-4B5F-B133-15A57CA0C80E}</a:tableStyleId>
              </a:tblPr>
              <a:tblGrid>
                <a:gridCol w="613775"/>
                <a:gridCol w="613775"/>
                <a:gridCol w="613775"/>
              </a:tblGrid>
              <a:tr h="370850">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r>
              <a:tr h="370850">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r>
              <a:tr h="177800">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0</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1" lang="en-US" sz="1400" u="none" cap="none" strike="noStrike"/>
                        <a:t>1</a:t>
                      </a:r>
                      <a:endParaRPr/>
                    </a:p>
                  </a:txBody>
                  <a:tcPr marT="45725" marB="45725" marR="91450" marL="91450">
                    <a:solidFill>
                      <a:schemeClr val="lt1"/>
                    </a:solidFill>
                  </a:tcPr>
                </a:tc>
              </a:tr>
            </a:tbl>
          </a:graphicData>
        </a:graphic>
      </p:graphicFrame>
      <p:sp>
        <p:nvSpPr>
          <p:cNvPr id="448" name="Google Shape;448;p45"/>
          <p:cNvSpPr/>
          <p:nvPr/>
        </p:nvSpPr>
        <p:spPr>
          <a:xfrm>
            <a:off x="6536333" y="2527257"/>
            <a:ext cx="430967" cy="224852"/>
          </a:xfrm>
          <a:prstGeom prst="ellipse">
            <a:avLst/>
          </a:prstGeom>
          <a:noFill/>
          <a:ln cap="flat" cmpd="sng" w="25400">
            <a:solidFill>
              <a:srgbClr val="2A5E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49" name="Google Shape;449;p45"/>
          <p:cNvCxnSpPr/>
          <p:nvPr/>
        </p:nvCxnSpPr>
        <p:spPr>
          <a:xfrm>
            <a:off x="6855185" y="2752109"/>
            <a:ext cx="464695" cy="276580"/>
          </a:xfrm>
          <a:prstGeom prst="straightConnector1">
            <a:avLst/>
          </a:prstGeom>
          <a:noFill/>
          <a:ln cap="flat" cmpd="sng" w="19050">
            <a:solidFill>
              <a:srgbClr val="FF0000"/>
            </a:solidFill>
            <a:prstDash val="solid"/>
            <a:round/>
            <a:headEnd len="sm" w="sm" type="none"/>
            <a:tailEnd len="sm" w="sm" type="none"/>
          </a:ln>
        </p:spPr>
      </p:cxnSp>
      <p:cxnSp>
        <p:nvCxnSpPr>
          <p:cNvPr id="450" name="Google Shape;450;p45"/>
          <p:cNvCxnSpPr/>
          <p:nvPr/>
        </p:nvCxnSpPr>
        <p:spPr>
          <a:xfrm rot="10800000">
            <a:off x="6751816" y="2271685"/>
            <a:ext cx="0" cy="255572"/>
          </a:xfrm>
          <a:prstGeom prst="straightConnector1">
            <a:avLst/>
          </a:prstGeom>
          <a:noFill/>
          <a:ln cap="flat" cmpd="sng" w="28575">
            <a:solidFill>
              <a:srgbClr val="FF0000"/>
            </a:solidFill>
            <a:prstDash val="solid"/>
            <a:round/>
            <a:headEnd len="sm" w="sm" type="none"/>
            <a:tailEnd len="sm" w="sm" type="none"/>
          </a:ln>
        </p:spPr>
      </p:cxnSp>
      <p:cxnSp>
        <p:nvCxnSpPr>
          <p:cNvPr id="451" name="Google Shape;451;p45"/>
          <p:cNvCxnSpPr/>
          <p:nvPr/>
        </p:nvCxnSpPr>
        <p:spPr>
          <a:xfrm>
            <a:off x="6751816" y="2271685"/>
            <a:ext cx="568064" cy="0"/>
          </a:xfrm>
          <a:prstGeom prst="straightConnector1">
            <a:avLst/>
          </a:prstGeom>
          <a:noFill/>
          <a:ln cap="flat" cmpd="sng" w="19050">
            <a:solidFill>
              <a:srgbClr val="FF0000"/>
            </a:solidFill>
            <a:prstDash val="solid"/>
            <a:round/>
            <a:headEnd len="sm" w="sm" type="none"/>
            <a:tailEnd len="sm" w="sm" type="none"/>
          </a:ln>
        </p:spPr>
      </p:cxnSp>
      <p:sp>
        <p:nvSpPr>
          <p:cNvPr id="452" name="Google Shape;452;p45"/>
          <p:cNvSpPr txBox="1"/>
          <p:nvPr/>
        </p:nvSpPr>
        <p:spPr>
          <a:xfrm>
            <a:off x="2199172" y="1344489"/>
            <a:ext cx="32916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C000"/>
                </a:solidFill>
                <a:latin typeface="Arial"/>
                <a:ea typeface="Arial"/>
                <a:cs typeface="Arial"/>
                <a:sym typeface="Arial"/>
              </a:rPr>
              <a:t>p</a:t>
            </a:r>
            <a:endParaRPr/>
          </a:p>
        </p:txBody>
      </p:sp>
      <p:sp>
        <p:nvSpPr>
          <p:cNvPr id="453" name="Google Shape;453;p45"/>
          <p:cNvSpPr txBox="1"/>
          <p:nvPr/>
        </p:nvSpPr>
        <p:spPr>
          <a:xfrm>
            <a:off x="6280859" y="1577157"/>
            <a:ext cx="196371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FF0000"/>
                </a:solidFill>
                <a:latin typeface="Arial"/>
                <a:ea typeface="Arial"/>
                <a:cs typeface="Arial"/>
                <a:sym typeface="Arial"/>
              </a:rPr>
              <a:t>m-paths</a:t>
            </a:r>
            <a:endParaRPr/>
          </a:p>
        </p:txBody>
      </p:sp>
      <p:cxnSp>
        <p:nvCxnSpPr>
          <p:cNvPr id="454" name="Google Shape;454;p45"/>
          <p:cNvCxnSpPr/>
          <p:nvPr/>
        </p:nvCxnSpPr>
        <p:spPr>
          <a:xfrm>
            <a:off x="1611443" y="1577157"/>
            <a:ext cx="512784" cy="0"/>
          </a:xfrm>
          <a:prstGeom prst="straightConnector1">
            <a:avLst/>
          </a:prstGeom>
          <a:noFill/>
          <a:ln cap="flat" cmpd="sng" w="28575">
            <a:solidFill>
              <a:srgbClr val="FF0000"/>
            </a:solidFill>
            <a:prstDash val="solid"/>
            <a:round/>
            <a:headEnd len="sm" w="sm" type="none"/>
            <a:tailEnd len="sm" w="sm" type="none"/>
          </a:ln>
        </p:spPr>
      </p:cxnSp>
    </p:spTree>
  </p:cSld>
  <p:clrMapOvr>
    <a:masterClrMapping/>
  </p:clrMapOvr>
  <p:transition>
    <p:fade thruBlk="1"/>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6"/>
          <p:cNvSpPr txBox="1"/>
          <p:nvPr/>
        </p:nvSpPr>
        <p:spPr>
          <a:xfrm>
            <a:off x="112426" y="78619"/>
            <a:ext cx="9129010" cy="2862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Define 4-adjacency, 8-adjacency and m-adjacency. Consider the image segment shown. </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Let V={1,2} and compute the length of the shortest 4- ,8- and m- path between p and q. If a particular path does not exist between these two points, explain why? 	</a:t>
            </a:r>
            <a:endParaRPr/>
          </a:p>
        </p:txBody>
      </p:sp>
      <p:graphicFrame>
        <p:nvGraphicFramePr>
          <p:cNvPr id="460" name="Google Shape;460;p46"/>
          <p:cNvGraphicFramePr/>
          <p:nvPr/>
        </p:nvGraphicFramePr>
        <p:xfrm>
          <a:off x="3740045" y="532255"/>
          <a:ext cx="3000000" cy="3000000"/>
        </p:xfrm>
        <a:graphic>
          <a:graphicData uri="http://schemas.openxmlformats.org/drawingml/2006/table">
            <a:tbl>
              <a:tblPr bandRow="1" firstRow="1">
                <a:noFill/>
                <a:tableStyleId>{979BE475-7191-4B5F-B133-15A57CA0C80E}</a:tableStyleId>
              </a:tblPr>
              <a:tblGrid>
                <a:gridCol w="587750"/>
                <a:gridCol w="587750"/>
                <a:gridCol w="587750"/>
                <a:gridCol w="587750"/>
              </a:tblGrid>
              <a:tr h="370850">
                <a:tc>
                  <a:txBody>
                    <a:bodyPr/>
                    <a:lstStyle/>
                    <a:p>
                      <a:pPr indent="0" lvl="0" marL="0" marR="0" rtl="0" algn="l">
                        <a:lnSpc>
                          <a:spcPct val="100000"/>
                        </a:lnSpc>
                        <a:spcBef>
                          <a:spcPts val="0"/>
                        </a:spcBef>
                        <a:spcAft>
                          <a:spcPts val="0"/>
                        </a:spcAft>
                        <a:buNone/>
                      </a:pPr>
                      <a:r>
                        <a:rPr lang="en-US" sz="1400" u="none" cap="none" strike="noStrike"/>
                        <a:t>4</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1</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1</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r>
            </a:tbl>
          </a:graphicData>
        </a:graphic>
      </p:graphicFrame>
      <p:sp>
        <p:nvSpPr>
          <p:cNvPr id="461" name="Google Shape;461;p46"/>
          <p:cNvSpPr txBox="1"/>
          <p:nvPr/>
        </p:nvSpPr>
        <p:spPr>
          <a:xfrm>
            <a:off x="5798697" y="532255"/>
            <a:ext cx="41972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0000"/>
                </a:solidFill>
                <a:latin typeface="Arial"/>
                <a:ea typeface="Arial"/>
                <a:cs typeface="Arial"/>
                <a:sym typeface="Arial"/>
              </a:rPr>
              <a:t>q</a:t>
            </a:r>
            <a:endParaRPr/>
          </a:p>
        </p:txBody>
      </p:sp>
      <p:sp>
        <p:nvSpPr>
          <p:cNvPr id="462" name="Google Shape;462;p46"/>
          <p:cNvSpPr txBox="1"/>
          <p:nvPr/>
        </p:nvSpPr>
        <p:spPr>
          <a:xfrm>
            <a:off x="4099809" y="1707838"/>
            <a:ext cx="41972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0000"/>
                </a:solidFill>
                <a:latin typeface="Arial"/>
                <a:ea typeface="Arial"/>
                <a:cs typeface="Arial"/>
                <a:sym typeface="Arial"/>
              </a:rPr>
              <a:t>p</a:t>
            </a:r>
            <a:endParaRPr/>
          </a:p>
        </p:txBody>
      </p:sp>
      <p:sp>
        <p:nvSpPr>
          <p:cNvPr id="463" name="Google Shape;463;p46"/>
          <p:cNvSpPr txBox="1"/>
          <p:nvPr/>
        </p:nvSpPr>
        <p:spPr>
          <a:xfrm>
            <a:off x="112426" y="2892549"/>
            <a:ext cx="920396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FC000"/>
                </a:solidFill>
                <a:latin typeface="Arial"/>
                <a:ea typeface="Arial"/>
                <a:cs typeface="Arial"/>
                <a:sym typeface="Arial"/>
              </a:rPr>
              <a:t>4- path between q and p is not possible, because q has no 4 adjacent pixels with values 1 or 2. </a:t>
            </a:r>
            <a:endParaRPr/>
          </a:p>
        </p:txBody>
      </p:sp>
      <p:sp>
        <p:nvSpPr>
          <p:cNvPr id="464" name="Google Shape;464;p46"/>
          <p:cNvSpPr txBox="1"/>
          <p:nvPr/>
        </p:nvSpPr>
        <p:spPr>
          <a:xfrm>
            <a:off x="112426" y="3687436"/>
            <a:ext cx="3627619" cy="8617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FC000"/>
                </a:solidFill>
                <a:latin typeface="Arial"/>
                <a:ea typeface="Arial"/>
                <a:cs typeface="Arial"/>
                <a:sym typeface="Arial"/>
              </a:rPr>
              <a:t>8- path between q and p is possible, </a:t>
            </a:r>
            <a:endParaRPr/>
          </a:p>
          <a:p>
            <a:pPr indent="0" lvl="0" marL="0" marR="0" rtl="0" algn="l">
              <a:lnSpc>
                <a:spcPct val="100000"/>
              </a:lnSpc>
              <a:spcBef>
                <a:spcPts val="0"/>
              </a:spcBef>
              <a:spcAft>
                <a:spcPts val="0"/>
              </a:spcAft>
              <a:buNone/>
            </a:pPr>
            <a:r>
              <a:t/>
            </a:r>
            <a:endParaRPr b="1" i="0" sz="1400" u="none" cap="none" strike="noStrike">
              <a:solidFill>
                <a:srgbClr val="FFC000"/>
              </a:solidFill>
              <a:latin typeface="Arial"/>
              <a:ea typeface="Arial"/>
              <a:cs typeface="Arial"/>
              <a:sym typeface="Arial"/>
            </a:endParaRPr>
          </a:p>
        </p:txBody>
      </p:sp>
      <p:graphicFrame>
        <p:nvGraphicFramePr>
          <p:cNvPr id="465" name="Google Shape;465;p46"/>
          <p:cNvGraphicFramePr/>
          <p:nvPr/>
        </p:nvGraphicFramePr>
        <p:xfrm>
          <a:off x="3657599" y="3374694"/>
          <a:ext cx="3000000" cy="3000000"/>
        </p:xfrm>
        <a:graphic>
          <a:graphicData uri="http://schemas.openxmlformats.org/drawingml/2006/table">
            <a:tbl>
              <a:tblPr bandRow="1" firstRow="1">
                <a:noFill/>
                <a:tableStyleId>{979BE475-7191-4B5F-B133-15A57CA0C80E}</a:tableStyleId>
              </a:tblPr>
              <a:tblGrid>
                <a:gridCol w="587750"/>
                <a:gridCol w="587750"/>
                <a:gridCol w="587750"/>
                <a:gridCol w="587750"/>
              </a:tblGrid>
              <a:tr h="370850">
                <a:tc>
                  <a:txBody>
                    <a:bodyPr/>
                    <a:lstStyle/>
                    <a:p>
                      <a:pPr indent="0" lvl="0" marL="0" marR="0" rtl="0" algn="l">
                        <a:lnSpc>
                          <a:spcPct val="100000"/>
                        </a:lnSpc>
                        <a:spcBef>
                          <a:spcPts val="0"/>
                        </a:spcBef>
                        <a:spcAft>
                          <a:spcPts val="0"/>
                        </a:spcAft>
                        <a:buNone/>
                      </a:pPr>
                      <a:r>
                        <a:rPr lang="en-US" sz="1400" u="none" cap="none" strike="noStrike"/>
                        <a:t>4</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1</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1</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r>
            </a:tbl>
          </a:graphicData>
        </a:graphic>
      </p:graphicFrame>
      <p:sp>
        <p:nvSpPr>
          <p:cNvPr id="466" name="Google Shape;466;p46"/>
          <p:cNvSpPr txBox="1"/>
          <p:nvPr/>
        </p:nvSpPr>
        <p:spPr>
          <a:xfrm>
            <a:off x="4047343" y="4579885"/>
            <a:ext cx="41972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0000"/>
                </a:solidFill>
                <a:latin typeface="Arial"/>
                <a:ea typeface="Arial"/>
                <a:cs typeface="Arial"/>
                <a:sym typeface="Arial"/>
              </a:rPr>
              <a:t>p</a:t>
            </a:r>
            <a:endParaRPr/>
          </a:p>
        </p:txBody>
      </p:sp>
      <p:sp>
        <p:nvSpPr>
          <p:cNvPr id="467" name="Google Shape;467;p46"/>
          <p:cNvSpPr txBox="1"/>
          <p:nvPr/>
        </p:nvSpPr>
        <p:spPr>
          <a:xfrm>
            <a:off x="5798697" y="3345086"/>
            <a:ext cx="41972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0000"/>
                </a:solidFill>
                <a:latin typeface="Arial"/>
                <a:ea typeface="Arial"/>
                <a:cs typeface="Arial"/>
                <a:sym typeface="Arial"/>
              </a:rPr>
              <a:t>q</a:t>
            </a:r>
            <a:endParaRPr/>
          </a:p>
        </p:txBody>
      </p:sp>
      <p:cxnSp>
        <p:nvCxnSpPr>
          <p:cNvPr id="468" name="Google Shape;468;p46"/>
          <p:cNvCxnSpPr/>
          <p:nvPr/>
        </p:nvCxnSpPr>
        <p:spPr>
          <a:xfrm flipH="1">
            <a:off x="4976734" y="3575154"/>
            <a:ext cx="532151" cy="314794"/>
          </a:xfrm>
          <a:prstGeom prst="straightConnector1">
            <a:avLst/>
          </a:prstGeom>
          <a:noFill/>
          <a:ln cap="flat" cmpd="sng" w="19050">
            <a:solidFill>
              <a:srgbClr val="FF0000"/>
            </a:solidFill>
            <a:prstDash val="solid"/>
            <a:round/>
            <a:headEnd len="sm" w="sm" type="none"/>
            <a:tailEnd len="sm" w="sm" type="none"/>
          </a:ln>
        </p:spPr>
      </p:cxnSp>
      <p:cxnSp>
        <p:nvCxnSpPr>
          <p:cNvPr id="469" name="Google Shape;469;p46"/>
          <p:cNvCxnSpPr/>
          <p:nvPr/>
        </p:nvCxnSpPr>
        <p:spPr>
          <a:xfrm>
            <a:off x="4980482" y="3949537"/>
            <a:ext cx="0" cy="267067"/>
          </a:xfrm>
          <a:prstGeom prst="straightConnector1">
            <a:avLst/>
          </a:prstGeom>
          <a:noFill/>
          <a:ln cap="flat" cmpd="sng" w="19050">
            <a:solidFill>
              <a:srgbClr val="FF0000"/>
            </a:solidFill>
            <a:prstDash val="solid"/>
            <a:round/>
            <a:headEnd len="sm" w="sm" type="none"/>
            <a:tailEnd len="sm" w="sm" type="none"/>
          </a:ln>
        </p:spPr>
      </p:cxnSp>
      <p:cxnSp>
        <p:nvCxnSpPr>
          <p:cNvPr id="470" name="Google Shape;470;p46"/>
          <p:cNvCxnSpPr/>
          <p:nvPr/>
        </p:nvCxnSpPr>
        <p:spPr>
          <a:xfrm flipH="1">
            <a:off x="4362136" y="4312818"/>
            <a:ext cx="605854" cy="298427"/>
          </a:xfrm>
          <a:prstGeom prst="straightConnector1">
            <a:avLst/>
          </a:prstGeom>
          <a:noFill/>
          <a:ln cap="flat" cmpd="sng" w="19050">
            <a:solidFill>
              <a:srgbClr val="FF0000"/>
            </a:solidFill>
            <a:prstDash val="solid"/>
            <a:round/>
            <a:headEnd len="sm" w="sm" type="none"/>
            <a:tailEnd len="sm" w="sm" type="none"/>
          </a:ln>
        </p:spPr>
      </p:cxnSp>
      <p:cxnSp>
        <p:nvCxnSpPr>
          <p:cNvPr id="471" name="Google Shape;471;p46"/>
          <p:cNvCxnSpPr/>
          <p:nvPr/>
        </p:nvCxnSpPr>
        <p:spPr>
          <a:xfrm rot="10800000">
            <a:off x="3837481" y="4641226"/>
            <a:ext cx="524655" cy="0"/>
          </a:xfrm>
          <a:prstGeom prst="straightConnector1">
            <a:avLst/>
          </a:prstGeom>
          <a:noFill/>
          <a:ln cap="flat" cmpd="sng" w="19050">
            <a:solidFill>
              <a:srgbClr val="FF0000"/>
            </a:solidFill>
            <a:prstDash val="solid"/>
            <a:round/>
            <a:headEnd len="sm" w="sm" type="none"/>
            <a:tailEnd len="sm" w="sm" type="none"/>
          </a:ln>
        </p:spPr>
      </p:cxnSp>
      <p:sp>
        <p:nvSpPr>
          <p:cNvPr id="472" name="Google Shape;472;p46"/>
          <p:cNvSpPr txBox="1"/>
          <p:nvPr/>
        </p:nvSpPr>
        <p:spPr>
          <a:xfrm>
            <a:off x="6693108" y="3837482"/>
            <a:ext cx="154398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FFC000"/>
                </a:solidFill>
                <a:latin typeface="Arial"/>
                <a:ea typeface="Arial"/>
                <a:cs typeface="Arial"/>
                <a:sym typeface="Arial"/>
              </a:rPr>
              <a:t>Length =4</a:t>
            </a:r>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7"/>
          <p:cNvSpPr txBox="1"/>
          <p:nvPr/>
        </p:nvSpPr>
        <p:spPr>
          <a:xfrm>
            <a:off x="0" y="212892"/>
            <a:ext cx="3627619"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FFC000"/>
                </a:solidFill>
                <a:latin typeface="Arial"/>
                <a:ea typeface="Arial"/>
                <a:cs typeface="Arial"/>
                <a:sym typeface="Arial"/>
              </a:rPr>
              <a:t>m- path between q and p is possible, </a:t>
            </a:r>
            <a:endParaRPr/>
          </a:p>
          <a:p>
            <a:pPr indent="0" lvl="0" marL="0" marR="0" rtl="0" algn="l">
              <a:lnSpc>
                <a:spcPct val="100000"/>
              </a:lnSpc>
              <a:spcBef>
                <a:spcPts val="0"/>
              </a:spcBef>
              <a:spcAft>
                <a:spcPts val="0"/>
              </a:spcAft>
              <a:buNone/>
            </a:pPr>
            <a:r>
              <a:t/>
            </a:r>
            <a:endParaRPr b="1" i="0" sz="1400" u="none" cap="none" strike="noStrike">
              <a:solidFill>
                <a:srgbClr val="FFC000"/>
              </a:solidFill>
              <a:latin typeface="Arial"/>
              <a:ea typeface="Arial"/>
              <a:cs typeface="Arial"/>
              <a:sym typeface="Arial"/>
            </a:endParaRPr>
          </a:p>
        </p:txBody>
      </p:sp>
      <p:graphicFrame>
        <p:nvGraphicFramePr>
          <p:cNvPr id="478" name="Google Shape;478;p47"/>
          <p:cNvGraphicFramePr/>
          <p:nvPr/>
        </p:nvGraphicFramePr>
        <p:xfrm>
          <a:off x="3657599" y="331688"/>
          <a:ext cx="3000000" cy="3000000"/>
        </p:xfrm>
        <a:graphic>
          <a:graphicData uri="http://schemas.openxmlformats.org/drawingml/2006/table">
            <a:tbl>
              <a:tblPr bandRow="1" firstRow="1">
                <a:noFill/>
                <a:tableStyleId>{979BE475-7191-4B5F-B133-15A57CA0C80E}</a:tableStyleId>
              </a:tblPr>
              <a:tblGrid>
                <a:gridCol w="587750"/>
                <a:gridCol w="587750"/>
                <a:gridCol w="587750"/>
                <a:gridCol w="587750"/>
              </a:tblGrid>
              <a:tr h="370850">
                <a:tc>
                  <a:txBody>
                    <a:bodyPr/>
                    <a:lstStyle/>
                    <a:p>
                      <a:pPr indent="0" lvl="0" marL="0" marR="0" rtl="0" algn="l">
                        <a:lnSpc>
                          <a:spcPct val="100000"/>
                        </a:lnSpc>
                        <a:spcBef>
                          <a:spcPts val="0"/>
                        </a:spcBef>
                        <a:spcAft>
                          <a:spcPts val="0"/>
                        </a:spcAft>
                        <a:buNone/>
                      </a:pPr>
                      <a:r>
                        <a:rPr lang="en-US" sz="1400" u="none" cap="none" strike="noStrike"/>
                        <a:t>4</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1</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1</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r>
            </a:tbl>
          </a:graphicData>
        </a:graphic>
      </p:graphicFrame>
      <p:sp>
        <p:nvSpPr>
          <p:cNvPr id="479" name="Google Shape;479;p47"/>
          <p:cNvSpPr txBox="1"/>
          <p:nvPr/>
        </p:nvSpPr>
        <p:spPr>
          <a:xfrm>
            <a:off x="4047343" y="1536879"/>
            <a:ext cx="41972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0000"/>
                </a:solidFill>
                <a:latin typeface="Arial"/>
                <a:ea typeface="Arial"/>
                <a:cs typeface="Arial"/>
                <a:sym typeface="Arial"/>
              </a:rPr>
              <a:t>p</a:t>
            </a:r>
            <a:endParaRPr/>
          </a:p>
        </p:txBody>
      </p:sp>
      <p:sp>
        <p:nvSpPr>
          <p:cNvPr id="480" name="Google Shape;480;p47"/>
          <p:cNvSpPr txBox="1"/>
          <p:nvPr/>
        </p:nvSpPr>
        <p:spPr>
          <a:xfrm>
            <a:off x="5798697" y="302080"/>
            <a:ext cx="41972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0000"/>
                </a:solidFill>
                <a:latin typeface="Arial"/>
                <a:ea typeface="Arial"/>
                <a:cs typeface="Arial"/>
                <a:sym typeface="Arial"/>
              </a:rPr>
              <a:t>q</a:t>
            </a:r>
            <a:endParaRPr/>
          </a:p>
        </p:txBody>
      </p:sp>
      <p:cxnSp>
        <p:nvCxnSpPr>
          <p:cNvPr id="481" name="Google Shape;481;p47"/>
          <p:cNvCxnSpPr/>
          <p:nvPr/>
        </p:nvCxnSpPr>
        <p:spPr>
          <a:xfrm flipH="1">
            <a:off x="4999220" y="502170"/>
            <a:ext cx="539646" cy="344774"/>
          </a:xfrm>
          <a:prstGeom prst="straightConnector1">
            <a:avLst/>
          </a:prstGeom>
          <a:noFill/>
          <a:ln cap="flat" cmpd="sng" w="12700">
            <a:solidFill>
              <a:srgbClr val="FF0000"/>
            </a:solidFill>
            <a:prstDash val="solid"/>
            <a:round/>
            <a:headEnd len="sm" w="sm" type="none"/>
            <a:tailEnd len="sm" w="sm" type="none"/>
          </a:ln>
        </p:spPr>
      </p:cxnSp>
      <p:cxnSp>
        <p:nvCxnSpPr>
          <p:cNvPr id="482" name="Google Shape;482;p47"/>
          <p:cNvCxnSpPr/>
          <p:nvPr/>
        </p:nvCxnSpPr>
        <p:spPr>
          <a:xfrm>
            <a:off x="4999220" y="906905"/>
            <a:ext cx="0" cy="262328"/>
          </a:xfrm>
          <a:prstGeom prst="straightConnector1">
            <a:avLst/>
          </a:prstGeom>
          <a:noFill/>
          <a:ln cap="flat" cmpd="sng" w="19050">
            <a:solidFill>
              <a:srgbClr val="FF0000"/>
            </a:solidFill>
            <a:prstDash val="solid"/>
            <a:round/>
            <a:headEnd len="sm" w="sm" type="none"/>
            <a:tailEnd len="sm" w="sm" type="none"/>
          </a:ln>
        </p:spPr>
      </p:cxnSp>
      <p:cxnSp>
        <p:nvCxnSpPr>
          <p:cNvPr id="483" name="Google Shape;483;p47"/>
          <p:cNvCxnSpPr/>
          <p:nvPr/>
        </p:nvCxnSpPr>
        <p:spPr>
          <a:xfrm>
            <a:off x="4999220" y="1296649"/>
            <a:ext cx="0" cy="240230"/>
          </a:xfrm>
          <a:prstGeom prst="straightConnector1">
            <a:avLst/>
          </a:prstGeom>
          <a:noFill/>
          <a:ln cap="flat" cmpd="sng" w="19050">
            <a:solidFill>
              <a:srgbClr val="FF0000"/>
            </a:solidFill>
            <a:prstDash val="solid"/>
            <a:round/>
            <a:headEnd len="sm" w="sm" type="none"/>
            <a:tailEnd len="sm" w="sm" type="none"/>
          </a:ln>
        </p:spPr>
      </p:cxnSp>
      <p:cxnSp>
        <p:nvCxnSpPr>
          <p:cNvPr id="484" name="Google Shape;484;p47"/>
          <p:cNvCxnSpPr/>
          <p:nvPr/>
        </p:nvCxnSpPr>
        <p:spPr>
          <a:xfrm rot="10800000">
            <a:off x="4369633" y="1641423"/>
            <a:ext cx="577121" cy="0"/>
          </a:xfrm>
          <a:prstGeom prst="straightConnector1">
            <a:avLst/>
          </a:prstGeom>
          <a:noFill/>
          <a:ln cap="flat" cmpd="sng" w="19050">
            <a:solidFill>
              <a:srgbClr val="FF0000"/>
            </a:solidFill>
            <a:prstDash val="solid"/>
            <a:round/>
            <a:headEnd len="sm" w="sm" type="none"/>
            <a:tailEnd len="sm" w="sm" type="none"/>
          </a:ln>
        </p:spPr>
      </p:cxnSp>
      <p:cxnSp>
        <p:nvCxnSpPr>
          <p:cNvPr id="485" name="Google Shape;485;p47"/>
          <p:cNvCxnSpPr/>
          <p:nvPr/>
        </p:nvCxnSpPr>
        <p:spPr>
          <a:xfrm rot="10800000">
            <a:off x="3807501" y="1641423"/>
            <a:ext cx="562132" cy="0"/>
          </a:xfrm>
          <a:prstGeom prst="straightConnector1">
            <a:avLst/>
          </a:prstGeom>
          <a:noFill/>
          <a:ln cap="flat" cmpd="sng" w="19050">
            <a:solidFill>
              <a:srgbClr val="FF0000"/>
            </a:solidFill>
            <a:prstDash val="solid"/>
            <a:round/>
            <a:headEnd len="sm" w="sm" type="none"/>
            <a:tailEnd len="sm" w="sm" type="none"/>
          </a:ln>
        </p:spPr>
      </p:cxnSp>
      <p:sp>
        <p:nvSpPr>
          <p:cNvPr id="486" name="Google Shape;486;p47"/>
          <p:cNvSpPr txBox="1"/>
          <p:nvPr/>
        </p:nvSpPr>
        <p:spPr>
          <a:xfrm>
            <a:off x="6513226" y="1064302"/>
            <a:ext cx="13940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FFC000"/>
                </a:solidFill>
                <a:latin typeface="Arial"/>
                <a:ea typeface="Arial"/>
                <a:cs typeface="Arial"/>
                <a:sym typeface="Arial"/>
              </a:rPr>
              <a:t>Length=5</a:t>
            </a:r>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8"/>
          <p:cNvSpPr txBox="1"/>
          <p:nvPr/>
        </p:nvSpPr>
        <p:spPr>
          <a:xfrm>
            <a:off x="89941" y="299803"/>
            <a:ext cx="9121515"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Let </a:t>
            </a:r>
            <a:r>
              <a:rPr b="1" i="0" lang="en-US" sz="2000" u="none" cap="none" strike="noStrike">
                <a:solidFill>
                  <a:srgbClr val="FFC000"/>
                </a:solidFill>
                <a:latin typeface="Times New Roman"/>
                <a:ea typeface="Times New Roman"/>
                <a:cs typeface="Times New Roman"/>
                <a:sym typeface="Times New Roman"/>
              </a:rPr>
              <a:t>S</a:t>
            </a:r>
            <a:r>
              <a:rPr b="0" i="0" lang="en-US" sz="2000" u="none" cap="none" strike="noStrike">
                <a:solidFill>
                  <a:schemeClr val="lt1"/>
                </a:solidFill>
                <a:latin typeface="Times New Roman"/>
                <a:ea typeface="Times New Roman"/>
                <a:cs typeface="Times New Roman"/>
                <a:sym typeface="Times New Roman"/>
              </a:rPr>
              <a:t> represent a subset of pixels in an image. Two pixels </a:t>
            </a:r>
            <a:r>
              <a:rPr b="1" i="0" lang="en-US" sz="2000" u="none" cap="none" strike="noStrike">
                <a:solidFill>
                  <a:srgbClr val="FF0000"/>
                </a:solidFill>
                <a:latin typeface="Times New Roman"/>
                <a:ea typeface="Times New Roman"/>
                <a:cs typeface="Times New Roman"/>
                <a:sym typeface="Times New Roman"/>
              </a:rPr>
              <a:t>p </a:t>
            </a:r>
            <a:r>
              <a:rPr b="0" i="0" lang="en-US" sz="2000" u="none" cap="none" strike="noStrike">
                <a:solidFill>
                  <a:schemeClr val="lt1"/>
                </a:solidFill>
                <a:latin typeface="Times New Roman"/>
                <a:ea typeface="Times New Roman"/>
                <a:cs typeface="Times New Roman"/>
                <a:sym typeface="Times New Roman"/>
              </a:rPr>
              <a:t>and </a:t>
            </a:r>
            <a:r>
              <a:rPr b="1" i="0" lang="en-US" sz="2000" u="none" cap="none" strike="noStrike">
                <a:solidFill>
                  <a:srgbClr val="FF0000"/>
                </a:solidFill>
                <a:latin typeface="Times New Roman"/>
                <a:ea typeface="Times New Roman"/>
                <a:cs typeface="Times New Roman"/>
                <a:sym typeface="Times New Roman"/>
              </a:rPr>
              <a:t>q  </a:t>
            </a:r>
            <a:r>
              <a:rPr b="0" i="0" lang="en-US" sz="2000" u="none" cap="none" strike="noStrike">
                <a:solidFill>
                  <a:schemeClr val="lt1"/>
                </a:solidFill>
                <a:latin typeface="Times New Roman"/>
                <a:ea typeface="Times New Roman"/>
                <a:cs typeface="Times New Roman"/>
                <a:sym typeface="Times New Roman"/>
              </a:rPr>
              <a:t>are said to be connected in </a:t>
            </a:r>
            <a:r>
              <a:rPr b="1" i="0" lang="en-US" sz="2000" u="none" cap="none" strike="noStrike">
                <a:solidFill>
                  <a:srgbClr val="FFC000"/>
                </a:solidFill>
                <a:latin typeface="Times New Roman"/>
                <a:ea typeface="Times New Roman"/>
                <a:cs typeface="Times New Roman"/>
                <a:sym typeface="Times New Roman"/>
              </a:rPr>
              <a:t>S</a:t>
            </a:r>
            <a:r>
              <a:rPr b="0" i="0" lang="en-US" sz="2000" u="none" cap="none" strike="noStrike">
                <a:solidFill>
                  <a:schemeClr val="lt1"/>
                </a:solidFill>
                <a:latin typeface="Times New Roman"/>
                <a:ea typeface="Times New Roman"/>
                <a:cs typeface="Times New Roman"/>
                <a:sym typeface="Times New Roman"/>
              </a:rPr>
              <a:t> if there exists a path between them consisting entirely of pixels in </a:t>
            </a:r>
            <a:r>
              <a:rPr b="1" i="0" lang="en-US" sz="2000" u="none" cap="none" strike="noStrike">
                <a:solidFill>
                  <a:srgbClr val="FFC000"/>
                </a:solidFill>
                <a:latin typeface="Times New Roman"/>
                <a:ea typeface="Times New Roman"/>
                <a:cs typeface="Times New Roman"/>
                <a:sym typeface="Times New Roman"/>
              </a:rPr>
              <a:t>S</a:t>
            </a:r>
            <a:r>
              <a:rPr b="0" i="0" lang="en-US" sz="2000" u="none" cap="none" strike="noStrike">
                <a:solidFill>
                  <a:schemeClr val="lt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For any pixel </a:t>
            </a:r>
            <a:r>
              <a:rPr b="1" i="0" lang="en-US" sz="2000" u="none" cap="none" strike="noStrike">
                <a:solidFill>
                  <a:srgbClr val="FFC000"/>
                </a:solidFill>
                <a:latin typeface="Times New Roman"/>
                <a:ea typeface="Times New Roman"/>
                <a:cs typeface="Times New Roman"/>
                <a:sym typeface="Times New Roman"/>
              </a:rPr>
              <a:t>p</a:t>
            </a:r>
            <a:r>
              <a:rPr b="0" i="0" lang="en-US" sz="2000" u="none" cap="none" strike="noStrike">
                <a:solidFill>
                  <a:schemeClr val="lt1"/>
                </a:solidFill>
                <a:latin typeface="Times New Roman"/>
                <a:ea typeface="Times New Roman"/>
                <a:cs typeface="Times New Roman"/>
                <a:sym typeface="Times New Roman"/>
              </a:rPr>
              <a:t> in S, the set of pixels that are connected to </a:t>
            </a:r>
            <a:r>
              <a:rPr b="1" i="0" lang="en-US" sz="2000" u="none" cap="none" strike="noStrike">
                <a:solidFill>
                  <a:srgbClr val="FFC000"/>
                </a:solidFill>
                <a:latin typeface="Times New Roman"/>
                <a:ea typeface="Times New Roman"/>
                <a:cs typeface="Times New Roman"/>
                <a:sym typeface="Times New Roman"/>
              </a:rPr>
              <a:t>p</a:t>
            </a:r>
            <a:r>
              <a:rPr b="0" i="0" lang="en-US" sz="2000" u="none" cap="none" strike="noStrike">
                <a:solidFill>
                  <a:schemeClr val="lt1"/>
                </a:solidFill>
                <a:latin typeface="Times New Roman"/>
                <a:ea typeface="Times New Roman"/>
                <a:cs typeface="Times New Roman"/>
                <a:sym typeface="Times New Roman"/>
              </a:rPr>
              <a:t> in S is called  </a:t>
            </a:r>
            <a:r>
              <a:rPr b="1" i="0" lang="en-US" sz="2000" u="none" cap="none" strike="noStrike">
                <a:solidFill>
                  <a:srgbClr val="FFC000"/>
                </a:solidFill>
                <a:latin typeface="Times New Roman"/>
                <a:ea typeface="Times New Roman"/>
                <a:cs typeface="Times New Roman"/>
                <a:sym typeface="Times New Roman"/>
              </a:rPr>
              <a:t>a connected </a:t>
            </a:r>
            <a:endParaRPr/>
          </a:p>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component of S</a:t>
            </a:r>
            <a:r>
              <a:rPr b="0" i="0" lang="en-US" sz="2000" u="none" cap="none" strike="noStrike">
                <a:solidFill>
                  <a:schemeClr val="lt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If it only has one connected component, then set S is called a </a:t>
            </a:r>
            <a:r>
              <a:rPr b="1" i="0" lang="en-US" sz="2000" u="none" cap="none" strike="noStrike">
                <a:solidFill>
                  <a:srgbClr val="FFC000"/>
                </a:solidFill>
                <a:latin typeface="Times New Roman"/>
                <a:ea typeface="Times New Roman"/>
                <a:cs typeface="Times New Roman"/>
                <a:sym typeface="Times New Roman"/>
              </a:rPr>
              <a:t>connected set.</a:t>
            </a:r>
            <a:endParaRPr/>
          </a:p>
        </p:txBody>
      </p:sp>
      <p:sp>
        <p:nvSpPr>
          <p:cNvPr id="492" name="Google Shape;492;p48"/>
          <p:cNvSpPr txBox="1"/>
          <p:nvPr/>
        </p:nvSpPr>
        <p:spPr>
          <a:xfrm>
            <a:off x="0" y="2421848"/>
            <a:ext cx="954123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There are three types of connectivity on the basis of adjacency. They are:</a:t>
            </a:r>
            <a:endParaRPr/>
          </a:p>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a) 4-connectivity:</a:t>
            </a:r>
            <a:r>
              <a:rPr b="0" i="0" lang="en-US" sz="2000" u="none" cap="none" strike="noStrike">
                <a:solidFill>
                  <a:srgbClr val="FFC000"/>
                </a:solidFill>
                <a:latin typeface="Times New Roman"/>
                <a:ea typeface="Times New Roman"/>
                <a:cs typeface="Times New Roman"/>
                <a:sym typeface="Times New Roman"/>
              </a:rPr>
              <a:t> </a:t>
            </a:r>
            <a:r>
              <a:rPr b="0" i="0" lang="en-US" sz="2000" u="none" cap="none" strike="noStrike">
                <a:solidFill>
                  <a:schemeClr val="lt1"/>
                </a:solidFill>
                <a:latin typeface="Times New Roman"/>
                <a:ea typeface="Times New Roman"/>
                <a:cs typeface="Times New Roman"/>
                <a:sym typeface="Times New Roman"/>
              </a:rPr>
              <a:t>Two or more pixels are said to be 4-connected if they are 4-adjacent with each others.</a:t>
            </a:r>
            <a:endParaRPr/>
          </a:p>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b) 8-connectivity:</a:t>
            </a:r>
            <a:r>
              <a:rPr b="0" i="0" lang="en-US" sz="2000" u="none" cap="none" strike="noStrike">
                <a:solidFill>
                  <a:srgbClr val="FFC000"/>
                </a:solidFill>
                <a:latin typeface="Times New Roman"/>
                <a:ea typeface="Times New Roman"/>
                <a:cs typeface="Times New Roman"/>
                <a:sym typeface="Times New Roman"/>
              </a:rPr>
              <a:t> </a:t>
            </a:r>
            <a:r>
              <a:rPr b="0" i="0" lang="en-US" sz="2000" u="none" cap="none" strike="noStrike">
                <a:solidFill>
                  <a:schemeClr val="lt1"/>
                </a:solidFill>
                <a:latin typeface="Times New Roman"/>
                <a:ea typeface="Times New Roman"/>
                <a:cs typeface="Times New Roman"/>
                <a:sym typeface="Times New Roman"/>
              </a:rPr>
              <a:t>Two or more pixels are said to be 8-connected if they are 8-adjacent with each others.</a:t>
            </a:r>
            <a:endParaRPr/>
          </a:p>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c) m-connectivity:</a:t>
            </a:r>
            <a:r>
              <a:rPr b="0" i="0" lang="en-US" sz="2000" u="none" cap="none" strike="noStrike">
                <a:solidFill>
                  <a:srgbClr val="FFC000"/>
                </a:solidFill>
                <a:latin typeface="Times New Roman"/>
                <a:ea typeface="Times New Roman"/>
                <a:cs typeface="Times New Roman"/>
                <a:sym typeface="Times New Roman"/>
              </a:rPr>
              <a:t> </a:t>
            </a:r>
            <a:r>
              <a:rPr b="0" i="0" lang="en-US" sz="2000" u="none" cap="none" strike="noStrike">
                <a:solidFill>
                  <a:schemeClr val="lt1"/>
                </a:solidFill>
                <a:latin typeface="Times New Roman"/>
                <a:ea typeface="Times New Roman"/>
                <a:cs typeface="Times New Roman"/>
                <a:sym typeface="Times New Roman"/>
              </a:rPr>
              <a:t>Two or more pixels are said to be m-connected if they are m-adjacent with each others</a:t>
            </a:r>
            <a:r>
              <a:rPr b="0" i="0" lang="en-US" sz="1400" u="none" cap="none" strike="noStrike">
                <a:solidFill>
                  <a:schemeClr val="lt1"/>
                </a:solidFill>
                <a:latin typeface="Arial"/>
                <a:ea typeface="Arial"/>
                <a:cs typeface="Arial"/>
                <a:sym typeface="Arial"/>
              </a:rPr>
              <a:t>.</a:t>
            </a:r>
            <a:endParaRPr/>
          </a:p>
        </p:txBody>
      </p:sp>
    </p:spTree>
  </p:cSld>
  <p:clrMapOvr>
    <a:masterClrMapping/>
  </p:clrMapOvr>
  <p:transition>
    <p:fade thruBlk="1"/>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graphicFrame>
        <p:nvGraphicFramePr>
          <p:cNvPr id="497" name="Google Shape;497;p49"/>
          <p:cNvGraphicFramePr/>
          <p:nvPr/>
        </p:nvGraphicFramePr>
        <p:xfrm>
          <a:off x="2861091" y="629484"/>
          <a:ext cx="3000000" cy="3000000"/>
        </p:xfrm>
        <a:graphic>
          <a:graphicData uri="http://schemas.openxmlformats.org/drawingml/2006/table">
            <a:tbl>
              <a:tblPr bandRow="1" firstRow="1">
                <a:noFill/>
                <a:tableStyleId>{979BE475-7191-4B5F-B133-15A57CA0C80E}</a:tableStyleId>
              </a:tblPr>
              <a:tblGrid>
                <a:gridCol w="351500"/>
                <a:gridCol w="351500"/>
                <a:gridCol w="351500"/>
                <a:gridCol w="351500"/>
                <a:gridCol w="351500"/>
                <a:gridCol w="351500"/>
                <a:gridCol w="351500"/>
                <a:gridCol w="351500"/>
                <a:gridCol w="351500"/>
                <a:gridCol w="351500"/>
                <a:gridCol w="351500"/>
                <a:gridCol w="351500"/>
                <a:gridCol w="351500"/>
              </a:tblGrid>
              <a:tr h="341725">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r>
              <a:tr h="341725">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r>
              <a:tr h="341725">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00B05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r>
              <a:tr h="341725">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solidFill>
                          <a:srgbClr val="FFC000"/>
                        </a:solidFill>
                      </a:endParaRPr>
                    </a:p>
                  </a:txBody>
                  <a:tcPr marT="45725" marB="45725" marR="91450" marL="91450">
                    <a:solidFill>
                      <a:srgbClr val="FF000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FF000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FF000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00B05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00B05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r>
              <a:tr h="341725">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solidFill>
                          <a:srgbClr val="FFC000"/>
                        </a:solidFill>
                      </a:endParaRPr>
                    </a:p>
                  </a:txBody>
                  <a:tcPr marT="45725" marB="45725" marR="91450" marL="91450">
                    <a:solidFill>
                      <a:srgbClr val="FF000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FF000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FF000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00B05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00B05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r>
              <a:tr h="341725">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solidFill>
                          <a:srgbClr val="FFC000"/>
                        </a:solidFill>
                      </a:endParaRPr>
                    </a:p>
                  </a:txBody>
                  <a:tcPr marT="45725" marB="45725" marR="91450" marL="91450">
                    <a:solidFill>
                      <a:srgbClr val="FF000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FF000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00B05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00B05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00B05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r>
              <a:tr h="341725">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r>
              <a:tr h="341725">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rgbClr val="595959"/>
                    </a:solidFill>
                  </a:tcPr>
                </a:tc>
              </a:tr>
            </a:tbl>
          </a:graphicData>
        </a:graphic>
      </p:graphicFrame>
      <p:sp>
        <p:nvSpPr>
          <p:cNvPr id="498" name="Google Shape;498;p49"/>
          <p:cNvSpPr txBox="1"/>
          <p:nvPr/>
        </p:nvSpPr>
        <p:spPr>
          <a:xfrm>
            <a:off x="-1" y="104931"/>
            <a:ext cx="565878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Connected components of an image </a:t>
            </a:r>
            <a:endParaRPr/>
          </a:p>
        </p:txBody>
      </p:sp>
    </p:spTree>
  </p:cSld>
  <p:clrMapOvr>
    <a:masterClrMapping/>
  </p:clrMapOvr>
  <p:transition>
    <p:fade thruBlk="1"/>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0"/>
          <p:cNvSpPr txBox="1"/>
          <p:nvPr/>
        </p:nvSpPr>
        <p:spPr>
          <a:xfrm>
            <a:off x="232946" y="0"/>
            <a:ext cx="8896662"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Region</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 Let R to be a subset of pixels in an image, we call R a region of the image. If R is a </a:t>
            </a:r>
            <a:r>
              <a:rPr b="1" i="1" lang="en-US" sz="2000" u="none" cap="none" strike="noStrike">
                <a:solidFill>
                  <a:schemeClr val="lt1"/>
                </a:solidFill>
                <a:latin typeface="Times New Roman"/>
                <a:ea typeface="Times New Roman"/>
                <a:cs typeface="Times New Roman"/>
                <a:sym typeface="Times New Roman"/>
              </a:rPr>
              <a:t>connected </a:t>
            </a:r>
            <a:r>
              <a:rPr b="0" i="0" lang="en-US" sz="2000" u="none" cap="none" strike="noStrike">
                <a:solidFill>
                  <a:schemeClr val="lt1"/>
                </a:solidFill>
                <a:latin typeface="Times New Roman"/>
                <a:ea typeface="Times New Roman"/>
                <a:cs typeface="Times New Roman"/>
                <a:sym typeface="Times New Roman"/>
              </a:rPr>
              <a:t>set.</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Two regions Ri,Rj are said to be </a:t>
            </a:r>
            <a:r>
              <a:rPr b="1" i="0" lang="en-US" sz="2000" u="none" cap="none" strike="noStrike">
                <a:solidFill>
                  <a:srgbClr val="FFC000"/>
                </a:solidFill>
                <a:latin typeface="Times New Roman"/>
                <a:ea typeface="Times New Roman"/>
                <a:cs typeface="Times New Roman"/>
                <a:sym typeface="Times New Roman"/>
              </a:rPr>
              <a:t>adjacent</a:t>
            </a:r>
            <a:r>
              <a:rPr b="0" i="0" lang="en-US" sz="2000" u="none" cap="none" strike="noStrike">
                <a:solidFill>
                  <a:schemeClr val="lt1"/>
                </a:solidFill>
                <a:latin typeface="Times New Roman"/>
                <a:ea typeface="Times New Roman"/>
                <a:cs typeface="Times New Roman"/>
                <a:sym typeface="Times New Roman"/>
              </a:rPr>
              <a:t> if their union forms a connected set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Regions that are not adjacent are said to be </a:t>
            </a:r>
            <a:r>
              <a:rPr b="1" i="0" lang="en-US" sz="2000" u="none" cap="none" strike="noStrike">
                <a:solidFill>
                  <a:schemeClr val="lt1"/>
                </a:solidFill>
                <a:latin typeface="Times New Roman"/>
                <a:ea typeface="Times New Roman"/>
                <a:cs typeface="Times New Roman"/>
                <a:sym typeface="Times New Roman"/>
              </a:rPr>
              <a:t>disjoint</a:t>
            </a:r>
            <a:r>
              <a:rPr b="0" i="0" lang="en-US" sz="2000" u="none" cap="none" strike="noStrike">
                <a:solidFill>
                  <a:schemeClr val="lt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T</a:t>
            </a:r>
            <a:r>
              <a:rPr b="1" i="0" lang="en-US" sz="2000" u="none" cap="none" strike="noStrike">
                <a:solidFill>
                  <a:schemeClr val="lt1"/>
                </a:solidFill>
                <a:latin typeface="Times New Roman"/>
                <a:ea typeface="Times New Roman"/>
                <a:cs typeface="Times New Roman"/>
                <a:sym typeface="Times New Roman"/>
              </a:rPr>
              <a:t>wo regions (of 1s) in the figure, are adjacent only if 8-adjacency is used.</a:t>
            </a:r>
            <a:endParaRPr b="1" i="0" sz="2000" u="none" cap="none" strike="noStrike">
              <a:solidFill>
                <a:schemeClr val="lt1"/>
              </a:solidFill>
              <a:latin typeface="Times New Roman"/>
              <a:ea typeface="Times New Roman"/>
              <a:cs typeface="Times New Roman"/>
              <a:sym typeface="Times New Roman"/>
            </a:endParaRPr>
          </a:p>
        </p:txBody>
      </p:sp>
      <p:pic>
        <p:nvPicPr>
          <p:cNvPr id="504" name="Google Shape;504;p50"/>
          <p:cNvPicPr preferRelativeResize="0"/>
          <p:nvPr/>
        </p:nvPicPr>
        <p:blipFill rotWithShape="1">
          <a:blip r:embed="rId3">
            <a:alphaModFix/>
          </a:blip>
          <a:srcRect b="0" l="0" r="0" t="0"/>
          <a:stretch/>
        </p:blipFill>
        <p:spPr>
          <a:xfrm>
            <a:off x="2661751" y="2315535"/>
            <a:ext cx="3140439" cy="1903603"/>
          </a:xfrm>
          <a:prstGeom prst="rect">
            <a:avLst/>
          </a:prstGeom>
          <a:noFill/>
          <a:ln>
            <a:noFill/>
          </a:ln>
        </p:spPr>
      </p:pic>
      <p:sp>
        <p:nvSpPr>
          <p:cNvPr id="505" name="Google Shape;505;p50"/>
          <p:cNvSpPr txBox="1"/>
          <p:nvPr/>
        </p:nvSpPr>
        <p:spPr>
          <a:xfrm>
            <a:off x="11240" y="4287905"/>
            <a:ext cx="913275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US" sz="2000" u="none" cap="none" strike="noStrike">
                <a:solidFill>
                  <a:schemeClr val="lt1"/>
                </a:solidFill>
                <a:latin typeface="Times New Roman"/>
                <a:ea typeface="Times New Roman"/>
                <a:cs typeface="Times New Roman"/>
                <a:sym typeface="Times New Roman"/>
              </a:rPr>
              <a:t>4-path </a:t>
            </a:r>
            <a:r>
              <a:rPr b="0" i="0" lang="en-US" sz="2000" u="none" cap="none" strike="noStrike">
                <a:solidFill>
                  <a:schemeClr val="lt1"/>
                </a:solidFill>
                <a:latin typeface="Times New Roman"/>
                <a:ea typeface="Times New Roman"/>
                <a:cs typeface="Times New Roman"/>
                <a:sym typeface="Times New Roman"/>
              </a:rPr>
              <a:t>between the two regions does not exist, (so their union in not a connected set).</a:t>
            </a:r>
            <a:endParaRPr b="0" i="0" sz="2000" u="none" cap="none" strike="noStrike">
              <a:solidFill>
                <a:schemeClr val="lt1"/>
              </a:solidFill>
              <a:latin typeface="Arial"/>
              <a:ea typeface="Arial"/>
              <a:cs typeface="Arial"/>
              <a:sym typeface="Arial"/>
            </a:endParaRPr>
          </a:p>
        </p:txBody>
      </p:sp>
      <p:sp>
        <p:nvSpPr>
          <p:cNvPr id="506" name="Google Shape;506;p50"/>
          <p:cNvSpPr/>
          <p:nvPr/>
        </p:nvSpPr>
        <p:spPr>
          <a:xfrm rot="1858417">
            <a:off x="3825504" y="3162294"/>
            <a:ext cx="1011837" cy="400259"/>
          </a:xfrm>
          <a:prstGeom prst="ellipse">
            <a:avLst/>
          </a:prstGeom>
          <a:noFill/>
          <a:ln cap="flat" cmpd="sng" w="25400">
            <a:solidFill>
              <a:srgbClr val="2A5E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1"/>
          <p:cNvSpPr txBox="1"/>
          <p:nvPr/>
        </p:nvSpPr>
        <p:spPr>
          <a:xfrm>
            <a:off x="292308" y="59960"/>
            <a:ext cx="253333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FF0000"/>
                </a:solidFill>
                <a:latin typeface="Times New Roman"/>
                <a:ea typeface="Times New Roman"/>
                <a:cs typeface="Times New Roman"/>
                <a:sym typeface="Times New Roman"/>
              </a:rPr>
              <a:t>Boundary </a:t>
            </a:r>
            <a:endParaRPr/>
          </a:p>
        </p:txBody>
      </p:sp>
      <p:sp>
        <p:nvSpPr>
          <p:cNvPr id="512" name="Google Shape;512;p51"/>
          <p:cNvSpPr txBox="1"/>
          <p:nvPr/>
        </p:nvSpPr>
        <p:spPr>
          <a:xfrm>
            <a:off x="135450" y="583175"/>
            <a:ext cx="9062400" cy="489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Set of pixels in the region that have one or more neighbors that are not in the region.</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Suppose that an image contains K distinct regions,Rk,k=1,2,3,…k, none of which touches the image border.</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Let Ru denote the union of all the K regions , and let </a:t>
            </a:r>
            <a:r>
              <a:rPr b="0" i="0" lang="en-US" sz="1800" u="none" cap="none" strike="noStrike">
                <a:solidFill>
                  <a:schemeClr val="lt1"/>
                </a:solidFill>
                <a:latin typeface="Times New Roman"/>
                <a:ea typeface="Times New Roman"/>
                <a:cs typeface="Times New Roman"/>
                <a:sym typeface="Times New Roman"/>
              </a:rPr>
              <a:t>(Ru)</a:t>
            </a:r>
            <a:r>
              <a:rPr b="0" baseline="30000" i="0" lang="en-US" sz="1800" u="none" cap="none" strike="noStrike">
                <a:solidFill>
                  <a:schemeClr val="lt1"/>
                </a:solidFill>
                <a:latin typeface="Times New Roman"/>
                <a:ea typeface="Times New Roman"/>
                <a:cs typeface="Times New Roman"/>
                <a:sym typeface="Times New Roman"/>
              </a:rPr>
              <a:t>c   </a:t>
            </a:r>
            <a:endParaRPr/>
          </a:p>
          <a:p>
            <a:pPr indent="0" lvl="0" marL="0" marR="0" rtl="0" algn="l">
              <a:lnSpc>
                <a:spcPct val="100000"/>
              </a:lnSpc>
              <a:spcBef>
                <a:spcPts val="0"/>
              </a:spcBef>
              <a:spcAft>
                <a:spcPts val="0"/>
              </a:spcAft>
              <a:buNone/>
            </a:pPr>
            <a:r>
              <a:t/>
            </a:r>
            <a:endParaRPr b="0" baseline="30000" i="0" sz="18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baseline="30000" i="0" lang="en-US" sz="3200" u="none" cap="none" strike="noStrike">
                <a:solidFill>
                  <a:schemeClr val="lt1"/>
                </a:solidFill>
                <a:latin typeface="Times New Roman"/>
                <a:ea typeface="Times New Roman"/>
                <a:cs typeface="Times New Roman"/>
                <a:sym typeface="Times New Roman"/>
              </a:rPr>
              <a:t>denote its complement ( complement of a set S is the set of points that are not in S) .</a:t>
            </a:r>
            <a:endParaRPr/>
          </a:p>
          <a:p>
            <a:pPr indent="0" lvl="0" marL="0" marR="0" rtl="0" algn="l">
              <a:lnSpc>
                <a:spcPct val="100000"/>
              </a:lnSpc>
              <a:spcBef>
                <a:spcPts val="0"/>
              </a:spcBef>
              <a:spcAft>
                <a:spcPts val="0"/>
              </a:spcAft>
              <a:buNone/>
            </a:pPr>
            <a:r>
              <a:rPr b="0" baseline="30000" i="0" lang="en-US" sz="3200" u="none" cap="none" strike="noStrike">
                <a:solidFill>
                  <a:schemeClr val="lt1"/>
                </a:solidFill>
                <a:latin typeface="Times New Roman"/>
                <a:ea typeface="Times New Roman"/>
                <a:cs typeface="Times New Roman"/>
                <a:sym typeface="Times New Roman"/>
              </a:rPr>
              <a:t>We call all the points in Ru the foreground and all the points in </a:t>
            </a:r>
            <a:r>
              <a:rPr b="0" i="0" lang="en-US" sz="2000" u="none" cap="none" strike="noStrike">
                <a:solidFill>
                  <a:schemeClr val="lt1"/>
                </a:solidFill>
                <a:latin typeface="Times New Roman"/>
                <a:ea typeface="Times New Roman"/>
                <a:cs typeface="Times New Roman"/>
                <a:sym typeface="Times New Roman"/>
              </a:rPr>
              <a:t>(Ru)</a:t>
            </a:r>
            <a:r>
              <a:rPr b="0" baseline="30000" i="0" lang="en-US" sz="2000" u="none" cap="none" strike="noStrike">
                <a:solidFill>
                  <a:schemeClr val="lt1"/>
                </a:solidFill>
                <a:latin typeface="Times New Roman"/>
                <a:ea typeface="Times New Roman"/>
                <a:cs typeface="Times New Roman"/>
                <a:sym typeface="Times New Roman"/>
              </a:rPr>
              <a:t>c      </a:t>
            </a:r>
            <a:r>
              <a:rPr b="0" baseline="30000" i="0" lang="en-US" sz="3200" u="none" cap="none" strike="noStrike">
                <a:solidFill>
                  <a:schemeClr val="lt1"/>
                </a:solidFill>
                <a:latin typeface="Times New Roman"/>
                <a:ea typeface="Times New Roman"/>
                <a:cs typeface="Times New Roman"/>
                <a:sym typeface="Times New Roman"/>
              </a:rPr>
              <a:t>the background of the image.</a:t>
            </a:r>
            <a:endParaRPr/>
          </a:p>
          <a:p>
            <a:pPr indent="0" lvl="0" marL="0" marR="0" rtl="0" algn="l">
              <a:lnSpc>
                <a:spcPct val="100000"/>
              </a:lnSpc>
              <a:spcBef>
                <a:spcPts val="0"/>
              </a:spcBef>
              <a:spcAft>
                <a:spcPts val="0"/>
              </a:spcAft>
              <a:buNone/>
            </a:pPr>
            <a:r>
              <a:rPr b="1" baseline="30000" i="0" lang="en-US" sz="3200" u="none" cap="none" strike="noStrike">
                <a:solidFill>
                  <a:srgbClr val="FFC000"/>
                </a:solidFill>
                <a:latin typeface="Times New Roman"/>
                <a:ea typeface="Times New Roman"/>
                <a:cs typeface="Times New Roman"/>
                <a:sym typeface="Times New Roman"/>
              </a:rPr>
              <a:t>The boundary of a region R is the set of pixels in the region that has at least one background neighbor.</a:t>
            </a:r>
            <a:endParaRPr b="1" i="0" sz="3200" u="none" cap="none" strike="noStrike">
              <a:solidFill>
                <a:srgbClr val="FFC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p:fade thruBlk="1"/>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graphicFrame>
        <p:nvGraphicFramePr>
          <p:cNvPr id="517" name="Google Shape;517;p52"/>
          <p:cNvGraphicFramePr/>
          <p:nvPr/>
        </p:nvGraphicFramePr>
        <p:xfrm>
          <a:off x="1967948" y="0"/>
          <a:ext cx="3000000" cy="3000000"/>
        </p:xfrm>
        <a:graphic>
          <a:graphicData uri="http://schemas.openxmlformats.org/drawingml/2006/table">
            <a:tbl>
              <a:tblPr bandRow="1" firstRow="1">
                <a:noFill/>
                <a:tableStyleId>{979BE475-7191-4B5F-B133-15A57CA0C80E}</a:tableStyleId>
              </a:tblPr>
              <a:tblGrid>
                <a:gridCol w="585750"/>
                <a:gridCol w="585750"/>
                <a:gridCol w="585750"/>
                <a:gridCol w="585750"/>
                <a:gridCol w="585750"/>
              </a:tblGrid>
              <a:tr h="370850">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r>
              <a:tr h="370850">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1</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1</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r>
              <a:tr h="370850">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1</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1</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r>
              <a:tr h="370850">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1</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1</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1</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r>
              <a:tr h="370850">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1</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1</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1</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r>
              <a:tr h="370850">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c>
                  <a:txBody>
                    <a:bodyPr/>
                    <a:lstStyle/>
                    <a:p>
                      <a:pPr indent="0" lvl="0" marL="0" marR="0" rtl="0" algn="l">
                        <a:lnSpc>
                          <a:spcPct val="100000"/>
                        </a:lnSpc>
                        <a:spcBef>
                          <a:spcPts val="0"/>
                        </a:spcBef>
                        <a:spcAft>
                          <a:spcPts val="0"/>
                        </a:spcAft>
                        <a:buNone/>
                      </a:pPr>
                      <a:r>
                        <a:rPr b="1" lang="en-US" sz="1400" u="none" cap="none" strike="noStrike"/>
                        <a:t>0</a:t>
                      </a:r>
                      <a:endParaRPr/>
                    </a:p>
                  </a:txBody>
                  <a:tcPr marT="45725" marB="45725" marR="91450" marL="91450">
                    <a:solidFill>
                      <a:srgbClr val="BFBFBF"/>
                    </a:solidFill>
                  </a:tcPr>
                </a:tc>
              </a:tr>
            </a:tbl>
          </a:graphicData>
        </a:graphic>
      </p:graphicFrame>
      <p:sp>
        <p:nvSpPr>
          <p:cNvPr id="518" name="Google Shape;518;p52"/>
          <p:cNvSpPr/>
          <p:nvPr/>
        </p:nvSpPr>
        <p:spPr>
          <a:xfrm>
            <a:off x="3138115" y="1112520"/>
            <a:ext cx="294198" cy="294198"/>
          </a:xfrm>
          <a:prstGeom prst="ellipse">
            <a:avLst/>
          </a:prstGeom>
          <a:noFill/>
          <a:ln cap="flat" cmpd="sng" w="25400">
            <a:solidFill>
              <a:srgbClr val="2A5E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19" name="Google Shape;519;p52"/>
          <p:cNvSpPr txBox="1"/>
          <p:nvPr/>
        </p:nvSpPr>
        <p:spPr>
          <a:xfrm>
            <a:off x="0" y="2225040"/>
            <a:ext cx="908039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pixel circled in the figure is not a member of the border of the        1-valued region if 4 –connectivity is used between the region and its background.</a:t>
            </a:r>
            <a:endParaRPr/>
          </a:p>
        </p:txBody>
      </p:sp>
      <p:sp>
        <p:nvSpPr>
          <p:cNvPr id="520" name="Google Shape;520;p52"/>
          <p:cNvSpPr txBox="1"/>
          <p:nvPr/>
        </p:nvSpPr>
        <p:spPr>
          <a:xfrm>
            <a:off x="-7951" y="2986597"/>
            <a:ext cx="908834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circled point is part of the boundary of the 1-valued pixels only if 8-adjacency between the region and background is used.</a:t>
            </a:r>
            <a:endParaRPr/>
          </a:p>
        </p:txBody>
      </p:sp>
      <p:sp>
        <p:nvSpPr>
          <p:cNvPr id="521" name="Google Shape;521;p52"/>
          <p:cNvSpPr txBox="1"/>
          <p:nvPr/>
        </p:nvSpPr>
        <p:spPr>
          <a:xfrm>
            <a:off x="-35781" y="3782745"/>
            <a:ext cx="9394465"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The inner border does not form a closed path around the region.</a:t>
            </a:r>
            <a:endParaRPr/>
          </a:p>
          <a:p>
            <a:pPr indent="0" lvl="0" marL="0" marR="0" rtl="0" algn="l">
              <a:lnSpc>
                <a:spcPct val="100000"/>
              </a:lnSpc>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The outer border of the region does form a closed path around the region.</a:t>
            </a:r>
            <a:endParaRPr/>
          </a:p>
        </p:txBody>
      </p:sp>
    </p:spTree>
  </p:cSld>
  <p:clrMapOvr>
    <a:masterClrMapping/>
  </p:clrMapOvr>
  <p:transition>
    <p:fade thruBlk="1"/>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3"/>
          <p:cNvSpPr txBox="1"/>
          <p:nvPr/>
        </p:nvSpPr>
        <p:spPr>
          <a:xfrm>
            <a:off x="-1" y="183391"/>
            <a:ext cx="822210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Fundamentals of spatial domain-convolution operation</a:t>
            </a:r>
            <a:endParaRPr b="1" i="0" sz="2400" u="none" cap="none" strike="noStrike">
              <a:solidFill>
                <a:srgbClr val="FFC000"/>
              </a:solidFill>
              <a:latin typeface="Arial"/>
              <a:ea typeface="Arial"/>
              <a:cs typeface="Arial"/>
              <a:sym typeface="Arial"/>
            </a:endParaRPr>
          </a:p>
        </p:txBody>
      </p:sp>
      <p:sp>
        <p:nvSpPr>
          <p:cNvPr id="527" name="Google Shape;527;p53"/>
          <p:cNvSpPr txBox="1"/>
          <p:nvPr/>
        </p:nvSpPr>
        <p:spPr>
          <a:xfrm>
            <a:off x="202367" y="816964"/>
            <a:ext cx="9076544" cy="2369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Spatial Filtering </a:t>
            </a:r>
            <a:endParaRPr/>
          </a:p>
          <a:p>
            <a:pPr indent="0" lvl="0" marL="0" marR="0" rtl="0" algn="l">
              <a:lnSpc>
                <a:spcPct val="100000"/>
              </a:lnSpc>
              <a:spcBef>
                <a:spcPts val="0"/>
              </a:spcBef>
              <a:spcAft>
                <a:spcPts val="0"/>
              </a:spcAft>
              <a:buNone/>
            </a:pPr>
            <a:r>
              <a:t/>
            </a:r>
            <a:endParaRPr b="1" i="0" sz="2400" u="none" cap="none" strike="noStrike">
              <a:solidFill>
                <a:srgbClr val="FFC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mechanics of spatial filtering spatial filters consist of </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1. Neighborhood (small rectangle). </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2. Predefined operation that is performed on the image pixel. </a:t>
            </a:r>
            <a:endParaRPr/>
          </a:p>
          <a:p>
            <a:pPr indent="0" lvl="0" marL="0" marR="0" rtl="0" algn="l">
              <a:lnSpc>
                <a:spcPct val="100000"/>
              </a:lnSpc>
              <a:spcBef>
                <a:spcPts val="0"/>
              </a:spcBef>
              <a:spcAft>
                <a:spcPts val="0"/>
              </a:spcAft>
              <a:buNone/>
            </a:pPr>
            <a:r>
              <a:t/>
            </a:r>
            <a:endParaRPr b="1"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2000" u="none" cap="none" strike="noStrike">
              <a:solidFill>
                <a:schemeClr val="lt1"/>
              </a:solidFill>
              <a:latin typeface="Times New Roman"/>
              <a:ea typeface="Times New Roman"/>
              <a:cs typeface="Times New Roman"/>
              <a:sym typeface="Times New Roman"/>
            </a:endParaRPr>
          </a:p>
        </p:txBody>
      </p:sp>
      <p:pic>
        <p:nvPicPr>
          <p:cNvPr id="528" name="Google Shape;528;p53"/>
          <p:cNvPicPr preferRelativeResize="0"/>
          <p:nvPr/>
        </p:nvPicPr>
        <p:blipFill rotWithShape="1">
          <a:blip r:embed="rId3">
            <a:alphaModFix/>
          </a:blip>
          <a:srcRect b="0" l="0" r="0" t="0"/>
          <a:stretch/>
        </p:blipFill>
        <p:spPr>
          <a:xfrm>
            <a:off x="1762201" y="3306506"/>
            <a:ext cx="3934060" cy="1653603"/>
          </a:xfrm>
          <a:prstGeom prst="rect">
            <a:avLst/>
          </a:prstGeom>
          <a:noFill/>
          <a:ln>
            <a:noFill/>
          </a:ln>
        </p:spPr>
      </p:pic>
    </p:spTree>
  </p:cSld>
  <p:clrMapOvr>
    <a:masterClrMapping/>
  </p:clrMapOvr>
  <p:transition>
    <p:fade thruBlk="1"/>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4"/>
          <p:cNvSpPr txBox="1"/>
          <p:nvPr/>
        </p:nvSpPr>
        <p:spPr>
          <a:xfrm>
            <a:off x="67456" y="209862"/>
            <a:ext cx="8964118" cy="4462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Filtering creates new pixels with coordinates equal to the coordinates of the center of the neighborhood, and whose value is the result of the filtering operation.</a:t>
            </a:r>
            <a:endParaRPr/>
          </a:p>
          <a:p>
            <a:pPr indent="0" lvl="0" marL="0" marR="0" rtl="0" algn="l">
              <a:lnSpc>
                <a:spcPct val="1000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If the operation performed on the image pixel is linear, then the filter is called a </a:t>
            </a:r>
            <a:r>
              <a:rPr b="1" i="0" lang="en-US" sz="2400" u="none" cap="none" strike="noStrike">
                <a:solidFill>
                  <a:srgbClr val="FF0000"/>
                </a:solidFill>
                <a:latin typeface="Times New Roman"/>
                <a:ea typeface="Times New Roman"/>
                <a:cs typeface="Times New Roman"/>
                <a:sym typeface="Times New Roman"/>
              </a:rPr>
              <a:t>linear spatial filter, </a:t>
            </a:r>
            <a:r>
              <a:rPr b="0" i="0" lang="en-US" sz="2400" u="none" cap="none" strike="noStrike">
                <a:solidFill>
                  <a:schemeClr val="lt1"/>
                </a:solidFill>
                <a:latin typeface="Times New Roman"/>
                <a:ea typeface="Times New Roman"/>
                <a:cs typeface="Times New Roman"/>
                <a:sym typeface="Times New Roman"/>
              </a:rPr>
              <a:t>otherwise, the filter is </a:t>
            </a:r>
            <a:r>
              <a:rPr b="1" i="0" lang="en-US" sz="2400" u="none" cap="none" strike="noStrike">
                <a:solidFill>
                  <a:srgbClr val="FF0000"/>
                </a:solidFill>
                <a:latin typeface="Times New Roman"/>
                <a:ea typeface="Times New Roman"/>
                <a:cs typeface="Times New Roman"/>
                <a:sym typeface="Times New Roman"/>
              </a:rPr>
              <a:t>nonlinear</a:t>
            </a:r>
            <a:r>
              <a:rPr b="0" i="0" lang="en-US" sz="2400" u="none" cap="none" strike="noStrike">
                <a:solidFill>
                  <a:schemeClr val="lt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Mechanism of linear spatial filtering using a 3*3 neighborhood</a:t>
            </a:r>
            <a:endParaRPr/>
          </a:p>
          <a:p>
            <a:pPr indent="0" lvl="0" marL="0" marR="0" rtl="0" algn="l">
              <a:lnSpc>
                <a:spcPct val="100000"/>
              </a:lnSpc>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The response (output) g(x,y) of the filter at any point (x,y) in the image is the sum of the products of the filter coefficients and the image pixels values: </a:t>
            </a:r>
            <a:endParaRPr b="0" i="0" sz="24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pic>
        <p:nvPicPr>
          <p:cNvPr id="538" name="Google Shape;538;p55"/>
          <p:cNvPicPr preferRelativeResize="0"/>
          <p:nvPr/>
        </p:nvPicPr>
        <p:blipFill rotWithShape="1">
          <a:blip r:embed="rId3">
            <a:alphaModFix/>
          </a:blip>
          <a:srcRect b="0" l="0" r="0" t="0"/>
          <a:stretch/>
        </p:blipFill>
        <p:spPr>
          <a:xfrm>
            <a:off x="0" y="35551"/>
            <a:ext cx="9144000" cy="5072397"/>
          </a:xfrm>
          <a:prstGeom prst="rect">
            <a:avLst/>
          </a:prstGeom>
          <a:noFill/>
          <a:ln>
            <a:noFill/>
          </a:ln>
        </p:spPr>
      </p:pic>
    </p:spTree>
  </p:cSld>
  <p:clrMapOvr>
    <a:masterClrMapping/>
  </p:clrMapOvr>
  <p:transition>
    <p:fade thruBlk="1"/>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6"/>
          <p:cNvSpPr txBox="1"/>
          <p:nvPr/>
        </p:nvSpPr>
        <p:spPr>
          <a:xfrm>
            <a:off x="44970" y="0"/>
            <a:ext cx="9054059" cy="1908215"/>
          </a:xfrm>
          <a:prstGeom prst="rect">
            <a:avLst/>
          </a:prstGeom>
          <a:noFill/>
          <a:ln>
            <a:noFill/>
          </a:ln>
        </p:spPr>
        <p:txBody>
          <a:bodyPr anchorCtr="0" anchor="t" bIns="45700" lIns="91425" spcFirstLastPara="1" rIns="91425" wrap="square" tIns="45700">
            <a:spAutoFit/>
          </a:bodyPr>
          <a:lstStyle/>
          <a:p>
            <a:pPr indent="0" lvl="0" marL="85725" marR="6223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Observe that the center coefficient of the filter, w(O, O) aligns with  the pixel at location(x, y)</a:t>
            </a:r>
            <a:r>
              <a:rPr b="1" i="0" lang="en-US" sz="2000" u="none" cap="none" strike="noStrike">
                <a:solidFill>
                  <a:schemeClr val="lt1"/>
                </a:solidFill>
                <a:latin typeface="Times New Roman"/>
                <a:ea typeface="Times New Roman"/>
                <a:cs typeface="Times New Roman"/>
                <a:sym typeface="Times New Roman"/>
              </a:rPr>
              <a:t>.</a:t>
            </a:r>
            <a:endParaRPr/>
          </a:p>
          <a:p>
            <a:pPr indent="0" lvl="0" marL="85725" marR="62230" rtl="0" algn="l">
              <a:lnSpc>
                <a:spcPct val="100000"/>
              </a:lnSpc>
              <a:spcBef>
                <a:spcPts val="0"/>
              </a:spcBef>
              <a:spcAft>
                <a:spcPts val="0"/>
              </a:spcAft>
              <a:buNone/>
            </a:pPr>
            <a:r>
              <a:t/>
            </a:r>
            <a:endParaRPr b="1" i="0" sz="2400" u="none" cap="none" strike="noStrike">
              <a:solidFill>
                <a:schemeClr val="lt1"/>
              </a:solidFill>
              <a:latin typeface="Times New Roman"/>
              <a:ea typeface="Times New Roman"/>
              <a:cs typeface="Times New Roman"/>
              <a:sym typeface="Times New Roman"/>
            </a:endParaRPr>
          </a:p>
          <a:p>
            <a:pPr indent="0" lvl="0" marL="0" marR="229870" rtl="0" algn="just">
              <a:lnSpc>
                <a:spcPct val="100277"/>
              </a:lnSpc>
              <a:spcBef>
                <a:spcPts val="30"/>
              </a:spcBef>
              <a:spcAft>
                <a:spcPts val="0"/>
              </a:spcAft>
              <a:buNone/>
            </a:pPr>
            <a:r>
              <a:rPr b="1" i="0" lang="en-US" sz="1800" u="none" cap="none" strike="noStrike">
                <a:solidFill>
                  <a:srgbClr val="FFC000"/>
                </a:solidFill>
                <a:latin typeface="Cambria"/>
                <a:ea typeface="Cambria"/>
                <a:cs typeface="Cambria"/>
                <a:sym typeface="Cambria"/>
              </a:rPr>
              <a:t>g(x, y) = w(−1, −1)f(x − 1, y − 1) +  w(−1, O)f(x − 1, y) +… + w (O, O) f(x, y) +</a:t>
            </a:r>
            <a:endParaRPr/>
          </a:p>
          <a:p>
            <a:pPr indent="0" lvl="0" marL="0" marR="229870" rtl="0" algn="just">
              <a:lnSpc>
                <a:spcPct val="100277"/>
              </a:lnSpc>
              <a:spcBef>
                <a:spcPts val="30"/>
              </a:spcBef>
              <a:spcAft>
                <a:spcPts val="0"/>
              </a:spcAft>
              <a:buNone/>
            </a:pPr>
            <a:r>
              <a:rPr b="1" i="0" lang="en-US" sz="1800" u="none" cap="none" strike="noStrike">
                <a:solidFill>
                  <a:srgbClr val="FFC000"/>
                </a:solidFill>
                <a:latin typeface="Cambria"/>
                <a:ea typeface="Cambria"/>
                <a:cs typeface="Cambria"/>
                <a:sym typeface="Cambria"/>
              </a:rPr>
              <a:t>                                                                                                                        . . . + w(1, 1) f(x + 1, y + 1)</a:t>
            </a:r>
            <a:endParaRPr b="1" i="0" sz="1800" u="none" cap="none" strike="noStrike">
              <a:solidFill>
                <a:srgbClr val="FFC000"/>
              </a:solidFill>
              <a:latin typeface="Times New Roman"/>
              <a:ea typeface="Times New Roman"/>
              <a:cs typeface="Times New Roman"/>
              <a:sym typeface="Times New Roman"/>
            </a:endParaRPr>
          </a:p>
          <a:p>
            <a:pPr indent="0" lvl="0" marL="85725" marR="62230" rtl="0" algn="l">
              <a:lnSpc>
                <a:spcPct val="100000"/>
              </a:lnSpc>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544" name="Google Shape;544;p56"/>
          <p:cNvSpPr txBox="1"/>
          <p:nvPr/>
        </p:nvSpPr>
        <p:spPr>
          <a:xfrm>
            <a:off x="-59960" y="1612937"/>
            <a:ext cx="9054059"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FFC000"/>
                </a:solidFill>
                <a:latin typeface="Times New Roman"/>
                <a:ea typeface="Times New Roman"/>
                <a:cs typeface="Times New Roman"/>
                <a:sym typeface="Times New Roman"/>
              </a:rPr>
              <a:t>General mask of size m x n</a:t>
            </a:r>
            <a:endParaRPr/>
          </a:p>
          <a:p>
            <a:pPr indent="0" lvl="0" marL="0" marR="0" rtl="0" algn="l">
              <a:lnSpc>
                <a:spcPct val="100000"/>
              </a:lnSpc>
              <a:spcBef>
                <a:spcPts val="0"/>
              </a:spcBef>
              <a:spcAft>
                <a:spcPts val="0"/>
              </a:spcAft>
              <a:buNone/>
            </a:pPr>
            <a:r>
              <a:t/>
            </a:r>
            <a:endParaRPr b="1" i="0" sz="2800" u="none" cap="none" strike="noStrike">
              <a:solidFill>
                <a:srgbClr val="FFC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400" u="none" cap="none" strike="noStrike">
                <a:solidFill>
                  <a:schemeClr val="lt1"/>
                </a:solidFill>
                <a:latin typeface="Times New Roman"/>
                <a:ea typeface="Times New Roman"/>
                <a:cs typeface="Times New Roman"/>
                <a:sym typeface="Times New Roman"/>
              </a:rPr>
              <a:t>Assume </a:t>
            </a:r>
            <a:endParaRPr/>
          </a:p>
          <a:p>
            <a:pPr indent="0" lvl="0" marL="0" marR="0" rtl="0" algn="l">
              <a:lnSpc>
                <a:spcPct val="100000"/>
              </a:lnSpc>
              <a:spcBef>
                <a:spcPts val="0"/>
              </a:spcBef>
              <a:spcAft>
                <a:spcPts val="0"/>
              </a:spcAft>
              <a:buNone/>
            </a:pPr>
            <a:r>
              <a:rPr b="1" i="0" lang="en-US" sz="2400" u="none" cap="none" strike="noStrike">
                <a:solidFill>
                  <a:schemeClr val="lt1"/>
                </a:solidFill>
                <a:latin typeface="Times New Roman"/>
                <a:ea typeface="Times New Roman"/>
                <a:cs typeface="Times New Roman"/>
                <a:sym typeface="Times New Roman"/>
              </a:rPr>
              <a:t>       m=2a+1     and n=2b+1 ,where a,b are positive integers </a:t>
            </a:r>
            <a:endParaRPr/>
          </a:p>
          <a:p>
            <a:pPr indent="0" lvl="0" marL="0" marR="0" rtl="0" algn="l">
              <a:lnSpc>
                <a:spcPct val="100000"/>
              </a:lnSpc>
              <a:spcBef>
                <a:spcPts val="0"/>
              </a:spcBef>
              <a:spcAft>
                <a:spcPts val="0"/>
              </a:spcAft>
              <a:buNone/>
            </a:pPr>
            <a:r>
              <a:rPr b="1" i="0" lang="en-US" sz="2400" u="none" cap="none" strike="noStrike">
                <a:solidFill>
                  <a:schemeClr val="lt1"/>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In general, linear spatial filtering of an image of size M ∗ N with a filter of size m ∗ n is given by the expression:</a:t>
            </a:r>
            <a:endParaRPr b="0" i="0"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400" u="none" cap="none" strike="noStrike">
                <a:solidFill>
                  <a:schemeClr val="lt1"/>
                </a:solidFill>
                <a:latin typeface="Times New Roman"/>
                <a:ea typeface="Times New Roman"/>
                <a:cs typeface="Times New Roman"/>
                <a:sym typeface="Times New Roman"/>
              </a:rPr>
              <a:t> </a:t>
            </a:r>
            <a:endParaRPr/>
          </a:p>
        </p:txBody>
      </p:sp>
    </p:spTree>
  </p:cSld>
  <p:clrMapOvr>
    <a:masterClrMapping/>
  </p:clrMapOvr>
  <p:transition>
    <p:fade thruBlk="1"/>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pic>
        <p:nvPicPr>
          <p:cNvPr id="549" name="Google Shape;549;p57"/>
          <p:cNvPicPr preferRelativeResize="0"/>
          <p:nvPr/>
        </p:nvPicPr>
        <p:blipFill rotWithShape="1">
          <a:blip r:embed="rId3">
            <a:alphaModFix/>
          </a:blip>
          <a:srcRect b="0" l="0" r="0" t="0"/>
          <a:stretch/>
        </p:blipFill>
        <p:spPr>
          <a:xfrm>
            <a:off x="247337" y="0"/>
            <a:ext cx="8087195" cy="2357978"/>
          </a:xfrm>
          <a:prstGeom prst="rect">
            <a:avLst/>
          </a:prstGeom>
          <a:noFill/>
          <a:ln>
            <a:noFill/>
          </a:ln>
        </p:spPr>
      </p:pic>
      <p:sp>
        <p:nvSpPr>
          <p:cNvPr id="550" name="Google Shape;550;p57"/>
          <p:cNvSpPr txBox="1"/>
          <p:nvPr/>
        </p:nvSpPr>
        <p:spPr>
          <a:xfrm>
            <a:off x="71202" y="2932439"/>
            <a:ext cx="9001595" cy="15763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Courier New"/>
                <a:ea typeface="Courier New"/>
                <a:cs typeface="Courier New"/>
                <a:sym typeface="Courier New"/>
              </a:rPr>
              <a:t> </a:t>
            </a:r>
            <a:r>
              <a:rPr b="1" i="0" lang="en-US" sz="1600" u="none" cap="none" strike="noStrike">
                <a:solidFill>
                  <a:schemeClr val="lt1"/>
                </a:solidFill>
                <a:latin typeface="Times New Roman"/>
                <a:ea typeface="Times New Roman"/>
                <a:cs typeface="Times New Roman"/>
                <a:sym typeface="Times New Roman"/>
              </a:rPr>
              <a:t>Correlation and convolution are functions of displacement .</a:t>
            </a:r>
            <a:endParaRPr b="0" i="0" sz="1400" u="none" cap="none" strike="noStrike">
              <a:solidFill>
                <a:schemeClr val="lt1"/>
              </a:solidFill>
              <a:latin typeface="Times New Roman"/>
              <a:ea typeface="Times New Roman"/>
              <a:cs typeface="Times New Roman"/>
              <a:sym typeface="Times New Roman"/>
            </a:endParaRPr>
          </a:p>
          <a:p>
            <a:pPr indent="0" lvl="0" marL="0" marR="8001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Correlation</a:t>
            </a:r>
            <a:r>
              <a:rPr b="0" i="0" lang="en-US" sz="2000" u="none" cap="none" strike="noStrike">
                <a:solidFill>
                  <a:srgbClr val="FFC000"/>
                </a:solidFill>
                <a:latin typeface="Times New Roman"/>
                <a:ea typeface="Times New Roman"/>
                <a:cs typeface="Times New Roman"/>
                <a:sym typeface="Times New Roman"/>
              </a:rPr>
              <a:t>: </a:t>
            </a:r>
            <a:r>
              <a:rPr b="0" i="0" lang="en-US" sz="2000" u="none" cap="none" strike="noStrike">
                <a:solidFill>
                  <a:schemeClr val="lt1"/>
                </a:solidFill>
                <a:latin typeface="Times New Roman"/>
                <a:ea typeface="Times New Roman"/>
                <a:cs typeface="Times New Roman"/>
                <a:sym typeface="Times New Roman"/>
              </a:rPr>
              <a:t>the process of moving a filter mask over the image and computing the sum of products at each location.</a:t>
            </a:r>
            <a:endParaRPr b="0" i="0" sz="2000" u="none" cap="none" strike="noStrike">
              <a:solidFill>
                <a:schemeClr val="lt1"/>
              </a:solidFill>
              <a:latin typeface="Times New Roman"/>
              <a:ea typeface="Times New Roman"/>
              <a:cs typeface="Times New Roman"/>
              <a:sym typeface="Times New Roman"/>
            </a:endParaRPr>
          </a:p>
          <a:p>
            <a:pPr indent="0" lvl="0" marL="0" marR="80645" rtl="0" algn="l">
              <a:lnSpc>
                <a:spcPct val="102000"/>
              </a:lnSpc>
              <a:spcBef>
                <a:spcPts val="55"/>
              </a:spcBef>
              <a:spcAft>
                <a:spcPts val="0"/>
              </a:spcAft>
              <a:buNone/>
            </a:pPr>
            <a:r>
              <a:rPr b="1" i="0" lang="en-US" sz="2000" u="none" cap="none" strike="noStrike">
                <a:solidFill>
                  <a:srgbClr val="FFC000"/>
                </a:solidFill>
                <a:latin typeface="Times New Roman"/>
                <a:ea typeface="Times New Roman"/>
                <a:cs typeface="Times New Roman"/>
                <a:sym typeface="Times New Roman"/>
              </a:rPr>
              <a:t>Convolution</a:t>
            </a:r>
            <a:r>
              <a:rPr b="0" i="0" lang="en-US" sz="2000" u="none" cap="none" strike="noStrike">
                <a:solidFill>
                  <a:srgbClr val="FFC000"/>
                </a:solidFill>
                <a:latin typeface="Times New Roman"/>
                <a:ea typeface="Times New Roman"/>
                <a:cs typeface="Times New Roman"/>
                <a:sym typeface="Times New Roman"/>
              </a:rPr>
              <a:t>: </a:t>
            </a:r>
            <a:r>
              <a:rPr b="0" i="0" lang="en-US" sz="2000" u="none" cap="none" strike="noStrike">
                <a:solidFill>
                  <a:schemeClr val="lt1"/>
                </a:solidFill>
                <a:latin typeface="Times New Roman"/>
                <a:ea typeface="Times New Roman"/>
                <a:cs typeface="Times New Roman"/>
                <a:sym typeface="Times New Roman"/>
              </a:rPr>
              <a:t>the same process as correlation, except that the filter is first </a:t>
            </a:r>
            <a:r>
              <a:rPr b="1" i="1" lang="en-US" sz="2000" u="none" cap="none" strike="noStrike">
                <a:solidFill>
                  <a:schemeClr val="lt1"/>
                </a:solidFill>
                <a:latin typeface="Times New Roman"/>
                <a:ea typeface="Times New Roman"/>
                <a:cs typeface="Times New Roman"/>
                <a:sym typeface="Times New Roman"/>
              </a:rPr>
              <a:t>rotated by </a:t>
            </a:r>
            <a:r>
              <a:rPr b="0" i="0" lang="en-US" sz="2000" u="none" cap="none" strike="noStrike">
                <a:solidFill>
                  <a:schemeClr val="lt1"/>
                </a:solidFill>
                <a:latin typeface="Times New Roman"/>
                <a:ea typeface="Times New Roman"/>
                <a:cs typeface="Times New Roman"/>
                <a:sym typeface="Times New Roman"/>
              </a:rPr>
              <a:t>180</a:t>
            </a:r>
            <a:r>
              <a:rPr b="0" baseline="30000" i="0" lang="en-US" sz="2000" u="none" cap="none" strike="noStrike">
                <a:solidFill>
                  <a:schemeClr val="lt1"/>
                </a:solidFill>
                <a:latin typeface="Times New Roman"/>
                <a:ea typeface="Times New Roman"/>
                <a:cs typeface="Times New Roman"/>
                <a:sym typeface="Times New Roman"/>
              </a:rPr>
              <a:t>O</a:t>
            </a:r>
            <a:endParaRPr b="0" i="0" sz="2000" u="none" cap="none" strike="noStrike">
              <a:solidFill>
                <a:schemeClr val="lt1"/>
              </a:solidFill>
              <a:latin typeface="Times New Roman"/>
              <a:ea typeface="Times New Roman"/>
              <a:cs typeface="Times New Roman"/>
              <a:sym typeface="Times New Roman"/>
            </a:endParaRPr>
          </a:p>
        </p:txBody>
      </p:sp>
      <p:sp>
        <p:nvSpPr>
          <p:cNvPr id="551" name="Google Shape;551;p57"/>
          <p:cNvSpPr txBox="1"/>
          <p:nvPr/>
        </p:nvSpPr>
        <p:spPr>
          <a:xfrm>
            <a:off x="-1365250" y="2470774"/>
            <a:ext cx="7493000" cy="461665"/>
          </a:xfrm>
          <a:prstGeom prst="rect">
            <a:avLst/>
          </a:prstGeom>
          <a:noFill/>
          <a:ln>
            <a:noFill/>
          </a:ln>
        </p:spPr>
        <p:txBody>
          <a:bodyPr anchorCtr="0" anchor="t" bIns="45700" lIns="91425" spcFirstLastPara="1" rIns="91425" wrap="square" tIns="45700">
            <a:spAutoFit/>
          </a:bodyPr>
          <a:lstStyle/>
          <a:p>
            <a:pPr indent="0" lvl="0" marL="43180" marR="38735" rtl="0" algn="ctr">
              <a:lnSpc>
                <a:spcPct val="1000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Spatial Correlation and convolution</a:t>
            </a:r>
            <a:endParaRPr b="1" i="0" sz="2400" u="none" cap="none" strike="noStrike">
              <a:solidFill>
                <a:srgbClr val="FFC000"/>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grpSp>
        <p:nvGrpSpPr>
          <p:cNvPr id="556" name="Google Shape;556;p58"/>
          <p:cNvGrpSpPr/>
          <p:nvPr/>
        </p:nvGrpSpPr>
        <p:grpSpPr>
          <a:xfrm>
            <a:off x="-1025111" y="-1352550"/>
            <a:ext cx="10274041" cy="6404226"/>
            <a:chOff x="1233" y="1680"/>
            <a:chExt cx="10220" cy="10085"/>
          </a:xfrm>
        </p:grpSpPr>
        <p:sp>
          <p:nvSpPr>
            <p:cNvPr id="557" name="Google Shape;557;p58"/>
            <p:cNvSpPr/>
            <p:nvPr/>
          </p:nvSpPr>
          <p:spPr>
            <a:xfrm>
              <a:off x="1233" y="1773"/>
              <a:ext cx="10162" cy="5"/>
            </a:xfrm>
            <a:custGeom>
              <a:rect b="b" l="l" r="r" t="t"/>
              <a:pathLst>
                <a:path extrusionOk="0" h="5" w="10162">
                  <a:moveTo>
                    <a:pt x="19" y="0"/>
                  </a:moveTo>
                  <a:lnTo>
                    <a:pt x="10137" y="0"/>
                  </a:lnTo>
                  <a:moveTo>
                    <a:pt x="0" y="4"/>
                  </a:moveTo>
                  <a:lnTo>
                    <a:pt x="10161" y="4"/>
                  </a:lnTo>
                </a:path>
              </a:pathLst>
            </a:custGeom>
            <a:noFill/>
            <a:ln cap="flat" cmpd="sng" w="9525">
              <a:solidFill>
                <a:srgbClr val="FDFDFD"/>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558" name="Google Shape;558;p58"/>
            <p:cNvPicPr preferRelativeResize="0"/>
            <p:nvPr/>
          </p:nvPicPr>
          <p:blipFill rotWithShape="1">
            <a:blip r:embed="rId3">
              <a:alphaModFix/>
            </a:blip>
            <a:srcRect b="0" l="0" r="0" t="0"/>
            <a:stretch/>
          </p:blipFill>
          <p:spPr>
            <a:xfrm>
              <a:off x="2283" y="3810"/>
              <a:ext cx="9170" cy="7955"/>
            </a:xfrm>
            <a:prstGeom prst="rect">
              <a:avLst/>
            </a:prstGeom>
            <a:noFill/>
            <a:ln>
              <a:noFill/>
            </a:ln>
          </p:spPr>
        </p:pic>
        <p:cxnSp>
          <p:nvCxnSpPr>
            <p:cNvPr id="559" name="Google Shape;559;p58"/>
            <p:cNvCxnSpPr/>
            <p:nvPr/>
          </p:nvCxnSpPr>
          <p:spPr>
            <a:xfrm>
              <a:off x="4800" y="1877"/>
              <a:ext cx="0" cy="2443"/>
            </a:xfrm>
            <a:prstGeom prst="straightConnector1">
              <a:avLst/>
            </a:prstGeom>
            <a:noFill/>
            <a:ln cap="flat" cmpd="sng" w="12175">
              <a:solidFill>
                <a:srgbClr val="000000"/>
              </a:solidFill>
              <a:prstDash val="dash"/>
              <a:round/>
              <a:headEnd len="med" w="med" type="none"/>
              <a:tailEnd len="med" w="med" type="none"/>
            </a:ln>
          </p:spPr>
        </p:cxnSp>
        <p:sp>
          <p:nvSpPr>
            <p:cNvPr id="560" name="Google Shape;560;p58"/>
            <p:cNvSpPr/>
            <p:nvPr/>
          </p:nvSpPr>
          <p:spPr>
            <a:xfrm>
              <a:off x="4795" y="1680"/>
              <a:ext cx="15" cy="140"/>
            </a:xfrm>
            <a:custGeom>
              <a:rect b="b" l="l" r="r" t="t"/>
              <a:pathLst>
                <a:path extrusionOk="0" h="140" w="15">
                  <a:moveTo>
                    <a:pt x="15" y="62"/>
                  </a:moveTo>
                  <a:lnTo>
                    <a:pt x="0" y="62"/>
                  </a:lnTo>
                  <a:lnTo>
                    <a:pt x="0" y="139"/>
                  </a:lnTo>
                  <a:lnTo>
                    <a:pt x="15" y="139"/>
                  </a:lnTo>
                  <a:lnTo>
                    <a:pt x="15" y="62"/>
                  </a:lnTo>
                  <a:close/>
                  <a:moveTo>
                    <a:pt x="15" y="0"/>
                  </a:moveTo>
                  <a:lnTo>
                    <a:pt x="0" y="0"/>
                  </a:lnTo>
                  <a:lnTo>
                    <a:pt x="0" y="5"/>
                  </a:lnTo>
                  <a:lnTo>
                    <a:pt x="15" y="5"/>
                  </a:lnTo>
                  <a:lnTo>
                    <a:pt x="1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561" name="Google Shape;561;p58"/>
            <p:cNvCxnSpPr/>
            <p:nvPr/>
          </p:nvCxnSpPr>
          <p:spPr>
            <a:xfrm>
              <a:off x="8962" y="1742"/>
              <a:ext cx="0" cy="2578"/>
            </a:xfrm>
            <a:prstGeom prst="straightConnector1">
              <a:avLst/>
            </a:prstGeom>
            <a:noFill/>
            <a:ln cap="flat" cmpd="sng" w="12175">
              <a:solidFill>
                <a:srgbClr val="000000"/>
              </a:solidFill>
              <a:prstDash val="dash"/>
              <a:round/>
              <a:headEnd len="med" w="med" type="none"/>
              <a:tailEnd len="med" w="med" type="none"/>
            </a:ln>
          </p:spPr>
        </p:cxnSp>
        <p:sp>
          <p:nvSpPr>
            <p:cNvPr id="562" name="Google Shape;562;p58"/>
            <p:cNvSpPr/>
            <p:nvPr/>
          </p:nvSpPr>
          <p:spPr>
            <a:xfrm>
              <a:off x="8952" y="1680"/>
              <a:ext cx="20" cy="5"/>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ransition>
    <p:fade thruBlk="1"/>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9"/>
          <p:cNvSpPr txBox="1"/>
          <p:nvPr/>
        </p:nvSpPr>
        <p:spPr>
          <a:xfrm>
            <a:off x="0" y="124292"/>
            <a:ext cx="6527800" cy="318357"/>
          </a:xfrm>
          <a:prstGeom prst="rect">
            <a:avLst/>
          </a:prstGeom>
          <a:noFill/>
          <a:ln>
            <a:noFill/>
          </a:ln>
        </p:spPr>
        <p:txBody>
          <a:bodyPr anchorCtr="0" anchor="t" bIns="45700" lIns="91425" spcFirstLastPara="1" rIns="91425" wrap="square" tIns="45700">
            <a:spAutoFit/>
          </a:bodyPr>
          <a:lstStyle/>
          <a:p>
            <a:pPr indent="0" lvl="0" marL="85725" marR="0" rtl="0" algn="l">
              <a:lnSpc>
                <a:spcPct val="65208"/>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Assume that </a:t>
            </a:r>
            <a:r>
              <a:rPr b="1" i="1" lang="en-US" sz="2400" u="none" cap="none" strike="noStrike">
                <a:solidFill>
                  <a:srgbClr val="FFC000"/>
                </a:solidFill>
                <a:latin typeface="Times New Roman"/>
                <a:ea typeface="Times New Roman"/>
                <a:cs typeface="Times New Roman"/>
                <a:sym typeface="Times New Roman"/>
              </a:rPr>
              <a:t>f </a:t>
            </a:r>
            <a:r>
              <a:rPr b="1" i="0" lang="en-US" sz="2400" u="none" cap="none" strike="noStrike">
                <a:solidFill>
                  <a:srgbClr val="FFC000"/>
                </a:solidFill>
                <a:latin typeface="Times New Roman"/>
                <a:ea typeface="Times New Roman"/>
                <a:cs typeface="Times New Roman"/>
                <a:sym typeface="Times New Roman"/>
              </a:rPr>
              <a:t>is a 1-D function, and </a:t>
            </a:r>
            <a:r>
              <a:rPr b="1" i="1" lang="en-US" sz="2400" u="none" cap="none" strike="noStrike">
                <a:solidFill>
                  <a:srgbClr val="FFC000"/>
                </a:solidFill>
                <a:latin typeface="Times New Roman"/>
                <a:ea typeface="Times New Roman"/>
                <a:cs typeface="Times New Roman"/>
                <a:sym typeface="Times New Roman"/>
              </a:rPr>
              <a:t>w </a:t>
            </a:r>
            <a:r>
              <a:rPr b="1" i="0" lang="en-US" sz="2400" u="none" cap="none" strike="noStrike">
                <a:solidFill>
                  <a:srgbClr val="FFC000"/>
                </a:solidFill>
                <a:latin typeface="Times New Roman"/>
                <a:ea typeface="Times New Roman"/>
                <a:cs typeface="Times New Roman"/>
                <a:sym typeface="Times New Roman"/>
              </a:rPr>
              <a:t>is a filter</a:t>
            </a:r>
            <a:endParaRPr b="1" i="0" sz="2400" u="none" cap="none" strike="noStrike">
              <a:solidFill>
                <a:srgbClr val="FFC000"/>
              </a:solidFill>
              <a:latin typeface="Times New Roman"/>
              <a:ea typeface="Times New Roman"/>
              <a:cs typeface="Times New Roman"/>
              <a:sym typeface="Times New Roman"/>
            </a:endParaRPr>
          </a:p>
        </p:txBody>
      </p:sp>
      <p:sp>
        <p:nvSpPr>
          <p:cNvPr id="568" name="Google Shape;568;p59"/>
          <p:cNvSpPr txBox="1"/>
          <p:nvPr/>
        </p:nvSpPr>
        <p:spPr>
          <a:xfrm>
            <a:off x="57150" y="501650"/>
            <a:ext cx="8813800" cy="4283930"/>
          </a:xfrm>
          <a:prstGeom prst="rect">
            <a:avLst/>
          </a:prstGeom>
          <a:noFill/>
          <a:ln>
            <a:noFill/>
          </a:ln>
        </p:spPr>
        <p:txBody>
          <a:bodyPr anchorCtr="0" anchor="t" bIns="45700" lIns="91425" spcFirstLastPara="1" rIns="91425" wrap="square" tIns="45700">
            <a:spAutoFit/>
          </a:bodyPr>
          <a:lstStyle/>
          <a:p>
            <a:pPr indent="0" lvl="0" marL="0" marR="80010" rtl="0" algn="just">
              <a:lnSpc>
                <a:spcPct val="112000"/>
              </a:lnSpc>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There are parts of the functions (images) that </a:t>
            </a:r>
            <a:r>
              <a:rPr b="1" i="1" lang="en-US" sz="1800" u="none" cap="none" strike="noStrike">
                <a:solidFill>
                  <a:schemeClr val="lt1"/>
                </a:solidFill>
                <a:latin typeface="Times New Roman"/>
                <a:ea typeface="Times New Roman"/>
                <a:cs typeface="Times New Roman"/>
                <a:sym typeface="Times New Roman"/>
              </a:rPr>
              <a:t>do not overlap </a:t>
            </a:r>
            <a:r>
              <a:rPr b="1" i="0" lang="en-US" sz="1800" u="none" cap="none" strike="noStrike">
                <a:solidFill>
                  <a:schemeClr val="lt1"/>
                </a:solidFill>
                <a:latin typeface="Times New Roman"/>
                <a:ea typeface="Times New Roman"/>
                <a:cs typeface="Times New Roman"/>
                <a:sym typeface="Times New Roman"/>
              </a:rPr>
              <a:t>(the solution of this problem is </a:t>
            </a:r>
            <a:r>
              <a:rPr b="1" i="1" lang="en-US" sz="1800" u="none" cap="none" strike="noStrike">
                <a:solidFill>
                  <a:schemeClr val="lt1"/>
                </a:solidFill>
                <a:latin typeface="Times New Roman"/>
                <a:ea typeface="Times New Roman"/>
                <a:cs typeface="Times New Roman"/>
                <a:sym typeface="Times New Roman"/>
              </a:rPr>
              <a:t>pad f </a:t>
            </a:r>
            <a:r>
              <a:rPr b="1" i="0" lang="en-US" sz="1800" u="none" cap="none" strike="noStrike">
                <a:solidFill>
                  <a:schemeClr val="lt1"/>
                </a:solidFill>
                <a:latin typeface="Times New Roman"/>
                <a:ea typeface="Times New Roman"/>
                <a:cs typeface="Times New Roman"/>
                <a:sym typeface="Times New Roman"/>
              </a:rPr>
              <a:t>with enough 0s on either side to allow each pixel in </a:t>
            </a:r>
            <a:r>
              <a:rPr b="1" i="1" lang="en-US" sz="1800" u="none" cap="none" strike="noStrike">
                <a:solidFill>
                  <a:schemeClr val="lt1"/>
                </a:solidFill>
                <a:latin typeface="Times New Roman"/>
                <a:ea typeface="Times New Roman"/>
                <a:cs typeface="Times New Roman"/>
                <a:sym typeface="Times New Roman"/>
              </a:rPr>
              <a:t>w </a:t>
            </a:r>
            <a:r>
              <a:rPr b="1" i="0" lang="en-US" sz="1800" u="none" cap="none" strike="noStrike">
                <a:solidFill>
                  <a:schemeClr val="lt1"/>
                </a:solidFill>
                <a:latin typeface="Times New Roman"/>
                <a:ea typeface="Times New Roman"/>
                <a:cs typeface="Times New Roman"/>
                <a:sym typeface="Times New Roman"/>
              </a:rPr>
              <a:t>to visit every pixel in </a:t>
            </a:r>
            <a:r>
              <a:rPr b="1" i="1" lang="en-US" sz="1800" u="none" cap="none" strike="noStrike">
                <a:solidFill>
                  <a:schemeClr val="lt1"/>
                </a:solidFill>
                <a:latin typeface="Times New Roman"/>
                <a:ea typeface="Times New Roman"/>
                <a:cs typeface="Times New Roman"/>
                <a:sym typeface="Times New Roman"/>
              </a:rPr>
              <a:t>f.</a:t>
            </a:r>
            <a:endParaRPr/>
          </a:p>
          <a:p>
            <a:pPr indent="0" lvl="0" marL="0" marR="80010" rtl="0" algn="just">
              <a:lnSpc>
                <a:spcPct val="112000"/>
              </a:lnSpc>
              <a:spcBef>
                <a:spcPts val="155"/>
              </a:spcBef>
              <a:spcAft>
                <a:spcPts val="0"/>
              </a:spcAft>
              <a:buNone/>
            </a:pPr>
            <a:r>
              <a:t/>
            </a:r>
            <a:endParaRPr b="1" i="0" sz="1800" u="none" cap="none" strike="noStrike">
              <a:solidFill>
                <a:schemeClr val="lt1"/>
              </a:solidFill>
              <a:latin typeface="Times New Roman"/>
              <a:ea typeface="Times New Roman"/>
              <a:cs typeface="Times New Roman"/>
              <a:sym typeface="Times New Roman"/>
            </a:endParaRPr>
          </a:p>
          <a:p>
            <a:pPr indent="0" lvl="0" marL="0" marR="0" rtl="0" algn="just">
              <a:lnSpc>
                <a:spcPct val="90277"/>
              </a:lnSpc>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If the filter is of size </a:t>
            </a:r>
            <a:r>
              <a:rPr b="1" i="1" lang="en-US" sz="1800" u="none" cap="none" strike="noStrike">
                <a:solidFill>
                  <a:schemeClr val="lt1"/>
                </a:solidFill>
                <a:latin typeface="Times New Roman"/>
                <a:ea typeface="Times New Roman"/>
                <a:cs typeface="Times New Roman"/>
                <a:sym typeface="Times New Roman"/>
              </a:rPr>
              <a:t>m</a:t>
            </a:r>
            <a:r>
              <a:rPr b="1" i="0" lang="en-US" sz="1800" u="none" cap="none" strike="noStrike">
                <a:solidFill>
                  <a:schemeClr val="lt1"/>
                </a:solidFill>
                <a:latin typeface="Times New Roman"/>
                <a:ea typeface="Times New Roman"/>
                <a:cs typeface="Times New Roman"/>
                <a:sym typeface="Times New Roman"/>
              </a:rPr>
              <a:t>, we need (</a:t>
            </a:r>
            <a:r>
              <a:rPr b="1" i="1" lang="en-US" sz="1800" u="none" cap="none" strike="noStrike">
                <a:solidFill>
                  <a:schemeClr val="lt1"/>
                </a:solidFill>
                <a:latin typeface="Times New Roman"/>
                <a:ea typeface="Times New Roman"/>
                <a:cs typeface="Times New Roman"/>
                <a:sym typeface="Times New Roman"/>
              </a:rPr>
              <a:t>m-1</a:t>
            </a:r>
            <a:r>
              <a:rPr b="1" i="0" lang="en-US" sz="1800" u="none" cap="none" strike="noStrike">
                <a:solidFill>
                  <a:schemeClr val="lt1"/>
                </a:solidFill>
                <a:latin typeface="Times New Roman"/>
                <a:ea typeface="Times New Roman"/>
                <a:cs typeface="Times New Roman"/>
                <a:sym typeface="Times New Roman"/>
              </a:rPr>
              <a:t>) 0s on either side of </a:t>
            </a:r>
            <a:r>
              <a:rPr b="1" i="1" lang="en-US" sz="1800" u="none" cap="none" strike="noStrike">
                <a:solidFill>
                  <a:schemeClr val="lt1"/>
                </a:solidFill>
                <a:latin typeface="Times New Roman"/>
                <a:ea typeface="Times New Roman"/>
                <a:cs typeface="Times New Roman"/>
                <a:sym typeface="Times New Roman"/>
              </a:rPr>
              <a:t>f</a:t>
            </a:r>
            <a:r>
              <a:rPr b="1" i="0" lang="en-US" sz="1800" u="none" cap="none" strike="noStrike">
                <a:solidFill>
                  <a:schemeClr val="lt1"/>
                </a:solidFill>
                <a:latin typeface="Times New Roman"/>
                <a:ea typeface="Times New Roman"/>
                <a:cs typeface="Times New Roman"/>
                <a:sym typeface="Times New Roman"/>
              </a:rPr>
              <a:t>.</a:t>
            </a:r>
            <a:endParaRPr/>
          </a:p>
          <a:p>
            <a:pPr indent="0" lvl="0" marL="0" marR="0" rtl="0" algn="just">
              <a:lnSpc>
                <a:spcPct val="90277"/>
              </a:lnSpc>
              <a:spcBef>
                <a:spcPts val="0"/>
              </a:spcBef>
              <a:spcAft>
                <a:spcPts val="0"/>
              </a:spcAft>
              <a:buNone/>
            </a:pPr>
            <a:r>
              <a:t/>
            </a:r>
            <a:endParaRPr b="1" i="0" sz="1800" u="none" cap="none" strike="noStrike">
              <a:solidFill>
                <a:schemeClr val="lt1"/>
              </a:solidFill>
              <a:latin typeface="Times New Roman"/>
              <a:ea typeface="Times New Roman"/>
              <a:cs typeface="Times New Roman"/>
              <a:sym typeface="Times New Roman"/>
            </a:endParaRPr>
          </a:p>
          <a:p>
            <a:pPr indent="0" lvl="0" marL="0" marR="76200" rtl="0" algn="just">
              <a:lnSpc>
                <a:spcPct val="106000"/>
              </a:lnSpc>
              <a:spcBef>
                <a:spcPts val="225"/>
              </a:spcBef>
              <a:spcAft>
                <a:spcPts val="0"/>
              </a:spcAft>
              <a:buNone/>
            </a:pPr>
            <a:r>
              <a:rPr b="1" i="0" lang="en-US" sz="1800" u="none" cap="none" strike="noStrike">
                <a:solidFill>
                  <a:schemeClr val="lt1"/>
                </a:solidFill>
                <a:latin typeface="Times New Roman"/>
                <a:ea typeface="Times New Roman"/>
                <a:cs typeface="Times New Roman"/>
                <a:sym typeface="Times New Roman"/>
              </a:rPr>
              <a:t>The first value of correlation is the sum of products of </a:t>
            </a:r>
            <a:r>
              <a:rPr b="1" i="1" lang="en-US" sz="1800" u="none" cap="none" strike="noStrike">
                <a:solidFill>
                  <a:schemeClr val="lt1"/>
                </a:solidFill>
                <a:latin typeface="Times New Roman"/>
                <a:ea typeface="Times New Roman"/>
                <a:cs typeface="Times New Roman"/>
                <a:sym typeface="Times New Roman"/>
              </a:rPr>
              <a:t>f </a:t>
            </a:r>
            <a:r>
              <a:rPr b="1" i="0" lang="en-US" sz="1800" u="none" cap="none" strike="noStrike">
                <a:solidFill>
                  <a:schemeClr val="lt1"/>
                </a:solidFill>
                <a:latin typeface="Times New Roman"/>
                <a:ea typeface="Times New Roman"/>
                <a:cs typeface="Times New Roman"/>
                <a:sym typeface="Times New Roman"/>
              </a:rPr>
              <a:t>and </a:t>
            </a:r>
            <a:r>
              <a:rPr b="1" i="1" lang="en-US" sz="1800" u="none" cap="none" strike="noStrike">
                <a:solidFill>
                  <a:schemeClr val="lt1"/>
                </a:solidFill>
                <a:latin typeface="Times New Roman"/>
                <a:ea typeface="Times New Roman"/>
                <a:cs typeface="Times New Roman"/>
                <a:sym typeface="Times New Roman"/>
              </a:rPr>
              <a:t>w </a:t>
            </a:r>
            <a:r>
              <a:rPr b="1" i="0" lang="en-US" sz="1800" u="none" cap="none" strike="noStrike">
                <a:solidFill>
                  <a:schemeClr val="lt1"/>
                </a:solidFill>
                <a:latin typeface="Times New Roman"/>
                <a:ea typeface="Times New Roman"/>
                <a:cs typeface="Times New Roman"/>
                <a:sym typeface="Times New Roman"/>
              </a:rPr>
              <a:t>for the initial position (The sum of product =0) this corresponds to a displacement </a:t>
            </a:r>
            <a:r>
              <a:rPr b="1" i="1" lang="en-US" sz="1800" u="none" cap="none" strike="noStrike">
                <a:solidFill>
                  <a:schemeClr val="lt1"/>
                </a:solidFill>
                <a:latin typeface="Times New Roman"/>
                <a:ea typeface="Times New Roman"/>
                <a:cs typeface="Times New Roman"/>
                <a:sym typeface="Times New Roman"/>
              </a:rPr>
              <a:t>x =0 .</a:t>
            </a:r>
            <a:endParaRPr/>
          </a:p>
          <a:p>
            <a:pPr indent="0" lvl="0" marL="0" marR="76200" rtl="0" algn="just">
              <a:lnSpc>
                <a:spcPct val="106000"/>
              </a:lnSpc>
              <a:spcBef>
                <a:spcPts val="225"/>
              </a:spcBef>
              <a:spcAft>
                <a:spcPts val="0"/>
              </a:spcAft>
              <a:buNone/>
            </a:pPr>
            <a:r>
              <a:t/>
            </a:r>
            <a:endParaRPr b="1" i="0" sz="1800" u="none" cap="none" strike="noStrike">
              <a:solidFill>
                <a:schemeClr val="lt1"/>
              </a:solidFill>
              <a:latin typeface="Times New Roman"/>
              <a:ea typeface="Times New Roman"/>
              <a:cs typeface="Times New Roman"/>
              <a:sym typeface="Times New Roman"/>
            </a:endParaRPr>
          </a:p>
          <a:p>
            <a:pPr indent="0" lvl="0" marL="0" marR="80010" rtl="0" algn="l">
              <a:lnSpc>
                <a:spcPct val="113000"/>
              </a:lnSpc>
              <a:spcBef>
                <a:spcPts val="205"/>
              </a:spcBef>
              <a:spcAft>
                <a:spcPts val="0"/>
              </a:spcAft>
              <a:buNone/>
            </a:pPr>
            <a:r>
              <a:rPr b="1" i="0" lang="en-US" sz="1800" u="none" cap="none" strike="noStrike">
                <a:solidFill>
                  <a:schemeClr val="lt1"/>
                </a:solidFill>
                <a:latin typeface="Times New Roman"/>
                <a:ea typeface="Times New Roman"/>
                <a:cs typeface="Times New Roman"/>
                <a:sym typeface="Times New Roman"/>
              </a:rPr>
              <a:t>To obtain the second value of correlation, we shift </a:t>
            </a:r>
            <a:r>
              <a:rPr b="1" i="1" lang="en-US" sz="1800" u="none" cap="none" strike="noStrike">
                <a:solidFill>
                  <a:schemeClr val="lt1"/>
                </a:solidFill>
                <a:latin typeface="Times New Roman"/>
                <a:ea typeface="Times New Roman"/>
                <a:cs typeface="Times New Roman"/>
                <a:sym typeface="Times New Roman"/>
              </a:rPr>
              <a:t>w </a:t>
            </a:r>
            <a:r>
              <a:rPr b="1" i="0" lang="en-US" sz="1800" u="none" cap="none" strike="noStrike">
                <a:solidFill>
                  <a:schemeClr val="lt1"/>
                </a:solidFill>
                <a:latin typeface="Times New Roman"/>
                <a:ea typeface="Times New Roman"/>
                <a:cs typeface="Times New Roman"/>
                <a:sym typeface="Times New Roman"/>
              </a:rPr>
              <a:t>are pixel location to the right (displacement </a:t>
            </a:r>
            <a:r>
              <a:rPr b="1" i="1" lang="en-US" sz="1800" u="none" cap="none" strike="noStrike">
                <a:solidFill>
                  <a:schemeClr val="lt1"/>
                </a:solidFill>
                <a:latin typeface="Times New Roman"/>
                <a:ea typeface="Times New Roman"/>
                <a:cs typeface="Times New Roman"/>
                <a:sym typeface="Times New Roman"/>
              </a:rPr>
              <a:t>x=1</a:t>
            </a:r>
            <a:r>
              <a:rPr b="1" i="0" lang="en-US" sz="1800" u="none" cap="none" strike="noStrike">
                <a:solidFill>
                  <a:schemeClr val="lt1"/>
                </a:solidFill>
                <a:latin typeface="Times New Roman"/>
                <a:ea typeface="Times New Roman"/>
                <a:cs typeface="Times New Roman"/>
                <a:sym typeface="Times New Roman"/>
              </a:rPr>
              <a:t>) and compute the sum of products (result =0).</a:t>
            </a:r>
            <a:endParaRPr/>
          </a:p>
          <a:p>
            <a:pPr indent="0" lvl="0" marL="0" marR="80010" rtl="0" algn="l">
              <a:lnSpc>
                <a:spcPct val="113000"/>
              </a:lnSpc>
              <a:spcBef>
                <a:spcPts val="205"/>
              </a:spcBef>
              <a:spcAft>
                <a:spcPts val="0"/>
              </a:spcAft>
              <a:buNone/>
            </a:pPr>
            <a:r>
              <a:t/>
            </a:r>
            <a:endParaRPr b="1" i="0" sz="1800" u="none" cap="none" strike="noStrike">
              <a:solidFill>
                <a:schemeClr val="lt1"/>
              </a:solidFill>
              <a:latin typeface="Times New Roman"/>
              <a:ea typeface="Times New Roman"/>
              <a:cs typeface="Times New Roman"/>
              <a:sym typeface="Times New Roman"/>
            </a:endParaRPr>
          </a:p>
          <a:p>
            <a:pPr indent="0" lvl="0" marL="0" marR="83185" rtl="0" algn="l">
              <a:lnSpc>
                <a:spcPct val="111000"/>
              </a:lnSpc>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The first nonzero is when </a:t>
            </a:r>
            <a:r>
              <a:rPr b="1" i="1" lang="en-US" sz="1800" u="none" cap="none" strike="noStrike">
                <a:solidFill>
                  <a:schemeClr val="lt1"/>
                </a:solidFill>
                <a:latin typeface="Times New Roman"/>
                <a:ea typeface="Times New Roman"/>
                <a:cs typeface="Times New Roman"/>
                <a:sym typeface="Times New Roman"/>
              </a:rPr>
              <a:t>x=3</a:t>
            </a:r>
            <a:r>
              <a:rPr b="1" i="0" lang="en-US" sz="1800" u="none" cap="none" strike="noStrike">
                <a:solidFill>
                  <a:schemeClr val="lt1"/>
                </a:solidFill>
                <a:latin typeface="Times New Roman"/>
                <a:ea typeface="Times New Roman"/>
                <a:cs typeface="Times New Roman"/>
                <a:sym typeface="Times New Roman"/>
              </a:rPr>
              <a:t>, in this case the </a:t>
            </a:r>
            <a:r>
              <a:rPr b="1" i="1" lang="en-US" sz="1800" u="none" cap="none" strike="noStrike">
                <a:solidFill>
                  <a:schemeClr val="lt1"/>
                </a:solidFill>
                <a:latin typeface="Times New Roman"/>
                <a:ea typeface="Times New Roman"/>
                <a:cs typeface="Times New Roman"/>
                <a:sym typeface="Times New Roman"/>
              </a:rPr>
              <a:t>8 </a:t>
            </a:r>
            <a:r>
              <a:rPr b="1" i="0" lang="en-US" sz="1800" u="none" cap="none" strike="noStrike">
                <a:solidFill>
                  <a:schemeClr val="lt1"/>
                </a:solidFill>
                <a:latin typeface="Times New Roman"/>
                <a:ea typeface="Times New Roman"/>
                <a:cs typeface="Times New Roman"/>
                <a:sym typeface="Times New Roman"/>
              </a:rPr>
              <a:t>in </a:t>
            </a:r>
            <a:r>
              <a:rPr b="1" i="1" lang="en-US" sz="1800" u="none" cap="none" strike="noStrike">
                <a:solidFill>
                  <a:schemeClr val="lt1"/>
                </a:solidFill>
                <a:latin typeface="Times New Roman"/>
                <a:ea typeface="Times New Roman"/>
                <a:cs typeface="Times New Roman"/>
                <a:sym typeface="Times New Roman"/>
              </a:rPr>
              <a:t>w </a:t>
            </a:r>
            <a:r>
              <a:rPr b="1" i="0" lang="en-US" sz="1800" u="none" cap="none" strike="noStrike">
                <a:solidFill>
                  <a:schemeClr val="lt1"/>
                </a:solidFill>
                <a:latin typeface="Times New Roman"/>
                <a:ea typeface="Times New Roman"/>
                <a:cs typeface="Times New Roman"/>
                <a:sym typeface="Times New Roman"/>
              </a:rPr>
              <a:t>overlaps the </a:t>
            </a:r>
            <a:r>
              <a:rPr b="1" i="1" lang="en-US" sz="1800" u="none" cap="none" strike="noStrike">
                <a:solidFill>
                  <a:schemeClr val="lt1"/>
                </a:solidFill>
                <a:latin typeface="Times New Roman"/>
                <a:ea typeface="Times New Roman"/>
                <a:cs typeface="Times New Roman"/>
                <a:sym typeface="Times New Roman"/>
              </a:rPr>
              <a:t>1 </a:t>
            </a:r>
            <a:r>
              <a:rPr b="1" i="0" lang="en-US" sz="1800" u="none" cap="none" strike="noStrike">
                <a:solidFill>
                  <a:schemeClr val="lt1"/>
                </a:solidFill>
                <a:latin typeface="Times New Roman"/>
                <a:ea typeface="Times New Roman"/>
                <a:cs typeface="Times New Roman"/>
                <a:sym typeface="Times New Roman"/>
              </a:rPr>
              <a:t>in </a:t>
            </a:r>
            <a:r>
              <a:rPr b="1" i="1" lang="en-US" sz="1800" u="none" cap="none" strike="noStrike">
                <a:solidFill>
                  <a:schemeClr val="lt1"/>
                </a:solidFill>
                <a:latin typeface="Times New Roman"/>
                <a:ea typeface="Times New Roman"/>
                <a:cs typeface="Times New Roman"/>
                <a:sym typeface="Times New Roman"/>
              </a:rPr>
              <a:t>f </a:t>
            </a:r>
            <a:r>
              <a:rPr b="1" i="0" lang="en-US" sz="1800" u="none" cap="none" strike="noStrike">
                <a:solidFill>
                  <a:schemeClr val="lt1"/>
                </a:solidFill>
                <a:latin typeface="Times New Roman"/>
                <a:ea typeface="Times New Roman"/>
                <a:cs typeface="Times New Roman"/>
                <a:sym typeface="Times New Roman"/>
              </a:rPr>
              <a:t>and the result of correlation is </a:t>
            </a:r>
            <a:r>
              <a:rPr b="1" i="1" lang="en-US" sz="1800" u="none" cap="none" strike="noStrike">
                <a:solidFill>
                  <a:schemeClr val="lt1"/>
                </a:solidFill>
                <a:latin typeface="Times New Roman"/>
                <a:ea typeface="Times New Roman"/>
                <a:cs typeface="Times New Roman"/>
                <a:sym typeface="Times New Roman"/>
              </a:rPr>
              <a:t>8</a:t>
            </a:r>
            <a:r>
              <a:rPr b="1" i="0" lang="en-US" sz="1800" u="none" cap="none" strike="noStrike">
                <a:solidFill>
                  <a:schemeClr val="lt1"/>
                </a:solidFill>
                <a:latin typeface="Times New Roman"/>
                <a:ea typeface="Times New Roman"/>
                <a:cs typeface="Times New Roman"/>
                <a:sym typeface="Times New Roman"/>
              </a:rPr>
              <a:t>.</a:t>
            </a:r>
            <a:endParaRPr b="1" i="0" sz="18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0"/>
          <p:cNvSpPr txBox="1"/>
          <p:nvPr/>
        </p:nvSpPr>
        <p:spPr>
          <a:xfrm>
            <a:off x="92075" y="189012"/>
            <a:ext cx="8959850" cy="44319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The full correlation result (figure 2.g) ,12 values of </a:t>
            </a:r>
            <a:r>
              <a:rPr b="0" i="1" lang="en-US" sz="2000" u="none" cap="none" strike="noStrike">
                <a:solidFill>
                  <a:schemeClr val="lt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None/>
            </a:pPr>
            <a:r>
              <a:t/>
            </a:r>
            <a:endParaRPr b="0" i="1" sz="20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To work with correlation arrays that are the same size as </a:t>
            </a:r>
            <a:r>
              <a:rPr b="0" i="1" lang="en-US" sz="1800" u="none" cap="none" strike="noStrike">
                <a:solidFill>
                  <a:schemeClr val="lt1"/>
                </a:solidFill>
                <a:latin typeface="Verdana"/>
                <a:ea typeface="Verdana"/>
                <a:cs typeface="Verdana"/>
                <a:sym typeface="Verdana"/>
              </a:rPr>
              <a:t>f</a:t>
            </a:r>
            <a:r>
              <a:rPr b="0" i="0" lang="en-US" sz="1800" u="none" cap="none" strike="noStrike">
                <a:solidFill>
                  <a:schemeClr val="lt1"/>
                </a:solidFill>
                <a:latin typeface="Times New Roman"/>
                <a:ea typeface="Times New Roman"/>
                <a:cs typeface="Times New Roman"/>
                <a:sym typeface="Times New Roman"/>
              </a:rPr>
              <a:t>, in this case, we can crop the full correlation to the size of the original function. (Figure 2.h).</a:t>
            </a:r>
            <a:endParaRPr/>
          </a:p>
          <a:p>
            <a:pPr indent="0" lvl="0" marL="0" marR="0" rtl="0" algn="l">
              <a:lnSpc>
                <a:spcPct val="100000"/>
              </a:lnSpc>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The result of correlation is a copy of </a:t>
            </a:r>
            <a:r>
              <a:rPr b="0" i="1" lang="en-US" sz="1800" u="none" cap="none" strike="noStrike">
                <a:solidFill>
                  <a:schemeClr val="lt1"/>
                </a:solidFill>
                <a:latin typeface="Verdana"/>
                <a:ea typeface="Verdana"/>
                <a:cs typeface="Verdana"/>
                <a:sym typeface="Verdana"/>
              </a:rPr>
              <a:t>w</a:t>
            </a:r>
            <a:r>
              <a:rPr b="0" i="0" lang="en-US" sz="1800" u="none" cap="none" strike="noStrike">
                <a:solidFill>
                  <a:schemeClr val="lt1"/>
                </a:solidFill>
                <a:latin typeface="Times New Roman"/>
                <a:ea typeface="Times New Roman"/>
                <a:cs typeface="Times New Roman"/>
                <a:sym typeface="Times New Roman"/>
              </a:rPr>
              <a:t>, but rotated by </a:t>
            </a:r>
            <a:r>
              <a:rPr b="0" i="0" lang="en-US" sz="1800" u="none" cap="none" strike="noStrike">
                <a:solidFill>
                  <a:schemeClr val="lt1"/>
                </a:solidFill>
                <a:latin typeface="Cambria"/>
                <a:ea typeface="Cambria"/>
                <a:cs typeface="Cambria"/>
                <a:sym typeface="Cambria"/>
              </a:rPr>
              <a:t>18O</a:t>
            </a:r>
            <a:r>
              <a:rPr b="0" baseline="30000" i="0" lang="en-US" sz="1800" u="none" cap="none" strike="noStrike">
                <a:solidFill>
                  <a:schemeClr val="lt1"/>
                </a:solidFill>
                <a:latin typeface="Cambria"/>
                <a:ea typeface="Cambria"/>
                <a:cs typeface="Cambria"/>
                <a:sym typeface="Cambria"/>
              </a:rPr>
              <a:t>O .</a:t>
            </a:r>
            <a:endParaRPr/>
          </a:p>
          <a:p>
            <a:pPr indent="0" lvl="0" marL="0" marR="0" rtl="0" algn="l">
              <a:lnSpc>
                <a:spcPct val="100000"/>
              </a:lnSpc>
              <a:spcBef>
                <a:spcPts val="0"/>
              </a:spcBef>
              <a:spcAft>
                <a:spcPts val="0"/>
              </a:spcAft>
              <a:buNone/>
            </a:pPr>
            <a:r>
              <a:t/>
            </a:r>
            <a:endParaRPr b="0" baseline="30000" i="0" sz="18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The correlation with a function with a discrete unit impulse yields a rotated version of the function at the location of the impulse.</a:t>
            </a:r>
            <a:endParaRPr/>
          </a:p>
          <a:p>
            <a:pPr indent="0" lvl="0" marL="0" marR="0" rtl="0" algn="l">
              <a:lnSpc>
                <a:spcPct val="100000"/>
              </a:lnSpc>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The convolution with a function with a discrete unit impulse yields a copy of that function at the location of the impulse.</a:t>
            </a:r>
            <a:endParaRPr b="0" i="0" sz="18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p:fade thruBlk="1"/>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61"/>
          <p:cNvSpPr txBox="1"/>
          <p:nvPr/>
        </p:nvSpPr>
        <p:spPr>
          <a:xfrm>
            <a:off x="0" y="423985"/>
            <a:ext cx="8972550" cy="1750416"/>
          </a:xfrm>
          <a:prstGeom prst="rect">
            <a:avLst/>
          </a:prstGeom>
          <a:noFill/>
          <a:ln>
            <a:noFill/>
          </a:ln>
        </p:spPr>
        <p:txBody>
          <a:bodyPr anchorCtr="0" anchor="t" bIns="45700" lIns="91425" spcFirstLastPara="1" rIns="91425" wrap="square" tIns="45700">
            <a:spAutoFit/>
          </a:bodyPr>
          <a:lstStyle/>
          <a:p>
            <a:pPr indent="0" lvl="0" marL="85725" marR="0" rtl="0" algn="l">
              <a:lnSpc>
                <a:spcPct val="62500"/>
              </a:lnSpc>
              <a:spcBef>
                <a:spcPts val="0"/>
              </a:spcBef>
              <a:spcAft>
                <a:spcPts val="0"/>
              </a:spcAft>
              <a:buNone/>
            </a:pPr>
            <a:r>
              <a:rPr b="1" i="0" lang="en-US" sz="2400" u="none" cap="none" strike="noStrike">
                <a:solidFill>
                  <a:srgbClr val="FFC000"/>
                </a:solidFill>
                <a:latin typeface="Times New Roman"/>
                <a:ea typeface="Times New Roman"/>
                <a:cs typeface="Times New Roman"/>
                <a:sym typeface="Times New Roman"/>
              </a:rPr>
              <a:t>Correlation and convolution with images</a:t>
            </a:r>
            <a:endParaRPr b="1" i="0" sz="2400" u="none" cap="none" strike="noStrike">
              <a:solidFill>
                <a:srgbClr val="FFC000"/>
              </a:solidFill>
              <a:latin typeface="Times New Roman"/>
              <a:ea typeface="Times New Roman"/>
              <a:cs typeface="Times New Roman"/>
              <a:sym typeface="Times New Roman"/>
            </a:endParaRPr>
          </a:p>
          <a:p>
            <a:pPr indent="0" lvl="0" marL="0" marR="80010" rtl="0" algn="just">
              <a:lnSpc>
                <a:spcPct val="113000"/>
              </a:lnSpc>
              <a:spcBef>
                <a:spcPts val="13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80010" rtl="0" algn="just">
              <a:lnSpc>
                <a:spcPct val="113000"/>
              </a:lnSpc>
              <a:spcBef>
                <a:spcPts val="130"/>
              </a:spcBef>
              <a:spcAft>
                <a:spcPts val="0"/>
              </a:spcAft>
              <a:buNone/>
            </a:pPr>
            <a:r>
              <a:rPr b="0" i="0" lang="en-US" sz="2000" u="none" cap="none" strike="noStrike">
                <a:solidFill>
                  <a:schemeClr val="lt1"/>
                </a:solidFill>
                <a:latin typeface="Times New Roman"/>
                <a:ea typeface="Times New Roman"/>
                <a:cs typeface="Times New Roman"/>
                <a:sym typeface="Times New Roman"/>
              </a:rPr>
              <a:t>With a filter of size </a:t>
            </a:r>
            <a:r>
              <a:rPr b="0" i="1" lang="en-US" sz="2000" u="none" cap="none" strike="noStrike">
                <a:solidFill>
                  <a:schemeClr val="lt1"/>
                </a:solidFill>
                <a:latin typeface="Times New Roman"/>
                <a:ea typeface="Times New Roman"/>
                <a:cs typeface="Times New Roman"/>
                <a:sym typeface="Times New Roman"/>
              </a:rPr>
              <a:t>m*n</a:t>
            </a:r>
            <a:r>
              <a:rPr b="0" i="0" lang="en-US" sz="2000" u="none" cap="none" strike="noStrike">
                <a:solidFill>
                  <a:schemeClr val="lt1"/>
                </a:solidFill>
                <a:latin typeface="Times New Roman"/>
                <a:ea typeface="Times New Roman"/>
                <a:cs typeface="Times New Roman"/>
                <a:sym typeface="Times New Roman"/>
              </a:rPr>
              <a:t>, we pad the image with a minimum of </a:t>
            </a:r>
            <a:r>
              <a:rPr b="0" i="1" lang="en-US" sz="2000" u="none" cap="none" strike="noStrike">
                <a:solidFill>
                  <a:schemeClr val="lt1"/>
                </a:solidFill>
                <a:latin typeface="Times New Roman"/>
                <a:ea typeface="Times New Roman"/>
                <a:cs typeface="Times New Roman"/>
                <a:sym typeface="Times New Roman"/>
              </a:rPr>
              <a:t>m-1 </a:t>
            </a:r>
            <a:r>
              <a:rPr b="0" i="0" lang="en-US" sz="2000" u="none" cap="none" strike="noStrike">
                <a:solidFill>
                  <a:schemeClr val="lt1"/>
                </a:solidFill>
                <a:latin typeface="Times New Roman"/>
                <a:ea typeface="Times New Roman"/>
                <a:cs typeface="Times New Roman"/>
                <a:sym typeface="Times New Roman"/>
              </a:rPr>
              <a:t>rows of 0s at the top and the bottom, and </a:t>
            </a:r>
            <a:r>
              <a:rPr b="0" i="1" lang="en-US" sz="2000" u="none" cap="none" strike="noStrike">
                <a:solidFill>
                  <a:schemeClr val="lt1"/>
                </a:solidFill>
                <a:latin typeface="Times New Roman"/>
                <a:ea typeface="Times New Roman"/>
                <a:cs typeface="Times New Roman"/>
                <a:sym typeface="Times New Roman"/>
              </a:rPr>
              <a:t>n-1 </a:t>
            </a:r>
            <a:r>
              <a:rPr b="0" i="0" lang="en-US" sz="2000" u="none" cap="none" strike="noStrike">
                <a:solidFill>
                  <a:schemeClr val="lt1"/>
                </a:solidFill>
                <a:latin typeface="Times New Roman"/>
                <a:ea typeface="Times New Roman"/>
                <a:cs typeface="Times New Roman"/>
                <a:sym typeface="Times New Roman"/>
              </a:rPr>
              <a:t>columns of 0s on the left and right.</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72500"/>
              </a:lnSpc>
              <a:spcBef>
                <a:spcPts val="0"/>
              </a:spcBef>
              <a:spcAft>
                <a:spcPts val="0"/>
              </a:spcAft>
              <a:buNone/>
            </a:pPr>
            <a:r>
              <a:t/>
            </a:r>
            <a:endParaRPr b="0" i="0" sz="2000" u="none" cap="none" strike="noStrike">
              <a:solidFill>
                <a:schemeClr val="lt1"/>
              </a:solidFill>
              <a:latin typeface="Times New Roman"/>
              <a:ea typeface="Times New Roman"/>
              <a:cs typeface="Times New Roman"/>
              <a:sym typeface="Times New Roman"/>
            </a:endParaRPr>
          </a:p>
          <a:p>
            <a:pPr indent="0" lvl="0" marL="0" marR="0" rtl="0" algn="just">
              <a:lnSpc>
                <a:spcPct val="72500"/>
              </a:lnSpc>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If the </a:t>
            </a:r>
            <a:r>
              <a:rPr b="1" i="0" lang="en-US" sz="2000" u="none" cap="none" strike="noStrike">
                <a:solidFill>
                  <a:srgbClr val="FFC000"/>
                </a:solidFill>
                <a:latin typeface="Times New Roman"/>
                <a:ea typeface="Times New Roman"/>
                <a:cs typeface="Times New Roman"/>
                <a:sym typeface="Times New Roman"/>
              </a:rPr>
              <a:t>filter mask is </a:t>
            </a:r>
            <a:r>
              <a:rPr b="1" i="1" lang="en-US" sz="2000" u="none" cap="none" strike="noStrike">
                <a:solidFill>
                  <a:srgbClr val="FFC000"/>
                </a:solidFill>
                <a:latin typeface="Times New Roman"/>
                <a:ea typeface="Times New Roman"/>
                <a:cs typeface="Times New Roman"/>
                <a:sym typeface="Times New Roman"/>
              </a:rPr>
              <a:t>symmetric</a:t>
            </a:r>
            <a:r>
              <a:rPr b="1" i="1" lang="en-US" sz="2000" u="none" cap="none" strike="noStrike">
                <a:solidFill>
                  <a:schemeClr val="lt1"/>
                </a:solidFill>
                <a:latin typeface="Times New Roman"/>
                <a:ea typeface="Times New Roman"/>
                <a:cs typeface="Times New Roman"/>
                <a:sym typeface="Times New Roman"/>
              </a:rPr>
              <a:t>, </a:t>
            </a:r>
            <a:r>
              <a:rPr b="1" i="0" lang="en-US" sz="2000" u="none" cap="none" strike="noStrike">
                <a:solidFill>
                  <a:srgbClr val="FFC000"/>
                </a:solidFill>
                <a:latin typeface="Times New Roman"/>
                <a:ea typeface="Times New Roman"/>
                <a:cs typeface="Times New Roman"/>
                <a:sym typeface="Times New Roman"/>
              </a:rPr>
              <a:t>correlation and convolution yield the same result</a:t>
            </a:r>
            <a:r>
              <a:rPr b="0" i="0" lang="en-US" sz="2000" u="none" cap="none" strike="noStrike">
                <a:solidFill>
                  <a:schemeClr val="lt1"/>
                </a:solidFill>
                <a:latin typeface="Times New Roman"/>
                <a:ea typeface="Times New Roman"/>
                <a:cs typeface="Times New Roman"/>
                <a:sym typeface="Times New Roman"/>
              </a:rPr>
              <a:t>.</a:t>
            </a:r>
            <a:endParaRPr b="0" i="0" sz="20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pic>
        <p:nvPicPr>
          <p:cNvPr id="583" name="Google Shape;583;p62"/>
          <p:cNvPicPr preferRelativeResize="0"/>
          <p:nvPr/>
        </p:nvPicPr>
        <p:blipFill rotWithShape="1">
          <a:blip r:embed="rId3">
            <a:alphaModFix/>
          </a:blip>
          <a:srcRect b="0" l="0" r="0" t="0"/>
          <a:stretch/>
        </p:blipFill>
        <p:spPr>
          <a:xfrm>
            <a:off x="381000" y="241300"/>
            <a:ext cx="8108950" cy="3660775"/>
          </a:xfrm>
          <a:prstGeom prst="rect">
            <a:avLst/>
          </a:prstGeom>
          <a:noFill/>
          <a:ln>
            <a:noFill/>
          </a:ln>
        </p:spPr>
      </p:pic>
    </p:spTree>
  </p:cSld>
  <p:clrMapOvr>
    <a:masterClrMapping/>
  </p:clrMapOvr>
  <p:transition>
    <p:fade thruBlk="1"/>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id="588" name="Google Shape;588;p63"/>
          <p:cNvPicPr preferRelativeResize="0"/>
          <p:nvPr/>
        </p:nvPicPr>
        <p:blipFill rotWithShape="1">
          <a:blip r:embed="rId3">
            <a:alphaModFix/>
          </a:blip>
          <a:srcRect b="0" l="0" r="0" t="0"/>
          <a:stretch/>
        </p:blipFill>
        <p:spPr>
          <a:xfrm>
            <a:off x="209550" y="0"/>
            <a:ext cx="8445499" cy="5143500"/>
          </a:xfrm>
          <a:prstGeom prst="rect">
            <a:avLst/>
          </a:prstGeom>
          <a:noFill/>
          <a:ln>
            <a:noFill/>
          </a:ln>
        </p:spPr>
      </p:pic>
    </p:spTree>
  </p:cSld>
  <p:clrMapOvr>
    <a:masterClrMapping/>
  </p:clrMapOvr>
  <p:transition>
    <p:fade thruBlk="1"/>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grpSp>
        <p:nvGrpSpPr>
          <p:cNvPr id="593" name="Google Shape;593;p64"/>
          <p:cNvGrpSpPr/>
          <p:nvPr/>
        </p:nvGrpSpPr>
        <p:grpSpPr>
          <a:xfrm>
            <a:off x="749300" y="631805"/>
            <a:ext cx="5886450" cy="2314595"/>
            <a:chOff x="1963" y="316"/>
            <a:chExt cx="7839" cy="2955"/>
          </a:xfrm>
        </p:grpSpPr>
        <p:sp>
          <p:nvSpPr>
            <p:cNvPr id="594" name="Google Shape;594;p64"/>
            <p:cNvSpPr/>
            <p:nvPr/>
          </p:nvSpPr>
          <p:spPr>
            <a:xfrm>
              <a:off x="2020" y="316"/>
              <a:ext cx="6024" cy="5"/>
            </a:xfrm>
            <a:custGeom>
              <a:rect b="b" l="l" r="r" t="t"/>
              <a:pathLst>
                <a:path extrusionOk="0" h="5" w="6024">
                  <a:moveTo>
                    <a:pt x="24" y="0"/>
                  </a:moveTo>
                  <a:lnTo>
                    <a:pt x="6000" y="0"/>
                  </a:lnTo>
                  <a:moveTo>
                    <a:pt x="0" y="4"/>
                  </a:moveTo>
                  <a:lnTo>
                    <a:pt x="6024" y="4"/>
                  </a:lnTo>
                </a:path>
              </a:pathLst>
            </a:custGeom>
            <a:noFill/>
            <a:ln cap="flat" cmpd="sng" w="9525">
              <a:solidFill>
                <a:srgbClr val="FDFDFD"/>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595" name="Google Shape;595;p64"/>
            <p:cNvPicPr preferRelativeResize="0"/>
            <p:nvPr/>
          </p:nvPicPr>
          <p:blipFill rotWithShape="1">
            <a:blip r:embed="rId3">
              <a:alphaModFix/>
            </a:blip>
            <a:srcRect b="0" l="0" r="0" t="0"/>
            <a:stretch/>
          </p:blipFill>
          <p:spPr>
            <a:xfrm>
              <a:off x="1963" y="323"/>
              <a:ext cx="7839" cy="2948"/>
            </a:xfrm>
            <a:prstGeom prst="rect">
              <a:avLst/>
            </a:prstGeom>
            <a:noFill/>
            <a:ln>
              <a:noFill/>
            </a:ln>
          </p:spPr>
        </p:pic>
        <p:sp>
          <p:nvSpPr>
            <p:cNvPr id="596" name="Google Shape;596;p64"/>
            <p:cNvSpPr/>
            <p:nvPr/>
          </p:nvSpPr>
          <p:spPr>
            <a:xfrm>
              <a:off x="8208" y="316"/>
              <a:ext cx="1536" cy="5"/>
            </a:xfrm>
            <a:custGeom>
              <a:rect b="b" l="l" r="r" t="t"/>
              <a:pathLst>
                <a:path extrusionOk="0" h="5" w="1536">
                  <a:moveTo>
                    <a:pt x="24" y="0"/>
                  </a:moveTo>
                  <a:lnTo>
                    <a:pt x="1512" y="0"/>
                  </a:lnTo>
                  <a:moveTo>
                    <a:pt x="0" y="4"/>
                  </a:moveTo>
                  <a:lnTo>
                    <a:pt x="1536" y="4"/>
                  </a:lnTo>
                </a:path>
              </a:pathLst>
            </a:custGeom>
            <a:noFill/>
            <a:ln cap="flat" cmpd="sng" w="9525">
              <a:solidFill>
                <a:srgbClr val="FDFDFD"/>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597" name="Google Shape;597;p64"/>
          <p:cNvSpPr txBox="1"/>
          <p:nvPr/>
        </p:nvSpPr>
        <p:spPr>
          <a:xfrm>
            <a:off x="6350" y="85695"/>
            <a:ext cx="29718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Examples of filter masks</a:t>
            </a:r>
            <a:endParaRPr/>
          </a:p>
        </p:txBody>
      </p:sp>
    </p:spTree>
  </p:cSld>
  <p:clrMapOvr>
    <a:masterClrMapping/>
  </p:clrMapOvr>
  <p:transition>
    <p:fade thruBlk="1"/>
  </p:transition>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Namitha</dc:creator>
</cp:coreProperties>
</file>